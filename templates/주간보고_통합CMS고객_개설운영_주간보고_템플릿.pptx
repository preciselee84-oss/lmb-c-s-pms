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72" r:id="rId1"/>
  </p:sldMasterIdLst>
  <p:notesMasterIdLst>
    <p:notesMasterId r:id="rId26"/>
  </p:notesMasterIdLst>
  <p:sldIdLst>
    <p:sldId id="259" r:id="rId2"/>
    <p:sldId id="274" r:id="rId3"/>
    <p:sldId id="277" r:id="rId4"/>
    <p:sldId id="280" r:id="rId5"/>
    <p:sldId id="283" r:id="rId6"/>
    <p:sldId id="286" r:id="rId7"/>
    <p:sldId id="360" r:id="rId8"/>
    <p:sldId id="292" r:id="rId9"/>
    <p:sldId id="2607" r:id="rId10"/>
    <p:sldId id="2609" r:id="rId11"/>
    <p:sldId id="298" r:id="rId12"/>
    <p:sldId id="301" r:id="rId13"/>
    <p:sldId id="304" r:id="rId14"/>
    <p:sldId id="310" r:id="rId15"/>
    <p:sldId id="313" r:id="rId16"/>
    <p:sldId id="322" r:id="rId17"/>
    <p:sldId id="328" r:id="rId18"/>
    <p:sldId id="2610" r:id="rId19"/>
    <p:sldId id="2608" r:id="rId20"/>
    <p:sldId id="2604" r:id="rId21"/>
    <p:sldId id="2605" r:id="rId22"/>
    <p:sldId id="340" r:id="rId23"/>
    <p:sldId id="359" r:id="rId24"/>
    <p:sldId id="362" r:id="rId25"/>
  </p:sldIdLst>
  <p:sldSz cx="9906000" cy="6858000" type="A4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01" autoAdjust="0"/>
    <p:restoredTop sz="0"/>
  </p:normalViewPr>
  <p:slideViewPr>
    <p:cSldViewPr>
      <p:cViewPr varScale="1">
        <p:scale>
          <a:sx n="106" d="100"/>
          <a:sy n="106" d="100"/>
        </p:scale>
        <p:origin x="13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8060" cy="5478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7312" tIns="48656" rIns="97312" bIns="48656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6483" y="4"/>
            <a:ext cx="2988060" cy="5478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7312" tIns="48656" rIns="97312" bIns="48656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82600" y="822325"/>
            <a:ext cx="5930900" cy="4106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0412" y="5202427"/>
            <a:ext cx="5516908" cy="492934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7312" tIns="48656" rIns="97312" bIns="4865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10404853"/>
            <a:ext cx="2988060" cy="5478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7312" tIns="48656" rIns="97312" bIns="48656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kumimoji="1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6483" y="10404853"/>
            <a:ext cx="2988060" cy="5478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7312" tIns="48656" rIns="97312" bIns="48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ED95007-30F2-487C-8EA0-F02863DC5B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725571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D95007-30F2-487C-8EA0-F02863DC5B4E}" type="slidenum">
              <a:rPr lang="en-US" altLang="ko-KR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37335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D95007-30F2-487C-8EA0-F02863DC5B4E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74690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D95007-30F2-487C-8EA0-F02863DC5B4E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35871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D95007-30F2-487C-8EA0-F02863DC5B4E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90227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D95007-30F2-487C-8EA0-F02863DC5B4E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097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ACAD2-DCB5-0A98-E6F7-A94375AD4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2817F1-6708-AF86-1D5B-F27421B8FE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5A082C-169B-9CEC-190A-7113C30C3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ko-KR" altLang="en-US" sz="1200" b="0" i="0" u="none" strike="noStrike" kern="1200">
                <a:solidFill>
                  <a:srgbClr val="000000"/>
                </a:solidFill>
                <a:effectLst/>
                <a:latin typeface="하나 L"/>
                <a:ea typeface="하나 L"/>
                <a:cs typeface="+mn-cs"/>
              </a:rPr>
              <a:t>일반</a:t>
            </a:r>
            <a:endParaRPr lang="en-US" altLang="ko-KR" sz="1200" b="0" i="0" u="none" strike="noStrike" kern="1200">
              <a:solidFill>
                <a:srgbClr val="000000"/>
              </a:solidFill>
              <a:effectLst/>
              <a:latin typeface="하나 L"/>
              <a:ea typeface="하나 L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ko-KR" altLang="en-US" sz="1200" b="0" i="0" u="none" strike="noStrike" kern="1200">
                <a:solidFill>
                  <a:srgbClr val="000000"/>
                </a:solidFill>
                <a:effectLst/>
                <a:latin typeface="하나 L"/>
                <a:ea typeface="하나 L"/>
                <a:cs typeface="+mn-cs"/>
              </a:rPr>
              <a:t>일반</a:t>
            </a:r>
            <a:endParaRPr lang="en-US" altLang="ko-KR" sz="1200" b="0" i="0" u="none" strike="noStrike" kern="1200">
              <a:solidFill>
                <a:srgbClr val="000000"/>
              </a:solidFill>
              <a:effectLst/>
              <a:latin typeface="하나 L"/>
              <a:ea typeface="하나 L"/>
              <a:cs typeface="+mn-cs"/>
            </a:endParaRPr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146068-235D-21B9-117B-EDF58B63FE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D95007-30F2-487C-8EA0-F02863DC5B4E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99546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BC216-3AD8-8279-8D2D-D5DCAC896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5361DA-04DD-CB58-C17A-CE7A4CF70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B77FB9-8734-7266-B2F9-4FC58053B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ko-KR" altLang="en-US" sz="1200" b="0" i="0" u="none" strike="noStrike" kern="1200">
                <a:solidFill>
                  <a:srgbClr val="000000"/>
                </a:solidFill>
                <a:effectLst/>
                <a:latin typeface="하나 L"/>
                <a:ea typeface="하나 L"/>
                <a:cs typeface="+mn-cs"/>
              </a:rPr>
              <a:t>일반</a:t>
            </a:r>
            <a:endParaRPr lang="en-US" altLang="ko-KR" sz="1200" b="0" i="0" u="none" strike="noStrike" kern="1200">
              <a:solidFill>
                <a:srgbClr val="000000"/>
              </a:solidFill>
              <a:effectLst/>
              <a:latin typeface="하나 L"/>
              <a:ea typeface="하나 L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ko-KR" altLang="en-US" sz="1200" b="0" i="0" u="none" strike="noStrike" kern="1200">
                <a:solidFill>
                  <a:srgbClr val="000000"/>
                </a:solidFill>
                <a:effectLst/>
                <a:latin typeface="하나 L"/>
                <a:ea typeface="하나 L"/>
                <a:cs typeface="+mn-cs"/>
              </a:rPr>
              <a:t>일반</a:t>
            </a:r>
            <a:endParaRPr lang="en-US" altLang="ko-KR" sz="1200" b="0" i="0" u="none" strike="noStrike" kern="1200">
              <a:solidFill>
                <a:srgbClr val="000000"/>
              </a:solidFill>
              <a:effectLst/>
              <a:latin typeface="하나 L"/>
              <a:ea typeface="하나 L"/>
              <a:cs typeface="+mn-cs"/>
            </a:endParaRPr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64C39F-9D9E-1E0D-0D61-726B2AEC4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D95007-30F2-487C-8EA0-F02863DC5B4E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843600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327E1-01FD-9A07-B812-05BC27A05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917F60-B572-2510-4A17-43B98D542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386CE6-5AFC-BB2D-8DF0-B94A37C20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7F4391-5C04-F156-3E77-F3BDF7417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D95007-30F2-487C-8EA0-F02863DC5B4E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275300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9FCE8-D5D1-34A9-A1F1-21817D40A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1D0933-867B-0405-850B-A5AD604E6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B58C6B-5069-AC67-79E4-AC819BAA5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2F4105-6B83-7F30-5077-ABEF863AB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D95007-30F2-487C-8EA0-F02863DC5B4E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36385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ACEA7-A18E-BECF-976A-03320E9B3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1D1F40-4656-5DCC-C20A-E3169E1FE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4CB54A-24F5-5EA9-1F8D-F05C627FD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D1DEA4-DCC6-CD7A-BCCF-DB2F3D352F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D95007-30F2-487C-8EA0-F02863DC5B4E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68502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D95007-30F2-487C-8EA0-F02863DC5B4E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14860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C3160-91B5-924B-4E9A-9782CF5F8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084651-A09C-9799-9B10-D5BDF61BB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478BD0-A76A-401C-10F3-2135A349B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32537B-AEBA-9CDE-6E53-4006D84D7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D95007-30F2-487C-8EA0-F02863DC5B4E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65544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B4C69-F1A4-4141-6D03-1638D1598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2F05AF-3370-7DF0-87C0-391AFFFEE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BBECD3-E946-C5EA-B4CF-8CA653416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BA8CB9-8ED3-7292-E84A-DF4325A659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D95007-30F2-487C-8EA0-F02863DC5B4E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30144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CC787-295A-79D4-942A-3AF9F2D27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613400-D096-78DB-5771-8D0ACCE58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B842F8-6B43-B45F-1085-05CC879D9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600DE0-AC6E-EA62-94EC-B8AA78DC2D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D95007-30F2-487C-8EA0-F02863DC5B4E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59860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43347-6C84-CA52-1B52-E203029F0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6E4A0E-86D3-CD9C-0B58-FAD2C8017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3768E4-E980-D0AE-E253-AED353DA0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D0CFEA-C701-1105-FB05-3120CC0DEC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D95007-30F2-487C-8EA0-F02863DC5B4E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965620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8A24-C66B-5731-CA0D-E91C66C43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E77DC2-7B96-BC57-2F95-57FDF505E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63CC68-1AD2-9A68-31AC-897B6342C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CFEB87-5072-E165-99EF-78CC1410D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D95007-30F2-487C-8EA0-F02863DC5B4E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97607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B134A-D761-B6A3-31E3-80DBC63EC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92E530-5C41-A411-421B-D5CE4B7F7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D04D81-F2F9-489C-CBA3-1F092A5E3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EBE6F3-8532-A048-BAA5-1CBA16818D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D95007-30F2-487C-8EA0-F02863DC5B4E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218894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2E95A-07BD-3DA0-E445-2975D8A90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879B3D-5D02-A55C-265A-DE5278B32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4B89C5-DBDE-B533-C1E0-417064DD2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6FA473-AF0F-B221-985E-8C51BE7A9E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D95007-30F2-487C-8EA0-F02863DC5B4E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119867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C7338-F517-B84C-8A07-41A389056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0838F3-6068-8373-35AE-FDEF35500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38E89E-F4CC-AD72-5A00-A15F40D4F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34DEB0-9432-8C82-1274-4E75790913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D95007-30F2-487C-8EA0-F02863DC5B4E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762973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3ED3D-280F-5CAC-0E19-2E7B00A6C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1296E0-7BC6-3AEA-2DD7-EFFF2BDD0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793D69-11BB-1229-9B96-1B44078A4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0C3D98-07E9-C1FE-01DB-0E613FB126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D95007-30F2-487C-8EA0-F02863DC5B4E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020748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A3B3F-FBB7-A5CE-A45A-C5929A60A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2F29B7-F257-F413-0622-CA7CFED85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A1DE73-605F-CC72-F0BD-C439E6214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03A918-7E10-72E0-CA4A-2BBE75F03C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D95007-30F2-487C-8EA0-F02863DC5B4E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242854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82C22-431F-1FC8-8793-2AD05AC21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9DF32F-8984-8CB8-15E6-629BB0E22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1A0C29-9C92-16AD-C68E-1200C20E7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8A1B21-C0C1-43E9-7B24-866F114BB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D95007-30F2-487C-8EA0-F02863DC5B4E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374157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A2E7-9782-69F6-8C1E-E031770A2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D96AD2-3152-D176-AF06-8EF2D9834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9B063D-62CE-A978-0E03-E0D1223CA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BB38B3-E6C7-B1C0-A4AB-8933F51565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D95007-30F2-487C-8EA0-F02863DC5B4E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993837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6ECA7-75FB-E280-B39C-AC843D647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ECECA9-6029-5F48-AA03-C3757C404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A91AAD-BD43-EF6A-2F28-D91F2A5A3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C7F625-60F5-3F82-EF7A-582CB226FD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D95007-30F2-487C-8EA0-F02863DC5B4E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8608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1764684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9034058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65370141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9174256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86033826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61349196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904399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84297120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9251463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0810027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24785165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274638"/>
            <a:ext cx="89154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82160531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9136063" y="6597650"/>
            <a:ext cx="731837" cy="271463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>
            <a:spAutoFit/>
          </a:bodyPr>
          <a:lstStyle>
            <a:defPPr>
              <a:defRPr lang="ko-KR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94180121-E9B8-4E56-91FC-709C74C44BB1}" type="slidenum">
              <a:rPr kumimoji="1" lang="en-US" altLang="ko-KR" sz="1200" b="1" i="0" normalizeH="0" noProof="0" smtClean="0">
                <a:solidFill>
                  <a:srgbClr val="D2D2D2"/>
                </a:solidFill>
                <a:uLnTx/>
                <a:uFillTx/>
                <a:latin typeface="Trebuchet MS" panose="020B0603020202020204" pitchFamily="34" charset="0"/>
                <a:ea typeface="산돌고딕B"/>
                <a:cs typeface="산돌고딕B"/>
              </a:rPr>
              <a:pPr algn="r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lang="en-US" altLang="ko-KR" b="1">
              <a:solidFill>
                <a:srgbClr val="D2D2D2"/>
              </a:solidFill>
              <a:latin typeface="Trebuchet MS" panose="020B0603020202020204" pitchFamily="34" charset="0"/>
              <a:ea typeface="산돌고딕B"/>
              <a:cs typeface="산돌고딕B"/>
            </a:endParaRPr>
          </a:p>
        </p:txBody>
      </p:sp>
      <p:sp>
        <p:nvSpPr>
          <p:cNvPr id="1027" name="Freeform 8"/>
          <p:cNvSpPr/>
          <p:nvPr/>
        </p:nvSpPr>
        <p:spPr bwMode="auto">
          <a:xfrm>
            <a:off x="8039100" y="6597650"/>
            <a:ext cx="1749425" cy="215900"/>
          </a:xfrm>
          <a:custGeom>
            <a:avLst/>
            <a:gdLst>
              <a:gd name="T0" fmla="*/ 0 w 1018"/>
              <a:gd name="T1" fmla="*/ 2147483646 h 136"/>
              <a:gd name="T2" fmla="*/ 2147483646 w 1018"/>
              <a:gd name="T3" fmla="*/ 2147483646 h 136"/>
              <a:gd name="T4" fmla="*/ 2147483646 w 1018"/>
              <a:gd name="T5" fmla="*/ 0 h 136"/>
              <a:gd name="T6" fmla="*/ 2147483646 w 1018"/>
              <a:gd name="T7" fmla="*/ 0 h 13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18" h="136">
                <a:moveTo>
                  <a:pt x="0" y="133"/>
                </a:moveTo>
                <a:lnTo>
                  <a:pt x="746" y="136"/>
                </a:lnTo>
                <a:lnTo>
                  <a:pt x="837" y="0"/>
                </a:lnTo>
                <a:lnTo>
                  <a:pt x="1018" y="0"/>
                </a:lnTo>
              </a:path>
            </a:pathLst>
          </a:custGeom>
          <a:noFill/>
          <a:ln w="9525" cap="flat" cmpd="sng">
            <a:solidFill>
              <a:schemeClr val="bg2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  <a:buNone/>
              <a:defRPr kumimoji="1" sz="1200" b="0" i="0" normalizeH="0" noProof="0">
                <a:solidFill>
                  <a:srgbClr val="000000"/>
                </a:solidFill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pPr>
            <a:endParaRPr lang="ko-KR" altLang="en-US"/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-1588" y="692150"/>
            <a:ext cx="9890126" cy="0"/>
          </a:xfrm>
          <a:prstGeom prst="line">
            <a:avLst/>
          </a:prstGeom>
          <a:noFill/>
          <a:ln w="38100">
            <a:solidFill>
              <a:srgbClr val="D2D2D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  <a:buNone/>
              <a:defRPr kumimoji="1" sz="1200" b="0" i="0" normalizeH="0" noProof="0">
                <a:solidFill>
                  <a:srgbClr val="000000"/>
                </a:solidFill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ransition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/>
          <p:cNvSpPr txBox="1"/>
          <p:nvPr/>
        </p:nvSpPr>
        <p:spPr bwMode="auto">
          <a:xfrm>
            <a:off x="742950" y="2130425"/>
            <a:ext cx="84201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ko-KR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9pPr>
          </a:lstStyle>
          <a:p>
            <a:pPr algn="ctr" eaLnBrk="1" fontAlgn="base" latinLnBrk="1" hangingPunct="1">
              <a:spcBef>
                <a:spcPct val="0"/>
              </a:spcBef>
              <a:spcAft>
                <a:spcPct val="0"/>
              </a:spcAft>
              <a:buNone/>
              <a:defRPr kumimoji="1" sz="1200" b="0" i="0" normalizeH="0" noProof="0">
                <a:solidFill>
                  <a:srgbClr val="000000"/>
                </a:solidFill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pPr>
            <a:r>
              <a:rPr kumimoji="0" lang="ko-KR" altLang="en-US" sz="4400" b="1" i="0" normalizeH="0" noProof="0">
                <a:solidFill>
                  <a:srgbClr val="000000"/>
                </a:solidFill>
                <a:uLnTx/>
                <a:uFillTx/>
                <a:latin typeface="하나 L" panose="02020603020101020101" pitchFamily="18" charset="-127"/>
                <a:ea typeface="하나 L" panose="02020603020101020101" pitchFamily="18" charset="-127"/>
              </a:rPr>
              <a:t>하나은행 통합</a:t>
            </a:r>
            <a:r>
              <a:rPr kumimoji="0" lang="en-US" altLang="ko-KR" sz="4400" b="1" i="0" normalizeH="0" noProof="0">
                <a:solidFill>
                  <a:srgbClr val="000000"/>
                </a:solidFill>
                <a:uLnTx/>
                <a:uFillTx/>
                <a:latin typeface="하나 L" panose="02020603020101020101" pitchFamily="18" charset="-127"/>
                <a:ea typeface="하나 L" panose="02020603020101020101" pitchFamily="18" charset="-127"/>
              </a:rPr>
              <a:t>CMS </a:t>
            </a:r>
            <a:r>
              <a:rPr kumimoji="0" lang="ko-KR" altLang="en-US" sz="4400" b="1" i="0" normalizeH="0" noProof="0" err="1">
                <a:solidFill>
                  <a:srgbClr val="000000"/>
                </a:solidFill>
                <a:uLnTx/>
                <a:uFillTx/>
                <a:latin typeface="하나 L" panose="02020603020101020101" pitchFamily="18" charset="-127"/>
                <a:ea typeface="하나 L" panose="02020603020101020101" pitchFamily="18" charset="-127"/>
              </a:rPr>
              <a:t>주간보고</a:t>
            </a:r>
            <a:endParaRPr kumimoji="0" lang="ko-KR" altLang="en-US" sz="1800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sp>
        <p:nvSpPr>
          <p:cNvPr id="4099" name="부제목 2"/>
          <p:cNvSpPr txBox="1"/>
          <p:nvPr/>
        </p:nvSpPr>
        <p:spPr bwMode="auto">
          <a:xfrm>
            <a:off x="1485900" y="4869160"/>
            <a:ext cx="6934200" cy="769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defPPr>
              <a:defRPr lang="ko-KR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9pPr>
          </a:lstStyle>
          <a:p>
            <a:pPr algn="ctr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kumimoji="1" sz="1200" b="0" i="0" normalizeH="0" noProof="0">
                <a:solidFill>
                  <a:srgbClr val="000000"/>
                </a:solidFill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pPr>
            <a:r>
              <a:rPr kumimoji="0" lang="en-US" altLang="ko-KR" sz="2000" b="1" i="0" normalizeH="0" noProof="0" dirty="0">
                <a:solidFill>
                  <a:srgbClr val="000000"/>
                </a:solidFill>
                <a:uLnTx/>
                <a:uFillTx/>
                <a:latin typeface="하나 L" panose="02020603020101020101" pitchFamily="18" charset="-127"/>
                <a:ea typeface="하나 L" panose="02020603020101020101" pitchFamily="18" charset="-127"/>
              </a:rPr>
              <a:t>2026.05.18</a:t>
            </a:r>
          </a:p>
        </p:txBody>
      </p:sp>
      <p:sp>
        <p:nvSpPr>
          <p:cNvPr id="4100" name="직사각형 2"/>
          <p:cNvSpPr>
            <a:spLocks noChangeArrowheads="1"/>
          </p:cNvSpPr>
          <p:nvPr/>
        </p:nvSpPr>
        <p:spPr bwMode="auto">
          <a:xfrm>
            <a:off x="3646488" y="3702050"/>
            <a:ext cx="27158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9pPr>
          </a:lstStyle>
          <a:p>
            <a:pPr algn="l" eaLnBrk="1" fontAlgn="base" latinLnBrk="1" hangingPunct="1">
              <a:spcBef>
                <a:spcPct val="0"/>
              </a:spcBef>
              <a:spcAft>
                <a:spcPct val="0"/>
              </a:spcAft>
              <a:buNone/>
              <a:defRPr kumimoji="1" sz="1200" b="0" i="0" normalizeH="0" noProof="0">
                <a:solidFill>
                  <a:srgbClr val="000000"/>
                </a:solidFill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pPr>
            <a:r>
              <a:rPr kumimoji="0" lang="en-US" altLang="ko-KR" sz="1800" b="1" i="0" normalizeH="0" noProof="0" dirty="0">
                <a:solidFill>
                  <a:srgbClr val="000000"/>
                </a:solidFill>
                <a:uLnTx/>
                <a:uFillTx/>
                <a:latin typeface="하나 L" panose="02020603020101020101" pitchFamily="18" charset="-127"/>
                <a:ea typeface="하나 L" panose="02020603020101020101" pitchFamily="18" charset="-127"/>
              </a:rPr>
              <a:t>(2026.05.11 - 2026.05.15)</a:t>
            </a:r>
            <a:endParaRPr kumimoji="0" lang="ko-KR" altLang="en-US" sz="1800" b="1" dirty="0">
              <a:solidFill>
                <a:srgbClr val="000000"/>
              </a:solidFill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39700" y="90488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9pPr>
          </a:lstStyle>
          <a:p>
            <a:pPr algn="l" eaLnBrk="1" fontAlgn="base" latinLnBrk="1" hangingPunct="1">
              <a:spcBef>
                <a:spcPct val="0"/>
              </a:spcBef>
              <a:spcAft>
                <a:spcPct val="0"/>
              </a:spcAft>
              <a:buNone/>
              <a:defRPr kumimoji="1" sz="1200" b="0" i="0" normalizeH="0" noProof="0">
                <a:solidFill>
                  <a:srgbClr val="000000"/>
                </a:solidFill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pPr>
            <a:r>
              <a:rPr kumimoji="1" lang="en-US" altLang="ko-KR" sz="2400" b="1" i="0" normalizeH="0" noProof="0">
                <a:solidFill>
                  <a:srgbClr val="000000"/>
                </a:solidFill>
                <a:uLnTx/>
                <a:uFillTx/>
                <a:latin typeface="하나 L" panose="02020603020101020101" pitchFamily="18" charset="-127"/>
                <a:ea typeface="하나 L" panose="02020603020101020101" pitchFamily="18" charset="-127"/>
              </a:rPr>
              <a:t>2. </a:t>
            </a:r>
            <a:r>
              <a:rPr kumimoji="1" lang="ko-KR" altLang="en-US" sz="2400" b="1" i="0" normalizeH="0" noProof="0">
                <a:solidFill>
                  <a:srgbClr val="000000"/>
                </a:solidFill>
                <a:uLnTx/>
                <a:uFillTx/>
                <a:latin typeface="하나 L" panose="02020603020101020101" pitchFamily="18" charset="-127"/>
                <a:ea typeface="하나 L" panose="02020603020101020101" pitchFamily="18" charset="-127"/>
              </a:rPr>
              <a:t>고객 현황</a:t>
            </a:r>
            <a:endParaRPr lang="ko-KR" altLang="en-US" sz="2000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sp>
        <p:nvSpPr>
          <p:cNvPr id="6147" name="Rectangle 298"/>
          <p:cNvSpPr>
            <a:spLocks noChangeArrowheads="1"/>
          </p:cNvSpPr>
          <p:nvPr/>
        </p:nvSpPr>
        <p:spPr bwMode="auto">
          <a:xfrm>
            <a:off x="327024" y="758674"/>
            <a:ext cx="34018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9pPr>
          </a:lstStyle>
          <a:p>
            <a:pPr algn="l" eaLnBrk="1" fontAlgn="base" latin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1200" b="0" i="0" normalizeH="0" noProof="0">
                <a:solidFill>
                  <a:srgbClr val="000000"/>
                </a:solidFill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pPr>
            <a:r>
              <a:rPr kumimoji="1" lang="en-US" altLang="ko-KR" sz="1800" b="1" i="0" normalizeH="0" noProof="0">
                <a:solidFill>
                  <a:srgbClr val="000000"/>
                </a:solidFill>
                <a:uLnTx/>
                <a:uFillTx/>
                <a:latin typeface="하나 L" panose="02020603020101020101" pitchFamily="18" charset="-127"/>
                <a:ea typeface="하나 L" panose="02020603020101020101" pitchFamily="18" charset="-127"/>
              </a:rPr>
              <a:t> 2</a:t>
            </a:r>
            <a:r>
              <a:rPr lang="en-US" altLang="ko-KR" sz="1800" b="1">
                <a:solidFill>
                  <a:srgbClr val="000000"/>
                </a:solidFill>
                <a:latin typeface="하나 L" panose="02020603020101020101" pitchFamily="18" charset="-127"/>
                <a:ea typeface="하나 L" panose="02020603020101020101" pitchFamily="18" charset="-127"/>
              </a:rPr>
              <a:t>6</a:t>
            </a:r>
            <a:r>
              <a:rPr kumimoji="1" lang="ko-KR" altLang="en-US" sz="1800" b="1" i="0" normalizeH="0" noProof="0">
                <a:solidFill>
                  <a:srgbClr val="000000"/>
                </a:solidFill>
                <a:uLnTx/>
                <a:uFillTx/>
                <a:latin typeface="하나 L" panose="02020603020101020101" pitchFamily="18" charset="-127"/>
                <a:ea typeface="하나 L" panose="02020603020101020101" pitchFamily="18" charset="-127"/>
              </a:rPr>
              <a:t>년 월별 </a:t>
            </a:r>
            <a:r>
              <a:rPr lang="ko-KR" altLang="en-US" sz="1800" b="1">
                <a:solidFill>
                  <a:srgbClr val="000000"/>
                </a:solidFill>
                <a:latin typeface="하나 L" panose="02020603020101020101" pitchFamily="18" charset="-127"/>
                <a:ea typeface="하나 L" panose="02020603020101020101" pitchFamily="18" charset="-127"/>
              </a:rPr>
              <a:t>접수</a:t>
            </a:r>
            <a:r>
              <a:rPr kumimoji="1" lang="ko-KR" altLang="en-US" sz="1800" b="1" i="0" normalizeH="0" noProof="0">
                <a:solidFill>
                  <a:srgbClr val="000000"/>
                </a:solidFill>
                <a:uLnTx/>
                <a:uFillTx/>
                <a:latin typeface="하나 L" panose="02020603020101020101" pitchFamily="18" charset="-127"/>
                <a:ea typeface="하나 L" panose="02020603020101020101" pitchFamily="18" charset="-127"/>
              </a:rPr>
              <a:t>고객</a:t>
            </a:r>
            <a:r>
              <a:rPr lang="ko-KR" altLang="en-US" sz="1800" b="1">
                <a:solidFill>
                  <a:srgbClr val="000000"/>
                </a:solidFill>
                <a:latin typeface="하나 L" panose="02020603020101020101" pitchFamily="18" charset="-127"/>
                <a:ea typeface="하나 L" panose="02020603020101020101" pitchFamily="18" charset="-127"/>
              </a:rPr>
              <a:t> 현황</a:t>
            </a:r>
            <a:r>
              <a:rPr lang="en-US" altLang="ko-KR" sz="1800" b="1">
                <a:solidFill>
                  <a:srgbClr val="000000"/>
                </a:solidFill>
                <a:latin typeface="하나 L" panose="02020603020101020101" pitchFamily="18" charset="-127"/>
                <a:ea typeface="하나 L" panose="02020603020101020101" pitchFamily="18" charset="-127"/>
              </a:rPr>
              <a:t>(</a:t>
            </a:r>
            <a:r>
              <a:rPr lang="ko-KR" altLang="en-US" sz="1800" b="1">
                <a:solidFill>
                  <a:srgbClr val="000000"/>
                </a:solidFill>
                <a:latin typeface="하나 L" panose="02020603020101020101" pitchFamily="18" charset="-127"/>
                <a:ea typeface="하나 L" panose="02020603020101020101" pitchFamily="18" charset="-127"/>
              </a:rPr>
              <a:t>구축</a:t>
            </a:r>
            <a:r>
              <a:rPr lang="en-US" altLang="ko-KR" sz="1800" b="1">
                <a:solidFill>
                  <a:srgbClr val="000000"/>
                </a:solidFill>
                <a:latin typeface="하나 L" panose="02020603020101020101" pitchFamily="18" charset="-127"/>
                <a:ea typeface="하나 L" panose="02020603020101020101" pitchFamily="18" charset="-127"/>
              </a:rPr>
              <a:t>)</a:t>
            </a:r>
            <a:endParaRPr lang="en-US" altLang="ko-KR" sz="1800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5E9BC07-158D-9E0F-B33B-E8C66F4EF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400743"/>
              </p:ext>
            </p:extLst>
          </p:nvPr>
        </p:nvGraphicFramePr>
        <p:xfrm>
          <a:off x="671604" y="1190467"/>
          <a:ext cx="8575677" cy="5118256"/>
        </p:xfrm>
        <a:graphic>
          <a:graphicData uri="http://schemas.openxmlformats.org/drawingml/2006/table">
            <a:tbl>
              <a:tblPr/>
              <a:tblGrid>
                <a:gridCol w="436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230">
                  <a:extLst>
                    <a:ext uri="{9D8B030D-6E8A-4147-A177-3AD203B41FA5}">
                      <a16:colId xmlns:a16="http://schemas.microsoft.com/office/drawing/2014/main" val="2355765455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304414061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792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6529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kumimoji="0" lang="en-US" altLang="ko-KR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0" lang="ko-KR" altLang="en-US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년</a:t>
                      </a:r>
                      <a:endParaRPr kumimoji="0" lang="en-US" altLang="ko-KR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합계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296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3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구축접수</a:t>
                      </a:r>
                      <a:endParaRPr kumimoji="0" lang="en-US" altLang="ko-KR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ko-KR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31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35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127</a:t>
                      </a:r>
                      <a:endParaRPr kumimoji="0" lang="ko-KR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126608"/>
                  </a:ext>
                </a:extLst>
              </a:tr>
              <a:tr h="4652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전주대비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-</a:t>
                      </a:r>
                      <a:endParaRPr kumimoji="0" lang="ko-KR" altLang="en-US" sz="1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Arial" pitchFamily="34" charset="0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▲</a:t>
                      </a: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9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21824"/>
                  </a:ext>
                </a:extLst>
              </a:tr>
              <a:tr h="465296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3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구축대기</a:t>
                      </a:r>
                      <a:endParaRPr kumimoji="0" lang="en-US" altLang="ko-KR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ko-KR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1</a:t>
                      </a: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Arial" pitchFamily="34" charset="0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22</a:t>
                      </a:r>
                      <a:endParaRPr kumimoji="0" lang="ko-KR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92936"/>
                  </a:ext>
                </a:extLst>
              </a:tr>
              <a:tr h="4652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전주대비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▲</a:t>
                      </a: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8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053302"/>
                  </a:ext>
                </a:extLst>
              </a:tr>
              <a:tr h="465296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3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구축진행</a:t>
                      </a:r>
                      <a:endParaRPr kumimoji="0" lang="en-US" altLang="ko-KR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ko-KR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altLang="ko-KR" sz="1400" b="1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3</a:t>
                      </a:r>
                      <a:endParaRPr kumimoji="0" lang="ko-KR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638948"/>
                  </a:ext>
                </a:extLst>
              </a:tr>
              <a:tr h="4652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전주대비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-</a:t>
                      </a:r>
                      <a:endParaRPr kumimoji="0" lang="ko-KR" altLang="en-US" sz="1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Arial" pitchFamily="34" charset="0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▲</a:t>
                      </a: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868839"/>
                  </a:ext>
                </a:extLst>
              </a:tr>
              <a:tr h="465296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3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구축완료</a:t>
                      </a:r>
                      <a:endParaRPr kumimoji="0" lang="en-US" altLang="ko-KR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ko-KR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30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99</a:t>
                      </a:r>
                      <a:endParaRPr kumimoji="0" lang="ko-KR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543400"/>
                  </a:ext>
                </a:extLst>
              </a:tr>
              <a:tr h="4652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전주대비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▲</a:t>
                      </a: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515610"/>
                  </a:ext>
                </a:extLst>
              </a:tr>
              <a:tr h="465296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DROP</a:t>
                      </a: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ko-KR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4</a:t>
                      </a:r>
                      <a:endParaRPr kumimoji="0" lang="ko-KR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42171"/>
                  </a:ext>
                </a:extLst>
              </a:tr>
              <a:tr h="4652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전주대비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-</a:t>
                      </a:r>
                      <a:endParaRPr kumimoji="0" lang="ko-KR" altLang="en-US" sz="1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Arial" pitchFamily="34" charset="0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94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654407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39700" y="90488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9pPr>
          </a:lstStyle>
          <a:p>
            <a:pPr algn="l" eaLnBrk="1" fontAlgn="base" latinLnBrk="1" hangingPunct="1">
              <a:spcBef>
                <a:spcPct val="0"/>
              </a:spcBef>
              <a:spcAft>
                <a:spcPct val="0"/>
              </a:spcAft>
              <a:buNone/>
              <a:defRPr kumimoji="1" sz="1200" b="0" i="0" normalizeH="0" noProof="0">
                <a:solidFill>
                  <a:srgbClr val="000000"/>
                </a:solidFill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pPr>
            <a:r>
              <a:rPr kumimoji="1" lang="en-US" altLang="ko-KR" sz="2400" b="1" i="0" normalizeH="0" noProof="0">
                <a:solidFill>
                  <a:srgbClr val="000000"/>
                </a:solidFill>
                <a:uLnTx/>
                <a:uFillTx/>
                <a:latin typeface="하나 L" panose="02020603020101020101" pitchFamily="18" charset="-127"/>
                <a:ea typeface="하나 L" panose="02020603020101020101" pitchFamily="18" charset="-127"/>
              </a:rPr>
              <a:t>2. </a:t>
            </a:r>
            <a:r>
              <a:rPr kumimoji="1" lang="ko-KR" altLang="en-US" sz="2400" b="1" i="0" normalizeH="0" noProof="0">
                <a:solidFill>
                  <a:srgbClr val="000000"/>
                </a:solidFill>
                <a:uLnTx/>
                <a:uFillTx/>
                <a:latin typeface="하나 L" panose="02020603020101020101" pitchFamily="18" charset="-127"/>
                <a:ea typeface="하나 L" panose="02020603020101020101" pitchFamily="18" charset="-127"/>
              </a:rPr>
              <a:t>고객 현황</a:t>
            </a:r>
            <a:endParaRPr lang="ko-KR" altLang="en-US" sz="2000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sp>
        <p:nvSpPr>
          <p:cNvPr id="6147" name="Rectangle 298"/>
          <p:cNvSpPr>
            <a:spLocks noChangeArrowheads="1"/>
          </p:cNvSpPr>
          <p:nvPr/>
        </p:nvSpPr>
        <p:spPr bwMode="auto">
          <a:xfrm>
            <a:off x="327024" y="758674"/>
            <a:ext cx="34018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9pPr>
          </a:lstStyle>
          <a:p>
            <a:pPr eaLnBrk="1" latinLnBrk="1" hangingPunct="1">
              <a:buFont typeface="Wingdings" panose="05000000000000000000" pitchFamily="2" charset="2"/>
              <a:buChar char="l"/>
              <a:defRPr kumimoji="1" sz="1200" b="0" i="0" normalizeH="0" noProof="0">
                <a:solidFill>
                  <a:srgbClr val="000000"/>
                </a:solidFill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pPr>
            <a:r>
              <a:rPr kumimoji="1" lang="en-US" altLang="ko-KR" sz="1800" b="1" i="0" normalizeH="0" noProof="0">
                <a:solidFill>
                  <a:srgbClr val="000000"/>
                </a:solidFill>
                <a:uLnTx/>
                <a:uFillTx/>
                <a:latin typeface="하나 L" panose="02020603020101020101" pitchFamily="18" charset="-127"/>
                <a:ea typeface="하나 L" panose="02020603020101020101" pitchFamily="18" charset="-127"/>
              </a:rPr>
              <a:t> </a:t>
            </a:r>
            <a:r>
              <a:rPr lang="en-US" altLang="ko-KR" sz="1800" b="1">
                <a:solidFill>
                  <a:srgbClr val="000000"/>
                </a:solidFill>
                <a:latin typeface="하나 L" panose="02020603020101020101" pitchFamily="18" charset="-127"/>
                <a:ea typeface="하나 L" panose="02020603020101020101" pitchFamily="18" charset="-127"/>
              </a:rPr>
              <a:t>26</a:t>
            </a:r>
            <a:r>
              <a:rPr lang="ko-KR" altLang="en-US" sz="1800" b="1">
                <a:solidFill>
                  <a:srgbClr val="000000"/>
                </a:solidFill>
                <a:latin typeface="하나 L" panose="02020603020101020101" pitchFamily="18" charset="-127"/>
                <a:ea typeface="하나 L" panose="02020603020101020101" pitchFamily="18" charset="-127"/>
              </a:rPr>
              <a:t>년 월별 접수고객 현황</a:t>
            </a:r>
            <a:r>
              <a:rPr lang="en-US" altLang="ko-KR" sz="1800" b="1">
                <a:solidFill>
                  <a:srgbClr val="000000"/>
                </a:solidFill>
                <a:latin typeface="하나 L" panose="02020603020101020101" pitchFamily="18" charset="-127"/>
                <a:ea typeface="하나 L" panose="02020603020101020101" pitchFamily="18" charset="-127"/>
              </a:rPr>
              <a:t>(</a:t>
            </a:r>
            <a:r>
              <a:rPr lang="ko-KR" altLang="en-US" sz="1800" b="1">
                <a:solidFill>
                  <a:srgbClr val="000000"/>
                </a:solidFill>
                <a:latin typeface="하나 L" panose="02020603020101020101" pitchFamily="18" charset="-127"/>
                <a:ea typeface="하나 L" panose="02020603020101020101" pitchFamily="18" charset="-127"/>
              </a:rPr>
              <a:t>연계</a:t>
            </a:r>
            <a:r>
              <a:rPr lang="en-US" altLang="ko-KR" sz="1800" b="1">
                <a:solidFill>
                  <a:srgbClr val="000000"/>
                </a:solidFill>
                <a:latin typeface="하나 L" panose="02020603020101020101" pitchFamily="18" charset="-127"/>
                <a:ea typeface="하나 L" panose="02020603020101020101" pitchFamily="18" charset="-127"/>
              </a:rPr>
              <a:t>)</a:t>
            </a:r>
            <a:endParaRPr lang="en-US" altLang="ko-KR" sz="1800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5E9BC07-158D-9E0F-B33B-E8C66F4EF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235016"/>
              </p:ext>
            </p:extLst>
          </p:nvPr>
        </p:nvGraphicFramePr>
        <p:xfrm>
          <a:off x="671604" y="1190467"/>
          <a:ext cx="8575677" cy="5118256"/>
        </p:xfrm>
        <a:graphic>
          <a:graphicData uri="http://schemas.openxmlformats.org/drawingml/2006/table">
            <a:tbl>
              <a:tblPr/>
              <a:tblGrid>
                <a:gridCol w="436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230">
                  <a:extLst>
                    <a:ext uri="{9D8B030D-6E8A-4147-A177-3AD203B41FA5}">
                      <a16:colId xmlns:a16="http://schemas.microsoft.com/office/drawing/2014/main" val="2355765455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304414061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23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792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6529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kumimoji="0" lang="en-US" altLang="ko-KR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0" lang="ko-KR" altLang="en-US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년</a:t>
                      </a:r>
                      <a:endParaRPr kumimoji="0" lang="en-US" altLang="ko-KR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합계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296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3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연계접수</a:t>
                      </a:r>
                      <a:endParaRPr kumimoji="0" lang="en-US" altLang="ko-KR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ko-KR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9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67</a:t>
                      </a:r>
                      <a:endParaRPr kumimoji="0" lang="ko-KR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126608"/>
                  </a:ext>
                </a:extLst>
              </a:tr>
              <a:tr h="4652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전주대비</a:t>
                      </a:r>
                      <a:endParaRPr kumimoji="0" lang="en-US" altLang="ko-KR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-</a:t>
                      </a:r>
                      <a:endParaRPr kumimoji="0" lang="ko-KR" altLang="en-US" sz="1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Arial" pitchFamily="34" charset="0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▲</a:t>
                      </a: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7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21824"/>
                  </a:ext>
                </a:extLst>
              </a:tr>
              <a:tr h="465296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3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연계대기</a:t>
                      </a:r>
                      <a:endParaRPr kumimoji="0" lang="en-US" altLang="ko-KR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ko-KR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22</a:t>
                      </a:r>
                      <a:endParaRPr kumimoji="0" lang="ko-KR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92936"/>
                  </a:ext>
                </a:extLst>
              </a:tr>
              <a:tr h="4652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전주대비</a:t>
                      </a:r>
                      <a:endParaRPr kumimoji="0" lang="en-US" altLang="ko-KR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-</a:t>
                      </a:r>
                      <a:endParaRPr kumimoji="0" lang="ko-KR" altLang="en-US" sz="1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Arial" pitchFamily="34" charset="0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▼</a:t>
                      </a: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▼</a:t>
                      </a: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053302"/>
                  </a:ext>
                </a:extLst>
              </a:tr>
              <a:tr h="465296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연계진행</a:t>
                      </a:r>
                      <a:endParaRPr kumimoji="0" lang="en-US" altLang="ko-KR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ko-KR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3</a:t>
                      </a:r>
                      <a:endParaRPr kumimoji="0" lang="ko-KR" altLang="en-US" sz="1300" b="1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sz="1400" b="1" dirty="0"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sz="1400" b="1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sz="1400" b="1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sz="1400" b="1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sz="1400" b="1" dirty="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17</a:t>
                      </a:r>
                      <a:endParaRPr kumimoji="0" lang="ko-KR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638948"/>
                  </a:ext>
                </a:extLst>
              </a:tr>
              <a:tr h="4652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전주대비</a:t>
                      </a:r>
                      <a:endParaRPr kumimoji="0" lang="en-US" altLang="ko-KR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▲</a:t>
                      </a: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3</a:t>
                      </a:r>
                      <a:endParaRPr kumimoji="0" lang="en-US" altLang="ko-KR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▲</a:t>
                      </a: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</a:t>
                      </a:r>
                      <a:endParaRPr kumimoji="0" lang="en-US" altLang="ko-KR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▲</a:t>
                      </a: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</a:t>
                      </a:r>
                      <a:endParaRPr kumimoji="0" lang="en-US" altLang="ko-KR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868839"/>
                  </a:ext>
                </a:extLst>
              </a:tr>
              <a:tr h="465296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3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연계완료</a:t>
                      </a:r>
                      <a:endParaRPr kumimoji="0" lang="en-US" altLang="ko-KR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ko-KR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400" b="1" dirty="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9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22</a:t>
                      </a:r>
                      <a:endParaRPr kumimoji="0" lang="ko-KR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543400"/>
                  </a:ext>
                </a:extLst>
              </a:tr>
              <a:tr h="4652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전주대비</a:t>
                      </a:r>
                      <a:endParaRPr kumimoji="0" lang="en-US" altLang="ko-KR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▲</a:t>
                      </a: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515610"/>
                  </a:ext>
                </a:extLst>
              </a:tr>
              <a:tr h="465296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DROP</a:t>
                      </a: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ko-KR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3</a:t>
                      </a:r>
                      <a:endParaRPr kumimoji="0" lang="ko-KR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42171"/>
                  </a:ext>
                </a:extLst>
              </a:tr>
              <a:tr h="4652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전주대비</a:t>
                      </a:r>
                      <a:endParaRPr kumimoji="0" lang="en-US" altLang="ko-KR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-</a:t>
                      </a:r>
                      <a:endParaRPr kumimoji="0" lang="ko-KR" altLang="en-US" sz="1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Arial" pitchFamily="34" charset="0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▼</a:t>
                      </a: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▲</a:t>
                      </a: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94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561101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39700" y="90488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9pPr>
          </a:lstStyle>
          <a:p>
            <a:pPr algn="l" eaLnBrk="1" fontAlgn="base" latinLnBrk="1" hangingPunct="1">
              <a:spcBef>
                <a:spcPct val="0"/>
              </a:spcBef>
              <a:spcAft>
                <a:spcPct val="0"/>
              </a:spcAft>
              <a:buNone/>
              <a:defRPr kumimoji="1" sz="1200" b="0" i="0" normalizeH="0" noProof="0">
                <a:solidFill>
                  <a:srgbClr val="000000"/>
                </a:solidFill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pPr>
            <a:r>
              <a:rPr kumimoji="1" lang="en-US" altLang="ko-KR" sz="2400" b="1" i="0" normalizeH="0" noProof="0">
                <a:solidFill>
                  <a:srgbClr val="000000"/>
                </a:solidFill>
                <a:uLnTx/>
                <a:uFillTx/>
                <a:latin typeface="하나 L" panose="02020603020101020101" pitchFamily="18" charset="-127"/>
                <a:ea typeface="하나 L" panose="02020603020101020101" pitchFamily="18" charset="-127"/>
              </a:rPr>
              <a:t>2. </a:t>
            </a:r>
            <a:r>
              <a:rPr kumimoji="1" lang="ko-KR" altLang="en-US" sz="2400" b="1" i="0" normalizeH="0" noProof="0">
                <a:solidFill>
                  <a:srgbClr val="000000"/>
                </a:solidFill>
                <a:uLnTx/>
                <a:uFillTx/>
                <a:latin typeface="하나 L" panose="02020603020101020101" pitchFamily="18" charset="-127"/>
                <a:ea typeface="하나 L" panose="02020603020101020101" pitchFamily="18" charset="-127"/>
              </a:rPr>
              <a:t>고객 현황</a:t>
            </a:r>
            <a:endParaRPr lang="ko-KR" altLang="en-US" sz="2000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sp>
        <p:nvSpPr>
          <p:cNvPr id="6147" name="Rectangle 298"/>
          <p:cNvSpPr>
            <a:spLocks noChangeArrowheads="1"/>
          </p:cNvSpPr>
          <p:nvPr/>
        </p:nvSpPr>
        <p:spPr bwMode="auto">
          <a:xfrm>
            <a:off x="327024" y="758674"/>
            <a:ext cx="34018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9pPr>
          </a:lstStyle>
          <a:p>
            <a:pPr eaLnBrk="1" latinLnBrk="1" hangingPunct="1">
              <a:buFont typeface="Wingdings" panose="05000000000000000000" pitchFamily="2" charset="2"/>
              <a:buChar char="l"/>
              <a:defRPr kumimoji="1" sz="1200" b="0" i="0" normalizeH="0" noProof="0">
                <a:solidFill>
                  <a:srgbClr val="000000"/>
                </a:solidFill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pPr>
            <a:r>
              <a:rPr kumimoji="1" lang="en-US" altLang="ko-KR" sz="1800" b="1" i="0" normalizeH="0" noProof="0">
                <a:solidFill>
                  <a:srgbClr val="000000"/>
                </a:solidFill>
                <a:uLnTx/>
                <a:uFillTx/>
                <a:latin typeface="하나 L" panose="02020603020101020101" pitchFamily="18" charset="-127"/>
                <a:ea typeface="하나 L" panose="02020603020101020101" pitchFamily="18" charset="-127"/>
              </a:rPr>
              <a:t> </a:t>
            </a:r>
            <a:r>
              <a:rPr lang="en-US" altLang="ko-KR" sz="1800" b="1">
                <a:solidFill>
                  <a:srgbClr val="000000"/>
                </a:solidFill>
                <a:latin typeface="하나 L" panose="02020603020101020101" pitchFamily="18" charset="-127"/>
                <a:ea typeface="하나 L" panose="02020603020101020101" pitchFamily="18" charset="-127"/>
              </a:rPr>
              <a:t>26</a:t>
            </a:r>
            <a:r>
              <a:rPr lang="ko-KR" altLang="en-US" sz="1800" b="1">
                <a:solidFill>
                  <a:srgbClr val="000000"/>
                </a:solidFill>
                <a:latin typeface="하나 L" panose="02020603020101020101" pitchFamily="18" charset="-127"/>
                <a:ea typeface="하나 L" panose="02020603020101020101" pitchFamily="18" charset="-127"/>
              </a:rPr>
              <a:t>년 월별 고객 완료 현황</a:t>
            </a:r>
            <a:endParaRPr lang="en-US" altLang="ko-KR" sz="1800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5E9BC07-158D-9E0F-B33B-E8C66F4EF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346468"/>
              </p:ext>
            </p:extLst>
          </p:nvPr>
        </p:nvGraphicFramePr>
        <p:xfrm>
          <a:off x="671604" y="1190467"/>
          <a:ext cx="8601880" cy="2326480"/>
        </p:xfrm>
        <a:graphic>
          <a:graphicData uri="http://schemas.openxmlformats.org/drawingml/2006/table">
            <a:tbl>
              <a:tblPr/>
              <a:tblGrid>
                <a:gridCol w="474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859">
                  <a:extLst>
                    <a:ext uri="{9D8B030D-6E8A-4147-A177-3AD203B41FA5}">
                      <a16:colId xmlns:a16="http://schemas.microsoft.com/office/drawing/2014/main" val="2355765455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6529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kumimoji="0" lang="en-US" altLang="ko-KR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26.12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합계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296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3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구축완료</a:t>
                      </a:r>
                      <a:endParaRPr kumimoji="0" lang="en-US" altLang="ko-KR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ko-KR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18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27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32</a:t>
                      </a:r>
                      <a:endParaRPr kumimoji="0" lang="ko-KR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27</a:t>
                      </a:r>
                      <a:endParaRPr kumimoji="0" lang="ko-KR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14</a:t>
                      </a:r>
                      <a:endParaRPr kumimoji="0" lang="ko-KR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118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126608"/>
                  </a:ext>
                </a:extLst>
              </a:tr>
              <a:tr h="4652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전주대비</a:t>
                      </a:r>
                      <a:endParaRPr kumimoji="0" lang="en-US" altLang="ko-KR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▲</a:t>
                      </a: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10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21824"/>
                  </a:ext>
                </a:extLst>
              </a:tr>
              <a:tr h="465296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3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연계완료</a:t>
                      </a:r>
                      <a:endParaRPr kumimoji="0" lang="en-US" altLang="ko-KR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ko-KR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10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12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12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34</a:t>
                      </a:r>
                      <a:endParaRPr kumimoji="0" lang="ko-KR" altLang="en-US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92936"/>
                  </a:ext>
                </a:extLst>
              </a:tr>
              <a:tr h="4652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전주대비</a:t>
                      </a:r>
                      <a:endParaRPr kumimoji="0" lang="en-US" altLang="ko-KR" sz="13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  <a:endParaRPr kumimoji="0" lang="ko-KR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053302"/>
                  </a:ext>
                </a:extLst>
              </a:tr>
            </a:tbl>
          </a:graphicData>
        </a:graphic>
      </p:graphicFrame>
      <p:sp>
        <p:nvSpPr>
          <p:cNvPr id="7" name="Rectangle 298"/>
          <p:cNvSpPr>
            <a:spLocks noChangeArrowheads="1"/>
          </p:cNvSpPr>
          <p:nvPr/>
        </p:nvSpPr>
        <p:spPr bwMode="auto">
          <a:xfrm>
            <a:off x="327024" y="3950901"/>
            <a:ext cx="34018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9pPr>
          </a:lstStyle>
          <a:p>
            <a:pPr algn="l" eaLnBrk="1" fontAlgn="base" latin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1200" b="0" i="0" normalizeH="0" noProof="0">
                <a:solidFill>
                  <a:srgbClr val="000000"/>
                </a:solidFill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pPr>
            <a:r>
              <a:rPr kumimoji="1" lang="en-US" altLang="ko-KR" sz="1800" b="1" i="0" normalizeH="0" noProof="0">
                <a:solidFill>
                  <a:srgbClr val="000000"/>
                </a:solidFill>
                <a:uLnTx/>
                <a:uFillTx/>
                <a:latin typeface="하나 L" panose="02020603020101020101" pitchFamily="18" charset="-127"/>
                <a:ea typeface="하나 L" panose="02020603020101020101" pitchFamily="18" charset="-127"/>
              </a:rPr>
              <a:t> </a:t>
            </a:r>
            <a:r>
              <a:rPr kumimoji="1" lang="ko-KR" altLang="en-US" sz="1800" b="1" i="0" normalizeH="0" noProof="0">
                <a:solidFill>
                  <a:srgbClr val="000000"/>
                </a:solidFill>
                <a:uLnTx/>
                <a:uFillTx/>
                <a:latin typeface="하나 L" panose="02020603020101020101" pitchFamily="18" charset="-127"/>
                <a:ea typeface="하나 L" panose="02020603020101020101" pitchFamily="18" charset="-127"/>
              </a:rPr>
              <a:t>전체 고객</a:t>
            </a:r>
            <a:r>
              <a:rPr lang="ko-KR" altLang="en-US" sz="1800" b="1">
                <a:solidFill>
                  <a:srgbClr val="000000"/>
                </a:solidFill>
                <a:latin typeface="하나 L" panose="02020603020101020101" pitchFamily="18" charset="-127"/>
                <a:ea typeface="하나 L" panose="02020603020101020101" pitchFamily="18" charset="-127"/>
              </a:rPr>
              <a:t> 현황</a:t>
            </a:r>
            <a:endParaRPr lang="en-US" altLang="ko-KR" sz="1800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6D3A550-5152-4AC6-97AA-447F7CF3A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735165"/>
              </p:ext>
            </p:extLst>
          </p:nvPr>
        </p:nvGraphicFramePr>
        <p:xfrm>
          <a:off x="671604" y="4382698"/>
          <a:ext cx="8601879" cy="1898951"/>
        </p:xfrm>
        <a:graphic>
          <a:graphicData uri="http://schemas.openxmlformats.org/drawingml/2006/table">
            <a:tbl>
              <a:tblPr/>
              <a:tblGrid>
                <a:gridCol w="12489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25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5482">
                  <a:extLst>
                    <a:ext uri="{9D8B030D-6E8A-4147-A177-3AD203B41FA5}">
                      <a16:colId xmlns:a16="http://schemas.microsoft.com/office/drawing/2014/main" val="973579118"/>
                    </a:ext>
                  </a:extLst>
                </a:gridCol>
                <a:gridCol w="1225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54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54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9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구축대기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구축진행</a:t>
                      </a:r>
                      <a:endParaRPr kumimoji="0" lang="ko-KR" altLang="en-US" sz="1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구축완료</a:t>
                      </a:r>
                      <a:endParaRPr kumimoji="0" lang="ko-KR" altLang="en-US" sz="1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5000"/>
                        </a:lnSpc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ahoma" pitchFamily="34" charset="0"/>
                          <a:ea typeface="HY헤드라인M" pitchFamily="18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itchFamily="34" charset="0"/>
                          <a:ea typeface="굴림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굴림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굴림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굴림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굴림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굴림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굴림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연계대기</a:t>
                      </a:r>
                      <a:endParaRPr kumimoji="0" lang="ko-KR" altLang="en-US" sz="1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5000"/>
                        </a:lnSpc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ahoma" pitchFamily="34" charset="0"/>
                          <a:ea typeface="HY헤드라인M" pitchFamily="18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itchFamily="34" charset="0"/>
                          <a:ea typeface="굴림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굴림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굴림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굴림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굴림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굴림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굴림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연계진행</a:t>
                      </a:r>
                      <a:endParaRPr kumimoji="0" lang="ko-KR" altLang="en-US" sz="1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3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연계완료</a:t>
                      </a:r>
                      <a:endParaRPr kumimoji="0" lang="ko-KR" altLang="en-US" sz="1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13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전체</a:t>
                      </a:r>
                      <a:endParaRPr kumimoji="0" lang="en-US" altLang="ko-KR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91452" marR="91452" marT="42765" marB="4276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23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3</a:t>
                      </a: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2,415</a:t>
                      </a:r>
                      <a:endParaRPr kumimoji="0" lang="ko-KR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22</a:t>
                      </a:r>
                      <a:endParaRPr kumimoji="0" lang="ko-KR" altLang="en-US" sz="13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17</a:t>
                      </a:r>
                      <a:endParaRPr kumimoji="0" lang="ko-KR" altLang="en-US" sz="13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1,077</a:t>
                      </a:r>
                      <a:endParaRPr kumimoji="0" lang="ko-KR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52" marR="91452" marT="42765" marB="4276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92936"/>
                  </a:ext>
                </a:extLst>
              </a:tr>
              <a:tr h="2826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기본형</a:t>
                      </a:r>
                      <a:endParaRPr kumimoji="0" lang="en-US" altLang="ko-KR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91467" marR="91467" marT="43957" marB="4395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10</a:t>
                      </a: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3</a:t>
                      </a: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ko-KR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1,240</a:t>
                      </a: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2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연계형</a:t>
                      </a:r>
                      <a:endParaRPr kumimoji="0" lang="en-US" altLang="ko-KR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91467" marR="91467" marT="43957" marB="4395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13</a:t>
                      </a: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0</a:t>
                      </a: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ko-KR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1,175</a:t>
                      </a: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22</a:t>
                      </a: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17</a:t>
                      </a: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ko-KR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1,077</a:t>
                      </a: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711921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5900C042-09CD-7510-4FEE-1EBB43D04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90488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9pPr>
          </a:lstStyle>
          <a:p>
            <a:pPr eaLnBrk="1" latinLnBrk="1" hangingPunct="1"/>
            <a:r>
              <a:rPr lang="en-US" altLang="ko-KR" sz="2400" b="1">
                <a:latin typeface="하나 L" panose="02020603020101020101" pitchFamily="18" charset="-127"/>
                <a:ea typeface="하나 L" panose="02020603020101020101" pitchFamily="18" charset="-127"/>
              </a:rPr>
              <a:t>3. </a:t>
            </a:r>
            <a:r>
              <a:rPr lang="ko-KR" altLang="en-US" sz="2400" b="1">
                <a:latin typeface="하나 L" panose="02020603020101020101" pitchFamily="18" charset="-127"/>
                <a:ea typeface="하나 L" panose="02020603020101020101" pitchFamily="18" charset="-127"/>
              </a:rPr>
              <a:t>개설 부문</a:t>
            </a:r>
            <a:endParaRPr lang="ko-KR" altLang="en-US" sz="2000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sp>
        <p:nvSpPr>
          <p:cNvPr id="11267" name="Rectangle 298">
            <a:extLst>
              <a:ext uri="{FF2B5EF4-FFF2-40B4-BE49-F238E27FC236}">
                <a16:creationId xmlns:a16="http://schemas.microsoft.com/office/drawing/2014/main" id="{7B13B175-921A-84A8-6F59-0424B7A75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" y="758674"/>
            <a:ext cx="36893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9pPr>
          </a:lstStyle>
          <a:p>
            <a:pPr eaLnBrk="1" latinLnBrk="1" hangingPunct="1">
              <a:buFont typeface="Wingdings" panose="05000000000000000000" pitchFamily="2" charset="2"/>
              <a:buChar char="l"/>
            </a:pPr>
            <a:r>
              <a:rPr lang="en-US" altLang="ko-KR" sz="1800" b="1">
                <a:latin typeface="하나 L" panose="02020603020101020101" pitchFamily="18" charset="-127"/>
                <a:ea typeface="하나 L" panose="02020603020101020101" pitchFamily="18" charset="-127"/>
              </a:rPr>
              <a:t> </a:t>
            </a:r>
            <a:r>
              <a:rPr lang="ko-KR" altLang="en-US" sz="1800" b="1">
                <a:latin typeface="하나 L" panose="02020603020101020101" pitchFamily="18" charset="-127"/>
                <a:ea typeface="하나 L" panose="02020603020101020101" pitchFamily="18" charset="-127"/>
              </a:rPr>
              <a:t>구축대기 현황</a:t>
            </a:r>
            <a:endParaRPr lang="en-US" altLang="ko-KR" sz="1800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2692080-52D5-C3A9-D6AD-80BA671C9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550468"/>
              </p:ext>
            </p:extLst>
          </p:nvPr>
        </p:nvGraphicFramePr>
        <p:xfrm>
          <a:off x="488727" y="1196752"/>
          <a:ext cx="8928545" cy="5112343"/>
        </p:xfrm>
        <a:graphic>
          <a:graphicData uri="http://schemas.openxmlformats.org/drawingml/2006/table">
            <a:tbl>
              <a:tblPr/>
              <a:tblGrid>
                <a:gridCol w="368967">
                  <a:extLst>
                    <a:ext uri="{9D8B030D-6E8A-4147-A177-3AD203B41FA5}">
                      <a16:colId xmlns:a16="http://schemas.microsoft.com/office/drawing/2014/main" val="381604898"/>
                    </a:ext>
                  </a:extLst>
                </a:gridCol>
                <a:gridCol w="516554">
                  <a:extLst>
                    <a:ext uri="{9D8B030D-6E8A-4147-A177-3AD203B41FA5}">
                      <a16:colId xmlns:a16="http://schemas.microsoft.com/office/drawing/2014/main" val="1161544721"/>
                    </a:ext>
                  </a:extLst>
                </a:gridCol>
                <a:gridCol w="444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9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926">
                  <a:extLst>
                    <a:ext uri="{9D8B030D-6E8A-4147-A177-3AD203B41FA5}">
                      <a16:colId xmlns:a16="http://schemas.microsoft.com/office/drawing/2014/main" val="1051493499"/>
                    </a:ext>
                  </a:extLst>
                </a:gridCol>
                <a:gridCol w="920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09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630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33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9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No.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서비스</a:t>
                      </a:r>
                      <a:endParaRPr kumimoji="0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구분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고객명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신청점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접수일자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구축예정일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이슈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담당자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1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1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일반</a:t>
                      </a:r>
                      <a:endParaRPr lang="en-US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서울예술대학교 </a:t>
                      </a:r>
                      <a:endParaRPr lang="en-US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산학협력단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기관사업부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2025-10-27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2026-05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rERP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용 중계서버에 통합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CMS DB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구성 확정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월 말 구축 예정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이성환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8751683"/>
                  </a:ext>
                </a:extLst>
              </a:tr>
              <a:tr h="5891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일반</a:t>
                      </a:r>
                      <a:endParaRPr lang="en-US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기본형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웰본상사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삼성역지점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2026-03-25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b="0" i="0" u="none" strike="noStrike" kern="1200" noProof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내부적으로 구축의사가 없는 점 확인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영업점 전달 필요</a:t>
                      </a: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전준수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347920"/>
                  </a:ext>
                </a:extLst>
              </a:tr>
              <a:tr h="5891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3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일반</a:t>
                      </a:r>
                      <a:endParaRPr lang="en-US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국립소방병원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기관사업부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2026-04-06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</a:t>
                      </a:r>
                      <a:endParaRPr lang="ko-KR" altLang="en-US" sz="1000" b="0" i="0" u="none" strike="noStrike" kern="1200" noProof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월 구축 예상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망분리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 진행 후 구축 요청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임대서버 요청하여 기관사업부에서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컨텍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 중</a:t>
                      </a: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탁영민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946110"/>
                  </a:ext>
                </a:extLst>
              </a:tr>
              <a:tr h="5891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4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일반</a:t>
                      </a:r>
                      <a:endParaRPr lang="en-US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기본형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주식회사 </a:t>
                      </a: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케이엠엠아이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오창금윤센터</a:t>
                      </a: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2026-04-14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2026-05-18</a:t>
                      </a:r>
                      <a:endParaRPr lang="ko-KR" alt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사무실 위치가 마곡으로 확인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05/18 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신규구축 예정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/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구축 완료</a:t>
                      </a: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임인지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181018"/>
                  </a:ext>
                </a:extLst>
              </a:tr>
              <a:tr h="5891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5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일반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바로자산운용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삼성역금융센터</a:t>
                      </a: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2026-04-14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2026-05-21</a:t>
                      </a:r>
                      <a:endParaRPr lang="ko-KR" alt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05/21(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목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신규 구축 예정</a:t>
                      </a: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맹국성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922475"/>
                  </a:ext>
                </a:extLst>
              </a:tr>
              <a:tr h="5891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6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일반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스튜디오슬램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Jtbc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출장소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2026-04-23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서버 준비중에 있으며 준비 후 구축 예정</a:t>
                      </a: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이수현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344557"/>
                  </a:ext>
                </a:extLst>
              </a:tr>
              <a:tr h="5891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7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일반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기본형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리마커블교육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가천대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2026-04-23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2026-05-27</a:t>
                      </a:r>
                      <a:endParaRPr lang="ko-KR" alt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05/27 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수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신규구축 예정</a:t>
                      </a: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임인지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427493"/>
                  </a:ext>
                </a:extLst>
              </a:tr>
              <a:tr h="5891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8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모바일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헌금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수원삼일교회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동탄금융센터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2026-04-24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부재 및 전화 거절로 인해 문자발송 한 상태</a:t>
                      </a: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전준수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751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916085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6C0D8-1FEA-D66B-F8ED-F9EDC5FB0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37C1DE7D-F479-7E52-B160-0B2387C33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90488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9pPr>
          </a:lstStyle>
          <a:p>
            <a:pPr eaLnBrk="1" latinLnBrk="1" hangingPunct="1"/>
            <a:r>
              <a:rPr lang="en-US" altLang="ko-KR" sz="2400" b="1">
                <a:latin typeface="하나 L" panose="02020603020101020101" pitchFamily="18" charset="-127"/>
                <a:ea typeface="하나 L" panose="02020603020101020101" pitchFamily="18" charset="-127"/>
              </a:rPr>
              <a:t>3. </a:t>
            </a:r>
            <a:r>
              <a:rPr lang="ko-KR" altLang="en-US" sz="2400" b="1">
                <a:latin typeface="하나 L" panose="02020603020101020101" pitchFamily="18" charset="-127"/>
                <a:ea typeface="하나 L" panose="02020603020101020101" pitchFamily="18" charset="-127"/>
              </a:rPr>
              <a:t>개설 부문</a:t>
            </a:r>
            <a:endParaRPr lang="ko-KR" altLang="en-US" sz="2000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sp>
        <p:nvSpPr>
          <p:cNvPr id="11267" name="Rectangle 298">
            <a:extLst>
              <a:ext uri="{FF2B5EF4-FFF2-40B4-BE49-F238E27FC236}">
                <a16:creationId xmlns:a16="http://schemas.microsoft.com/office/drawing/2014/main" id="{E608A0A9-48A9-5497-90BD-38E87C654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" y="758674"/>
            <a:ext cx="36893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9pPr>
          </a:lstStyle>
          <a:p>
            <a:pPr eaLnBrk="1" latinLnBrk="1" hangingPunct="1">
              <a:buFont typeface="Wingdings" panose="05000000000000000000" pitchFamily="2" charset="2"/>
              <a:buChar char="l"/>
            </a:pPr>
            <a:r>
              <a:rPr lang="en-US" altLang="ko-KR" sz="1800" b="1">
                <a:latin typeface="하나 L" panose="02020603020101020101" pitchFamily="18" charset="-127"/>
                <a:ea typeface="하나 L" panose="02020603020101020101" pitchFamily="18" charset="-127"/>
              </a:rPr>
              <a:t> </a:t>
            </a:r>
            <a:r>
              <a:rPr lang="ko-KR" altLang="en-US" sz="1800" b="1">
                <a:latin typeface="하나 L" panose="02020603020101020101" pitchFamily="18" charset="-127"/>
                <a:ea typeface="하나 L" panose="02020603020101020101" pitchFamily="18" charset="-127"/>
              </a:rPr>
              <a:t>구축대기 현황</a:t>
            </a:r>
            <a:endParaRPr lang="en-US" altLang="ko-KR" sz="1800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44D1CDA-BECC-A5A6-F9ED-183E150F6A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563767"/>
              </p:ext>
            </p:extLst>
          </p:nvPr>
        </p:nvGraphicFramePr>
        <p:xfrm>
          <a:off x="488727" y="1196752"/>
          <a:ext cx="8932041" cy="5112343"/>
        </p:xfrm>
        <a:graphic>
          <a:graphicData uri="http://schemas.openxmlformats.org/drawingml/2006/table">
            <a:tbl>
              <a:tblPr/>
              <a:tblGrid>
                <a:gridCol w="372463">
                  <a:extLst>
                    <a:ext uri="{9D8B030D-6E8A-4147-A177-3AD203B41FA5}">
                      <a16:colId xmlns:a16="http://schemas.microsoft.com/office/drawing/2014/main" val="381604898"/>
                    </a:ext>
                  </a:extLst>
                </a:gridCol>
                <a:gridCol w="516554">
                  <a:extLst>
                    <a:ext uri="{9D8B030D-6E8A-4147-A177-3AD203B41FA5}">
                      <a16:colId xmlns:a16="http://schemas.microsoft.com/office/drawing/2014/main" val="1161544721"/>
                    </a:ext>
                  </a:extLst>
                </a:gridCol>
                <a:gridCol w="444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9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926">
                  <a:extLst>
                    <a:ext uri="{9D8B030D-6E8A-4147-A177-3AD203B41FA5}">
                      <a16:colId xmlns:a16="http://schemas.microsoft.com/office/drawing/2014/main" val="1051493499"/>
                    </a:ext>
                  </a:extLst>
                </a:gridCol>
                <a:gridCol w="920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09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630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33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9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No.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서비스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구분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고객명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신청점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접수일자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구축예정일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이슈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담당자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1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9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일반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소설빈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서면역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2026-04-28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구축일정 협의 중</a:t>
                      </a: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손수일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576405"/>
                  </a:ext>
                </a:extLst>
              </a:tr>
              <a:tr h="5891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10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일반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비씨월드헬스케어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서초지점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2026-04-28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</a:t>
                      </a:r>
                      <a:endParaRPr lang="ko-KR" alt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서버 준비중이며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월말 내지는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6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월초 개설 예정</a:t>
                      </a: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임인지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595409"/>
                  </a:ext>
                </a:extLst>
              </a:tr>
              <a:tr h="5891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11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일반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비시월드제약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서초지점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2026-04-28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</a:t>
                      </a:r>
                      <a:endParaRPr lang="ko-KR" alt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서버 준비중이며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월말 내지는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6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월초 개설 예정</a:t>
                      </a: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임인지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860520"/>
                  </a:ext>
                </a:extLst>
              </a:tr>
              <a:tr h="5891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12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일반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기본형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삼지화성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가천대지점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2026-04-30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</a:t>
                      </a:r>
                      <a:endParaRPr lang="ko-KR" alt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월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넷째주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 구축 희망하시며 내부적으로 일정 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확인 후 회신 주실 예정</a:t>
                      </a: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전준수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019681"/>
                  </a:ext>
                </a:extLst>
              </a:tr>
              <a:tr h="5891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13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일반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기본형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글로벌스포츠홀딩스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수지금융센터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2026-05-06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구축일정 협의 중</a:t>
                      </a: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이수현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372265"/>
                  </a:ext>
                </a:extLst>
              </a:tr>
              <a:tr h="5891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14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일반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기본형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도드리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상도역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2026-05-06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</a:t>
                      </a:r>
                      <a:endParaRPr lang="ko-KR" alt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하나은행 계좌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 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개 추가 발급 완료 후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세팅 희망으로 회신 주실 예정</a:t>
                      </a: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전준수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4211238"/>
                  </a:ext>
                </a:extLst>
              </a:tr>
              <a:tr h="5891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15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일반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기본형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다나을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남대문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2026-05-08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구축일정 협의 중</a:t>
                      </a: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이수현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223287"/>
                  </a:ext>
                </a:extLst>
              </a:tr>
              <a:tr h="5891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16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일반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기본형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에이원컴퍼니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수지금융센터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2026-05-11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담당자 부재로 금주 재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컨택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 예정 </a:t>
                      </a: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전준수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495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53814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DF6FE-BD46-D0A7-9284-98EE55FC5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0B981351-6E5A-DD94-FD36-8E95DD4B2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90488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9pPr>
          </a:lstStyle>
          <a:p>
            <a:pPr eaLnBrk="1" latinLnBrk="1" hangingPunct="1"/>
            <a:r>
              <a:rPr lang="en-US" altLang="ko-KR" sz="2400" b="1">
                <a:latin typeface="하나 L" panose="02020603020101020101" pitchFamily="18" charset="-127"/>
                <a:ea typeface="하나 L" panose="02020603020101020101" pitchFamily="18" charset="-127"/>
              </a:rPr>
              <a:t>3. </a:t>
            </a:r>
            <a:r>
              <a:rPr lang="ko-KR" altLang="en-US" sz="2400" b="1">
                <a:latin typeface="하나 L" panose="02020603020101020101" pitchFamily="18" charset="-127"/>
                <a:ea typeface="하나 L" panose="02020603020101020101" pitchFamily="18" charset="-127"/>
              </a:rPr>
              <a:t>개설 부문</a:t>
            </a:r>
            <a:endParaRPr lang="ko-KR" altLang="en-US" sz="2000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sp>
        <p:nvSpPr>
          <p:cNvPr id="11267" name="Rectangle 298">
            <a:extLst>
              <a:ext uri="{FF2B5EF4-FFF2-40B4-BE49-F238E27FC236}">
                <a16:creationId xmlns:a16="http://schemas.microsoft.com/office/drawing/2014/main" id="{C0B56720-C9EF-F7B7-9744-EF947917B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" y="758674"/>
            <a:ext cx="36893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9pPr>
          </a:lstStyle>
          <a:p>
            <a:pPr eaLnBrk="1" latinLnBrk="1" hangingPunct="1">
              <a:buFont typeface="Wingdings" panose="05000000000000000000" pitchFamily="2" charset="2"/>
              <a:buChar char="l"/>
            </a:pPr>
            <a:r>
              <a:rPr lang="en-US" altLang="ko-KR" sz="1800" b="1">
                <a:latin typeface="하나 L" panose="02020603020101020101" pitchFamily="18" charset="-127"/>
                <a:ea typeface="하나 L" panose="02020603020101020101" pitchFamily="18" charset="-127"/>
              </a:rPr>
              <a:t> </a:t>
            </a:r>
            <a:r>
              <a:rPr lang="ko-KR" altLang="en-US" sz="1800" b="1">
                <a:latin typeface="하나 L" panose="02020603020101020101" pitchFamily="18" charset="-127"/>
                <a:ea typeface="하나 L" panose="02020603020101020101" pitchFamily="18" charset="-127"/>
              </a:rPr>
              <a:t>구축대기 현황</a:t>
            </a:r>
            <a:endParaRPr lang="en-US" altLang="ko-KR" sz="1800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4599E86-AB18-91B7-4488-66A0A4F05B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63851"/>
              </p:ext>
            </p:extLst>
          </p:nvPr>
        </p:nvGraphicFramePr>
        <p:xfrm>
          <a:off x="488727" y="1196752"/>
          <a:ext cx="8928545" cy="4523197"/>
        </p:xfrm>
        <a:graphic>
          <a:graphicData uri="http://schemas.openxmlformats.org/drawingml/2006/table">
            <a:tbl>
              <a:tblPr/>
              <a:tblGrid>
                <a:gridCol w="368967">
                  <a:extLst>
                    <a:ext uri="{9D8B030D-6E8A-4147-A177-3AD203B41FA5}">
                      <a16:colId xmlns:a16="http://schemas.microsoft.com/office/drawing/2014/main" val="381604898"/>
                    </a:ext>
                  </a:extLst>
                </a:gridCol>
                <a:gridCol w="516554">
                  <a:extLst>
                    <a:ext uri="{9D8B030D-6E8A-4147-A177-3AD203B41FA5}">
                      <a16:colId xmlns:a16="http://schemas.microsoft.com/office/drawing/2014/main" val="1161544721"/>
                    </a:ext>
                  </a:extLst>
                </a:gridCol>
                <a:gridCol w="444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9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926">
                  <a:extLst>
                    <a:ext uri="{9D8B030D-6E8A-4147-A177-3AD203B41FA5}">
                      <a16:colId xmlns:a16="http://schemas.microsoft.com/office/drawing/2014/main" val="1051493499"/>
                    </a:ext>
                  </a:extLst>
                </a:gridCol>
                <a:gridCol w="920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09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630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33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9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No.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서비스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구분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고객명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신청점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접수일자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구축예정일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이슈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담당자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1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17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일반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기본형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한솔에스피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수지금융센터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2026-05-11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2026-05-18</a:t>
                      </a:r>
                      <a:endParaRPr lang="ko-KR" alt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05/18 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신규구축 예정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/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구축 완료</a:t>
                      </a: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이수현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987801"/>
                  </a:ext>
                </a:extLst>
              </a:tr>
              <a:tr h="5891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18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일반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에스케이넥스트론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부산연산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금융센터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2026-05-13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구축일정 협의 중</a:t>
                      </a: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손수일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515469"/>
                  </a:ext>
                </a:extLst>
              </a:tr>
              <a:tr h="5891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19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일반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김동현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부산연산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금융센터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2026-05-13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구축일정 협의 중</a:t>
                      </a: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손수일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941208"/>
                  </a:ext>
                </a:extLst>
              </a:tr>
              <a:tr h="5891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일반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동경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2026-05-13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2026-05-27</a:t>
                      </a:r>
                      <a:endParaRPr lang="ko-KR" alt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05/27 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수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신규구축 예정</a:t>
                      </a: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임인지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427465"/>
                  </a:ext>
                </a:extLst>
              </a:tr>
              <a:tr h="5891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21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일반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메종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21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지코리아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청담사거리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2026-05-14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구축일정 협의 중</a:t>
                      </a: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이수현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797140"/>
                  </a:ext>
                </a:extLst>
              </a:tr>
              <a:tr h="5891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22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일반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대구서현교회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진천동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2026-05-14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2026-05-21</a:t>
                      </a:r>
                      <a:endParaRPr lang="ko-KR" alt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05/21 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목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신규구축 예정</a:t>
                      </a: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윤기호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801630"/>
                  </a:ext>
                </a:extLst>
              </a:tr>
              <a:tr h="5891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23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일반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기본형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엘케이글로벌컴퍼니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가천대지점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2025-06-15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구축일정 협의 중</a:t>
                      </a: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전준수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593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988881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E183-FC4C-FE8B-53C7-F41D5105E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1C8D548D-C27E-3608-BD34-B24C4CC6F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90488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9pPr>
          </a:lstStyle>
          <a:p>
            <a:pPr eaLnBrk="1" latinLnBrk="1" hangingPunct="1"/>
            <a:r>
              <a:rPr lang="en-US" altLang="ko-KR" sz="2400" b="1">
                <a:latin typeface="하나 L" panose="02020603020101020101" pitchFamily="18" charset="-127"/>
                <a:ea typeface="하나 L" panose="02020603020101020101" pitchFamily="18" charset="-127"/>
              </a:rPr>
              <a:t>3. </a:t>
            </a:r>
            <a:r>
              <a:rPr lang="ko-KR" altLang="en-US" sz="2400" b="1">
                <a:latin typeface="하나 L" panose="02020603020101020101" pitchFamily="18" charset="-127"/>
                <a:ea typeface="하나 L" panose="02020603020101020101" pitchFamily="18" charset="-127"/>
              </a:rPr>
              <a:t>개설 부문</a:t>
            </a:r>
            <a:endParaRPr lang="ko-KR" altLang="en-US" sz="2000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72B517E-03C2-1376-AA22-5AC377615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264366"/>
              </p:ext>
            </p:extLst>
          </p:nvPr>
        </p:nvGraphicFramePr>
        <p:xfrm>
          <a:off x="488504" y="1196975"/>
          <a:ext cx="9000997" cy="5184353"/>
        </p:xfrm>
        <a:graphic>
          <a:graphicData uri="http://schemas.openxmlformats.org/drawingml/2006/table">
            <a:tbl>
              <a:tblPr/>
              <a:tblGrid>
                <a:gridCol w="380955">
                  <a:extLst>
                    <a:ext uri="{9D8B030D-6E8A-4147-A177-3AD203B41FA5}">
                      <a16:colId xmlns:a16="http://schemas.microsoft.com/office/drawing/2014/main" val="381604898"/>
                    </a:ext>
                  </a:extLst>
                </a:gridCol>
                <a:gridCol w="459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6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848">
                  <a:extLst>
                    <a:ext uri="{9D8B030D-6E8A-4147-A177-3AD203B41FA5}">
                      <a16:colId xmlns:a16="http://schemas.microsoft.com/office/drawing/2014/main" val="1051493499"/>
                    </a:ext>
                  </a:extLst>
                </a:gridCol>
                <a:gridCol w="950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8896">
                  <a:extLst>
                    <a:ext uri="{9D8B030D-6E8A-4147-A177-3AD203B41FA5}">
                      <a16:colId xmlns:a16="http://schemas.microsoft.com/office/drawing/2014/main" val="3047785788"/>
                    </a:ext>
                  </a:extLst>
                </a:gridCol>
                <a:gridCol w="633269">
                  <a:extLst>
                    <a:ext uri="{9D8B030D-6E8A-4147-A177-3AD203B41FA5}">
                      <a16:colId xmlns:a16="http://schemas.microsoft.com/office/drawing/2014/main" val="304208744"/>
                    </a:ext>
                  </a:extLst>
                </a:gridCol>
              </a:tblGrid>
              <a:tr h="4387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No.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구분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고객명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신청점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접수일자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이슈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담당자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피드벡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예정</a:t>
                      </a:r>
                      <a:r>
                        <a:rPr kumimoji="0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)</a:t>
                      </a: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일자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상태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5381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</a:rPr>
                        <a:t>1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기본형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퓨어그래스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가천대지점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2026-05-04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통합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신규구축 진행</a:t>
                      </a:r>
                      <a:b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계좌조회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이체 사용자교육 진행</a:t>
                      </a:r>
                      <a:endParaRPr kumimoji="0" lang="en-US" altLang="ko-KR" sz="10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이수현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2026-05-13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41275"/>
                  </a:ext>
                </a:extLst>
              </a:tr>
              <a:tr h="945381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</a:rPr>
                        <a:t>2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기본형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평강제일교회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오류동지점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2026-05-11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통합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신규구축 진행</a:t>
                      </a:r>
                      <a:b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모바일 헌금 사용자교육 진행</a:t>
                      </a:r>
                      <a:endParaRPr kumimoji="0" lang="en-US" altLang="ko-KR" sz="10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이수현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2026-05-14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588758"/>
                  </a:ext>
                </a:extLst>
              </a:tr>
              <a:tr h="945381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</a:rPr>
                        <a:t>3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주식회사 </a:t>
                      </a: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디피에이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상암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DMC</a:t>
                      </a: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2026-04-13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통합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신규구축 진행</a:t>
                      </a:r>
                      <a:b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계좌조회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이체 사용자교육 진행</a:t>
                      </a:r>
                      <a:endParaRPr kumimoji="0" lang="en-US" altLang="ko-KR" sz="10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이체 연계는 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10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월부터 착수 예상</a:t>
                      </a:r>
                      <a:endParaRPr kumimoji="0" lang="en-US" altLang="ko-KR" sz="10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이체 연계 착수 시 사업장별 서버 준비 예정</a:t>
                      </a:r>
                      <a:endParaRPr kumimoji="0" lang="en-US" altLang="ko-KR" sz="10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맹국성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2026-05-15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422629"/>
                  </a:ext>
                </a:extLst>
              </a:tr>
              <a:tr h="945381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</a:rPr>
                        <a:t>4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주식회사 </a:t>
                      </a: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보이드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상암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DMC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2026-04-13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통합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신규구축 진행</a:t>
                      </a:r>
                      <a:b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계좌조회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이체 사용자교육 진행</a:t>
                      </a:r>
                      <a:endParaRPr kumimoji="0" lang="en-US" altLang="ko-KR" sz="10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이체 연계는 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10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월부터 착수 예상</a:t>
                      </a:r>
                      <a:endParaRPr kumimoji="0" lang="en-US" altLang="ko-KR" sz="10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이체 연계 착수 시 사업장별 서버 준비 예정</a:t>
                      </a:r>
                      <a:endParaRPr kumimoji="0" lang="en-US" altLang="ko-KR" sz="10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맹국성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2026-05-15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441160"/>
                  </a:ext>
                </a:extLst>
              </a:tr>
              <a:tr h="945381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</a:rPr>
                        <a:t>5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비투비컴퍼니</a:t>
                      </a: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상암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DMC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2026-04-13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통합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신규구축 진행</a:t>
                      </a:r>
                      <a:b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계좌조회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이체 사용자교육 진행</a:t>
                      </a:r>
                      <a:endParaRPr kumimoji="0" lang="en-US" altLang="ko-KR" sz="10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이체 연계는 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10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월부터 착수 예상</a:t>
                      </a:r>
                      <a:endParaRPr kumimoji="0" lang="en-US" altLang="ko-KR" sz="10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이체 연계 착수 시 사업장별 서버 준비 예정</a:t>
                      </a:r>
                      <a:endParaRPr kumimoji="0" lang="en-US" altLang="ko-KR" sz="10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맹국성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2026-05-15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084359"/>
                  </a:ext>
                </a:extLst>
              </a:tr>
            </a:tbl>
          </a:graphicData>
        </a:graphic>
      </p:graphicFrame>
      <p:sp>
        <p:nvSpPr>
          <p:cNvPr id="2" name="Rectangle 298">
            <a:extLst>
              <a:ext uri="{FF2B5EF4-FFF2-40B4-BE49-F238E27FC236}">
                <a16:creationId xmlns:a16="http://schemas.microsoft.com/office/drawing/2014/main" id="{B14FF862-5BEB-0BF4-12FE-8E036E305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" y="758674"/>
            <a:ext cx="36893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>
              <a:buFont typeface="Wingdings" panose="05000000000000000000" pitchFamily="2" charset="2"/>
              <a:buChar char="l"/>
            </a:pPr>
            <a:r>
              <a:rPr kumimoji="1" lang="en-US" altLang="ko-KR" b="1">
                <a:latin typeface="하나 L" panose="02020603020101020101" pitchFamily="18" charset="-127"/>
                <a:ea typeface="하나 L" panose="02020603020101020101" pitchFamily="18" charset="-127"/>
              </a:rPr>
              <a:t> </a:t>
            </a:r>
            <a:r>
              <a:rPr kumimoji="1" lang="ko-KR" altLang="en-US" b="1">
                <a:latin typeface="하나 L" panose="02020603020101020101" pitchFamily="18" charset="-127"/>
                <a:ea typeface="하나 L" panose="02020603020101020101" pitchFamily="18" charset="-127"/>
              </a:rPr>
              <a:t>구축진행 현황</a:t>
            </a:r>
            <a:endParaRPr kumimoji="1" lang="en-US" altLang="ko-KR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386390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79104-1D69-4ACA-EF64-A4EAFC865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FAB1E5AA-C748-DC56-785B-95164E318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90488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9pPr>
          </a:lstStyle>
          <a:p>
            <a:pPr eaLnBrk="1" latinLnBrk="1" hangingPunct="1"/>
            <a:r>
              <a:rPr lang="en-US" altLang="ko-KR" sz="2400" b="1">
                <a:latin typeface="하나 L" panose="02020603020101020101" pitchFamily="18" charset="-127"/>
                <a:ea typeface="하나 L" panose="02020603020101020101" pitchFamily="18" charset="-127"/>
              </a:rPr>
              <a:t>3. </a:t>
            </a:r>
            <a:r>
              <a:rPr lang="ko-KR" altLang="en-US" sz="2400" b="1">
                <a:latin typeface="하나 L" panose="02020603020101020101" pitchFamily="18" charset="-127"/>
                <a:ea typeface="하나 L" panose="02020603020101020101" pitchFamily="18" charset="-127"/>
              </a:rPr>
              <a:t>개설 부문</a:t>
            </a:r>
            <a:endParaRPr lang="ko-KR" altLang="en-US" sz="2000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D06043D-15D1-C758-41B5-B31B7EA26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695354"/>
              </p:ext>
            </p:extLst>
          </p:nvPr>
        </p:nvGraphicFramePr>
        <p:xfrm>
          <a:off x="488504" y="1196975"/>
          <a:ext cx="9000997" cy="5184353"/>
        </p:xfrm>
        <a:graphic>
          <a:graphicData uri="http://schemas.openxmlformats.org/drawingml/2006/table">
            <a:tbl>
              <a:tblPr/>
              <a:tblGrid>
                <a:gridCol w="380955">
                  <a:extLst>
                    <a:ext uri="{9D8B030D-6E8A-4147-A177-3AD203B41FA5}">
                      <a16:colId xmlns:a16="http://schemas.microsoft.com/office/drawing/2014/main" val="381604898"/>
                    </a:ext>
                  </a:extLst>
                </a:gridCol>
                <a:gridCol w="459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6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848">
                  <a:extLst>
                    <a:ext uri="{9D8B030D-6E8A-4147-A177-3AD203B41FA5}">
                      <a16:colId xmlns:a16="http://schemas.microsoft.com/office/drawing/2014/main" val="1051493499"/>
                    </a:ext>
                  </a:extLst>
                </a:gridCol>
                <a:gridCol w="950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8896">
                  <a:extLst>
                    <a:ext uri="{9D8B030D-6E8A-4147-A177-3AD203B41FA5}">
                      <a16:colId xmlns:a16="http://schemas.microsoft.com/office/drawing/2014/main" val="3047785788"/>
                    </a:ext>
                  </a:extLst>
                </a:gridCol>
                <a:gridCol w="633269">
                  <a:extLst>
                    <a:ext uri="{9D8B030D-6E8A-4147-A177-3AD203B41FA5}">
                      <a16:colId xmlns:a16="http://schemas.microsoft.com/office/drawing/2014/main" val="304208744"/>
                    </a:ext>
                  </a:extLst>
                </a:gridCol>
              </a:tblGrid>
              <a:tr h="4387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No.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구분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고객명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신청점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접수일자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이슈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담당자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피드벡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예정</a:t>
                      </a:r>
                      <a:r>
                        <a:rPr kumimoji="0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)</a:t>
                      </a: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일자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상태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5381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</a:rPr>
                        <a:t>6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주식회사 </a:t>
                      </a: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비팩토리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상암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DMC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2026-04-13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통합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신규구축 진행</a:t>
                      </a:r>
                      <a:b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계좌조회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이체 사용자교육 진행</a:t>
                      </a:r>
                      <a:endParaRPr kumimoji="0" lang="en-US" altLang="ko-KR" sz="10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이체 연계는 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10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월부터 착수 예상</a:t>
                      </a:r>
                      <a:endParaRPr kumimoji="0" lang="en-US" altLang="ko-KR" sz="10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맹국성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2026-05-15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41275"/>
                  </a:ext>
                </a:extLst>
              </a:tr>
              <a:tr h="945381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</a:rPr>
                        <a:t>7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주식회사 </a:t>
                      </a: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셋더스테이지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상암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DMC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2026-04-13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통합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신규구축 진행</a:t>
                      </a:r>
                      <a:b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계좌조회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이체 사용자교육 진행</a:t>
                      </a:r>
                      <a:endParaRPr kumimoji="0" lang="en-US" altLang="ko-KR" sz="10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이체 연계는 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10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월부터 착수 예상</a:t>
                      </a:r>
                      <a:endParaRPr kumimoji="0" lang="en-US" altLang="ko-KR" sz="10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이체 연계 착수 시 사업장별 서버 준비 예정</a:t>
                      </a:r>
                      <a:endParaRPr kumimoji="0" lang="en-US" altLang="ko-KR" sz="10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맹국성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2026-05-15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588758"/>
                  </a:ext>
                </a:extLst>
              </a:tr>
              <a:tr h="945381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</a:rPr>
                        <a:t>8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데이원드림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상암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DMC</a:t>
                      </a: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2026-04-13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통합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신규구축 진행</a:t>
                      </a:r>
                      <a:b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계좌조회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이체 사용자교육 진행</a:t>
                      </a:r>
                      <a:endParaRPr kumimoji="0" lang="en-US" altLang="ko-KR" sz="10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이체 연계는 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10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월부터 착수 예상</a:t>
                      </a:r>
                      <a:endParaRPr kumimoji="0" lang="en-US" altLang="ko-KR" sz="10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맹국성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2026-05-15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422629"/>
                  </a:ext>
                </a:extLst>
              </a:tr>
              <a:tr h="945381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</a:rPr>
                        <a:t>9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기본형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동양페시마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진천동지점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2026-05-11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통합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신규구축 진행</a:t>
                      </a:r>
                      <a:b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계좌조회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이체 사용자교육 진행</a:t>
                      </a:r>
                      <a:endParaRPr kumimoji="0" lang="en-US" altLang="ko-KR" sz="10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윤기호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2026-05-15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441160"/>
                  </a:ext>
                </a:extLst>
              </a:tr>
              <a:tr h="945381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</a:rPr>
                        <a:t>10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새성남교회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야탑역금융센터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2026-05-08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통합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신규구축 진행</a:t>
                      </a:r>
                      <a:b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모바일 헌금 사용자교육 진행</a:t>
                      </a:r>
                      <a:endParaRPr kumimoji="0" lang="en-US" altLang="ko-KR" sz="10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임인지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2026-05-15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084359"/>
                  </a:ext>
                </a:extLst>
              </a:tr>
            </a:tbl>
          </a:graphicData>
        </a:graphic>
      </p:graphicFrame>
      <p:sp>
        <p:nvSpPr>
          <p:cNvPr id="2" name="Rectangle 298">
            <a:extLst>
              <a:ext uri="{FF2B5EF4-FFF2-40B4-BE49-F238E27FC236}">
                <a16:creationId xmlns:a16="http://schemas.microsoft.com/office/drawing/2014/main" id="{B3BCBC81-E507-3B38-418D-3CE462AED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" y="758674"/>
            <a:ext cx="36893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>
              <a:buFont typeface="Wingdings" panose="05000000000000000000" pitchFamily="2" charset="2"/>
              <a:buChar char="l"/>
            </a:pPr>
            <a:r>
              <a:rPr kumimoji="1" lang="en-US" altLang="ko-KR" b="1">
                <a:latin typeface="하나 L" panose="02020603020101020101" pitchFamily="18" charset="-127"/>
                <a:ea typeface="하나 L" panose="02020603020101020101" pitchFamily="18" charset="-127"/>
              </a:rPr>
              <a:t> </a:t>
            </a:r>
            <a:r>
              <a:rPr kumimoji="1" lang="ko-KR" altLang="en-US" b="1">
                <a:latin typeface="하나 L" panose="02020603020101020101" pitchFamily="18" charset="-127"/>
                <a:ea typeface="하나 L" panose="02020603020101020101" pitchFamily="18" charset="-127"/>
              </a:rPr>
              <a:t>구축진행 현황</a:t>
            </a:r>
            <a:endParaRPr kumimoji="1" lang="en-US" altLang="ko-KR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026438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A4FA0-DC64-B4AF-F398-737A5F2E2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95528017-A135-E235-690B-1D956F576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90488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9pPr>
          </a:lstStyle>
          <a:p>
            <a:pPr eaLnBrk="1" latinLnBrk="1" hangingPunct="1"/>
            <a:r>
              <a:rPr lang="en-US" altLang="ko-KR" sz="2400" b="1">
                <a:latin typeface="하나 L" panose="02020603020101020101" pitchFamily="18" charset="-127"/>
                <a:ea typeface="하나 L" panose="02020603020101020101" pitchFamily="18" charset="-127"/>
              </a:rPr>
              <a:t>3. </a:t>
            </a:r>
            <a:r>
              <a:rPr lang="ko-KR" altLang="en-US" sz="2400" b="1">
                <a:latin typeface="하나 L" panose="02020603020101020101" pitchFamily="18" charset="-127"/>
                <a:ea typeface="하나 L" panose="02020603020101020101" pitchFamily="18" charset="-127"/>
              </a:rPr>
              <a:t>개설 부문</a:t>
            </a:r>
            <a:endParaRPr lang="ko-KR" altLang="en-US" sz="2000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EBAC1A5-87A5-91C5-340B-CFFD205FAC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634295"/>
              </p:ext>
            </p:extLst>
          </p:nvPr>
        </p:nvGraphicFramePr>
        <p:xfrm>
          <a:off x="488504" y="1196975"/>
          <a:ext cx="9000997" cy="3293591"/>
        </p:xfrm>
        <a:graphic>
          <a:graphicData uri="http://schemas.openxmlformats.org/drawingml/2006/table">
            <a:tbl>
              <a:tblPr/>
              <a:tblGrid>
                <a:gridCol w="380955">
                  <a:extLst>
                    <a:ext uri="{9D8B030D-6E8A-4147-A177-3AD203B41FA5}">
                      <a16:colId xmlns:a16="http://schemas.microsoft.com/office/drawing/2014/main" val="381604898"/>
                    </a:ext>
                  </a:extLst>
                </a:gridCol>
                <a:gridCol w="459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6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848">
                  <a:extLst>
                    <a:ext uri="{9D8B030D-6E8A-4147-A177-3AD203B41FA5}">
                      <a16:colId xmlns:a16="http://schemas.microsoft.com/office/drawing/2014/main" val="1051493499"/>
                    </a:ext>
                  </a:extLst>
                </a:gridCol>
                <a:gridCol w="950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8896">
                  <a:extLst>
                    <a:ext uri="{9D8B030D-6E8A-4147-A177-3AD203B41FA5}">
                      <a16:colId xmlns:a16="http://schemas.microsoft.com/office/drawing/2014/main" val="3047785788"/>
                    </a:ext>
                  </a:extLst>
                </a:gridCol>
                <a:gridCol w="633269">
                  <a:extLst>
                    <a:ext uri="{9D8B030D-6E8A-4147-A177-3AD203B41FA5}">
                      <a16:colId xmlns:a16="http://schemas.microsoft.com/office/drawing/2014/main" val="304208744"/>
                    </a:ext>
                  </a:extLst>
                </a:gridCol>
              </a:tblGrid>
              <a:tr h="4387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No.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구분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고객명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신청점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접수일자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이슈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담당자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피드벡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예정</a:t>
                      </a:r>
                      <a:r>
                        <a:rPr kumimoji="0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)</a:t>
                      </a: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일자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상태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38" marR="45738" marT="45844" marB="45844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5381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</a:rPr>
                        <a:t>11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기본형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인에이블다온소프트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마두역금융센터</a:t>
                      </a: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2026-03-31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통합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서버구축 진행</a:t>
                      </a:r>
                      <a:b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월 사용자교육 예정</a:t>
                      </a:r>
                      <a:endParaRPr kumimoji="0" lang="en-US" altLang="ko-KR" sz="10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이수현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진행</a:t>
                      </a:r>
                      <a:endParaRPr lang="ko-KR" altLang="en-US" sz="1000" kern="1200" dirty="0">
                        <a:solidFill>
                          <a:srgbClr val="0000FF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41275"/>
                  </a:ext>
                </a:extLst>
              </a:tr>
              <a:tr h="945381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</a:rPr>
                        <a:t>12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기본형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아름테라퓨틱스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삼성역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2026-04-23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통합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서버구축 진행</a:t>
                      </a:r>
                      <a:b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05/18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신규구축 예정</a:t>
                      </a:r>
                      <a:endParaRPr kumimoji="0" lang="en-US" altLang="ko-KR" sz="10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임인지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2026-05-18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진행</a:t>
                      </a:r>
                      <a:endParaRPr lang="ko-KR" altLang="en-US" sz="1000" kern="1200" dirty="0">
                        <a:solidFill>
                          <a:srgbClr val="0000FF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588758"/>
                  </a:ext>
                </a:extLst>
              </a:tr>
              <a:tr h="945381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</a:rPr>
                        <a:t>13</a:t>
                      </a:r>
                    </a:p>
                  </a:txBody>
                  <a:tcPr marL="9525" marR="9525" marT="955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기본형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지온백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용인동백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2026-05-08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통합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서버구축 진행</a:t>
                      </a:r>
                      <a:b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월 사용자교육 예정</a:t>
                      </a:r>
                      <a:endParaRPr kumimoji="0" lang="en-US" altLang="ko-KR" sz="10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71998" marR="9525" marT="37102" marB="371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임인지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진행</a:t>
                      </a:r>
                      <a:endParaRPr lang="ko-KR" altLang="en-US" sz="1000" kern="1200" dirty="0">
                        <a:solidFill>
                          <a:srgbClr val="0000FF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422629"/>
                  </a:ext>
                </a:extLst>
              </a:tr>
            </a:tbl>
          </a:graphicData>
        </a:graphic>
      </p:graphicFrame>
      <p:sp>
        <p:nvSpPr>
          <p:cNvPr id="2" name="Rectangle 298">
            <a:extLst>
              <a:ext uri="{FF2B5EF4-FFF2-40B4-BE49-F238E27FC236}">
                <a16:creationId xmlns:a16="http://schemas.microsoft.com/office/drawing/2014/main" id="{D07FE744-742B-F49F-0BA8-CAF68C123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" y="758674"/>
            <a:ext cx="36893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>
              <a:buFont typeface="Wingdings" panose="05000000000000000000" pitchFamily="2" charset="2"/>
              <a:buChar char="l"/>
            </a:pPr>
            <a:r>
              <a:rPr kumimoji="1" lang="en-US" altLang="ko-KR" b="1">
                <a:latin typeface="하나 L" panose="02020603020101020101" pitchFamily="18" charset="-127"/>
                <a:ea typeface="하나 L" panose="02020603020101020101" pitchFamily="18" charset="-127"/>
              </a:rPr>
              <a:t> </a:t>
            </a:r>
            <a:r>
              <a:rPr kumimoji="1" lang="ko-KR" altLang="en-US" b="1">
                <a:latin typeface="하나 L" panose="02020603020101020101" pitchFamily="18" charset="-127"/>
                <a:ea typeface="하나 L" panose="02020603020101020101" pitchFamily="18" charset="-127"/>
              </a:rPr>
              <a:t>구축진행 현황</a:t>
            </a:r>
            <a:endParaRPr kumimoji="1" lang="en-US" altLang="ko-KR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80449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C5DE3-25B5-BF22-6929-3D08D4ED5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>
            <a:extLst>
              <a:ext uri="{FF2B5EF4-FFF2-40B4-BE49-F238E27FC236}">
                <a16:creationId xmlns:a16="http://schemas.microsoft.com/office/drawing/2014/main" id="{A836FD61-11EB-C986-CC29-FE939362D6F4}"/>
              </a:ext>
            </a:extLst>
          </p:cNvPr>
          <p:cNvSpPr txBox="1">
            <a:spLocks noChangeArrowheads="1"/>
          </p:cNvSpPr>
          <p:nvPr/>
        </p:nvSpPr>
        <p:spPr>
          <a:xfrm>
            <a:off x="139700" y="90488"/>
            <a:ext cx="2182008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1pPr>
            <a:lvl2pPr marL="742950" indent="-28575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2pPr>
            <a:lvl3pPr marL="11430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3pPr>
            <a:lvl4pPr marL="16002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4pPr>
            <a:lvl5pPr marL="20574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9pPr>
          </a:lstStyle>
          <a:p>
            <a:pPr eaLnBrk="1" latinLnBrk="1" hangingPunct="1">
              <a:defRPr/>
            </a:pPr>
            <a:r>
              <a:rPr lang="en-US" altLang="ko-KR" sz="2400" b="1">
                <a:latin typeface="하나 L"/>
                <a:ea typeface="하나 L"/>
              </a:rPr>
              <a:t>4. ERP</a:t>
            </a:r>
            <a:r>
              <a:rPr lang="ko-KR" altLang="en-US" sz="2400" b="1">
                <a:latin typeface="하나 L"/>
                <a:ea typeface="하나 L"/>
              </a:rPr>
              <a:t>연계 부문</a:t>
            </a:r>
            <a:endParaRPr lang="ko-KR" altLang="en-US" sz="2000" b="1">
              <a:latin typeface="하나 L"/>
              <a:ea typeface="하나 L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B16A900-F5FB-B566-62DD-8641852BD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753884"/>
              </p:ext>
            </p:extLst>
          </p:nvPr>
        </p:nvGraphicFramePr>
        <p:xfrm>
          <a:off x="488504" y="1206277"/>
          <a:ext cx="9001000" cy="5099096"/>
        </p:xfrm>
        <a:graphic>
          <a:graphicData uri="http://schemas.openxmlformats.org/drawingml/2006/table">
            <a:tbl>
              <a:tblPr/>
              <a:tblGrid>
                <a:gridCol w="392614">
                  <a:extLst>
                    <a:ext uri="{9D8B030D-6E8A-4147-A177-3AD203B41FA5}">
                      <a16:colId xmlns:a16="http://schemas.microsoft.com/office/drawing/2014/main" val="1294399126"/>
                    </a:ext>
                  </a:extLst>
                </a:gridCol>
                <a:gridCol w="169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184">
                  <a:extLst>
                    <a:ext uri="{9D8B030D-6E8A-4147-A177-3AD203B41FA5}">
                      <a16:colId xmlns:a16="http://schemas.microsoft.com/office/drawing/2014/main" val="933722605"/>
                    </a:ext>
                  </a:extLst>
                </a:gridCol>
                <a:gridCol w="1081184">
                  <a:extLst>
                    <a:ext uri="{9D8B030D-6E8A-4147-A177-3AD203B41FA5}">
                      <a16:colId xmlns:a16="http://schemas.microsoft.com/office/drawing/2014/main" val="1834817635"/>
                    </a:ext>
                  </a:extLst>
                </a:gridCol>
                <a:gridCol w="1081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85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5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No.</a:t>
                      </a:r>
                      <a:endParaRPr kumimoji="0" lang="en-US" altLang="ko-KR" sz="1200" b="1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고객명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 err="1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신청점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접수일자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예정</a:t>
                      </a:r>
                      <a:r>
                        <a:rPr kumimoji="0" lang="en-US" altLang="ko-KR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(</a:t>
                      </a: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완료</a:t>
                      </a:r>
                      <a:r>
                        <a:rPr kumimoji="0" lang="en-US" altLang="ko-KR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)</a:t>
                      </a: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일자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진행상황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담당자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23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1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서울예술대학교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기관사업부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2025-10-27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거래내역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세금계산서 연계 협의 진행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테이블레이아웃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 발송 완료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거래내역 테이블 생성되어 이관 예정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이성환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562221"/>
                  </a:ext>
                </a:extLst>
              </a:tr>
              <a:tr h="58023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서울예술대학교 산학협력단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기관사업부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2025-10-27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통합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구축 후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RERP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+mn-cs"/>
                        </a:rPr>
                        <a:t>와 연계 예정 확인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이성환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275466"/>
                  </a:ext>
                </a:extLst>
              </a:tr>
              <a:tr h="58023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3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한다랩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율량동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2026-04-03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구축완료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연계 업무 협의 예정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탁영민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335727"/>
                  </a:ext>
                </a:extLst>
              </a:tr>
              <a:tr h="58023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4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국립소방병원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음성금융센터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2026-04-06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미 구축 고객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월 통합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CMS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구축 후 연계 예정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탁영민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9367088"/>
                  </a:ext>
                </a:extLst>
              </a:tr>
              <a:tr h="58023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5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데이원드림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상암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DMC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2026-04-13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ERP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연계 협의 완료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대량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급여이체 연계 예정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. 10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월 이후 진행 예상 확인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맹국성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6720977"/>
                  </a:ext>
                </a:extLst>
              </a:tr>
              <a:tr h="58023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6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주식회사 </a:t>
                      </a: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디피에이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상암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DMC</a:t>
                      </a: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2026-04-13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ERP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연계 협의 완료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대량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급여이체 연계 예정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. 10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월 이후 진행 예상 확인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맹국성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876971"/>
                  </a:ext>
                </a:extLst>
              </a:tr>
              <a:tr h="58023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7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주식회사 보이드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상암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DMC</a:t>
                      </a: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2026-04-13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ERP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연계 협의 완료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대량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급여이체 연계 예정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. 10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월 이후 진행 예상 확인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맹국성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659588"/>
                  </a:ext>
                </a:extLst>
              </a:tr>
              <a:tr h="58023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8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비투비컴퍼니</a:t>
                      </a: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상암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DMC</a:t>
                      </a: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2026-04-13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ERP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연계 협의 완료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대량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급여이체 연계 예정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. 10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월 이후 진행 예상 확인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맹국성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834283"/>
                  </a:ext>
                </a:extLst>
              </a:tr>
            </a:tbl>
          </a:graphicData>
        </a:graphic>
      </p:graphicFrame>
      <p:sp>
        <p:nvSpPr>
          <p:cNvPr id="21541" name="Rectangle 298">
            <a:extLst>
              <a:ext uri="{FF2B5EF4-FFF2-40B4-BE49-F238E27FC236}">
                <a16:creationId xmlns:a16="http://schemas.microsoft.com/office/drawing/2014/main" id="{BE6CD565-0886-1078-B61C-D43272D06860}"/>
              </a:ext>
            </a:extLst>
          </p:cNvPr>
          <p:cNvSpPr>
            <a:spLocks noChangeArrowheads="1"/>
          </p:cNvSpPr>
          <p:nvPr/>
        </p:nvSpPr>
        <p:spPr>
          <a:xfrm>
            <a:off x="327025" y="755844"/>
            <a:ext cx="3482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>
              <a:buFont typeface="Wingdings" panose="05000000000000000000" pitchFamily="2" charset="2"/>
              <a:buChar char="l"/>
            </a:pPr>
            <a:r>
              <a:rPr kumimoji="1" lang="en-US" altLang="ko-KR" b="1">
                <a:latin typeface="하나 L" panose="02020603020101020101" pitchFamily="18" charset="-127"/>
                <a:ea typeface="하나 L" panose="02020603020101020101" pitchFamily="18" charset="-127"/>
              </a:rPr>
              <a:t> ERP</a:t>
            </a:r>
            <a:r>
              <a:rPr kumimoji="1" lang="ko-KR" altLang="en-US" b="1">
                <a:latin typeface="하나 L" panose="02020603020101020101" pitchFamily="18" charset="-127"/>
                <a:ea typeface="하나 L" panose="02020603020101020101" pitchFamily="18" charset="-127"/>
              </a:rPr>
              <a:t>연계 대기 현황</a:t>
            </a:r>
            <a:endParaRPr kumimoji="1" lang="en-US" altLang="ko-KR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546710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F606B-E86C-6349-4D7A-0704897E6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>
            <a:extLst>
              <a:ext uri="{FF2B5EF4-FFF2-40B4-BE49-F238E27FC236}">
                <a16:creationId xmlns:a16="http://schemas.microsoft.com/office/drawing/2014/main" id="{8B58CD3D-1CCD-4FDC-0B58-03A633899732}"/>
              </a:ext>
            </a:extLst>
          </p:cNvPr>
          <p:cNvSpPr txBox="1">
            <a:spLocks noChangeArrowheads="1"/>
          </p:cNvSpPr>
          <p:nvPr/>
        </p:nvSpPr>
        <p:spPr>
          <a:xfrm>
            <a:off x="139700" y="90488"/>
            <a:ext cx="2182008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1pPr>
            <a:lvl2pPr marL="742950" indent="-28575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2pPr>
            <a:lvl3pPr marL="11430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3pPr>
            <a:lvl4pPr marL="16002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4pPr>
            <a:lvl5pPr marL="20574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9pPr>
          </a:lstStyle>
          <a:p>
            <a:pPr eaLnBrk="1" latinLnBrk="1" hangingPunct="1">
              <a:defRPr/>
            </a:pPr>
            <a:r>
              <a:rPr lang="en-US" altLang="ko-KR" sz="2400" b="1">
                <a:latin typeface="하나 L"/>
                <a:ea typeface="하나 L"/>
              </a:rPr>
              <a:t>4. ERP</a:t>
            </a:r>
            <a:r>
              <a:rPr lang="ko-KR" altLang="en-US" sz="2400" b="1">
                <a:latin typeface="하나 L"/>
                <a:ea typeface="하나 L"/>
              </a:rPr>
              <a:t>연계 부문</a:t>
            </a:r>
            <a:endParaRPr lang="ko-KR" altLang="en-US" sz="2000" b="1">
              <a:latin typeface="하나 L"/>
              <a:ea typeface="하나 L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5C67D24-804C-AF37-5D9F-FE603F455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297004"/>
              </p:ext>
            </p:extLst>
          </p:nvPr>
        </p:nvGraphicFramePr>
        <p:xfrm>
          <a:off x="488504" y="1206277"/>
          <a:ext cx="9001000" cy="5099096"/>
        </p:xfrm>
        <a:graphic>
          <a:graphicData uri="http://schemas.openxmlformats.org/drawingml/2006/table">
            <a:tbl>
              <a:tblPr/>
              <a:tblGrid>
                <a:gridCol w="392614">
                  <a:extLst>
                    <a:ext uri="{9D8B030D-6E8A-4147-A177-3AD203B41FA5}">
                      <a16:colId xmlns:a16="http://schemas.microsoft.com/office/drawing/2014/main" val="1294399126"/>
                    </a:ext>
                  </a:extLst>
                </a:gridCol>
                <a:gridCol w="169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184">
                  <a:extLst>
                    <a:ext uri="{9D8B030D-6E8A-4147-A177-3AD203B41FA5}">
                      <a16:colId xmlns:a16="http://schemas.microsoft.com/office/drawing/2014/main" val="933722605"/>
                    </a:ext>
                  </a:extLst>
                </a:gridCol>
                <a:gridCol w="1081184">
                  <a:extLst>
                    <a:ext uri="{9D8B030D-6E8A-4147-A177-3AD203B41FA5}">
                      <a16:colId xmlns:a16="http://schemas.microsoft.com/office/drawing/2014/main" val="1834817635"/>
                    </a:ext>
                  </a:extLst>
                </a:gridCol>
                <a:gridCol w="1081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85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5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No.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고객명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 err="1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신청점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접수일자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예정</a:t>
                      </a:r>
                      <a:r>
                        <a:rPr kumimoji="0" lang="en-US" altLang="ko-KR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(</a:t>
                      </a: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완료</a:t>
                      </a:r>
                      <a:r>
                        <a:rPr kumimoji="0" lang="en-US" altLang="ko-KR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)</a:t>
                      </a: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일자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진행상황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담당자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23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9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주식회사 </a:t>
                      </a: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비팩토리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상암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DMC</a:t>
                      </a: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2026-04-13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ERP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연계 협의 완료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대량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급여이체 연계 예정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. 10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월 이후 진행 예상 확인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맹국성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241918"/>
                  </a:ext>
                </a:extLst>
              </a:tr>
              <a:tr h="58023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10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주식회사 </a:t>
                      </a: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셋더스테이지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상암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DMC</a:t>
                      </a: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2026-04-13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ERP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연계 협의 완료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대량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급여이체 연계 예정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. 10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월 이후 진행 예상 확인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맹국성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609376"/>
                  </a:ext>
                </a:extLst>
              </a:tr>
              <a:tr h="58023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11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바로자산운용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삼성역금융센터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2026-04-14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미 구축 고객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구축 후 연계 예정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맹국성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81837"/>
                  </a:ext>
                </a:extLst>
              </a:tr>
              <a:tr h="58023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12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스튜디오슬램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JTBC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출장소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2026-04-23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미 구축 고객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구축 후 연계 예정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이수현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176116"/>
                  </a:ext>
                </a:extLst>
              </a:tr>
              <a:tr h="58023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13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수원삼일교회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동탄금융센터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2026-04-24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미 구축 고객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구축 후 연계 예정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전준수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546835"/>
                  </a:ext>
                </a:extLst>
              </a:tr>
              <a:tr h="58023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14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소설빈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서면역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2026-04-28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미 구축 고객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구축 후 연계 예정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손수일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0090440"/>
                  </a:ext>
                </a:extLst>
              </a:tr>
              <a:tr h="58023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15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비씨월드헬스케어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서초지점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2026-04-28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미 구축 고객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구축 후 연계 예정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임인지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037364"/>
                  </a:ext>
                </a:extLst>
              </a:tr>
              <a:tr h="58023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16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비시월드제약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서초지점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2026-04-28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미 구축 고객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구축 후 연계 예정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임인지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845619"/>
                  </a:ext>
                </a:extLst>
              </a:tr>
            </a:tbl>
          </a:graphicData>
        </a:graphic>
      </p:graphicFrame>
      <p:sp>
        <p:nvSpPr>
          <p:cNvPr id="21541" name="Rectangle 298">
            <a:extLst>
              <a:ext uri="{FF2B5EF4-FFF2-40B4-BE49-F238E27FC236}">
                <a16:creationId xmlns:a16="http://schemas.microsoft.com/office/drawing/2014/main" id="{96171FD9-5FAC-0799-9FB9-49E706A79BD3}"/>
              </a:ext>
            </a:extLst>
          </p:cNvPr>
          <p:cNvSpPr>
            <a:spLocks noChangeArrowheads="1"/>
          </p:cNvSpPr>
          <p:nvPr/>
        </p:nvSpPr>
        <p:spPr>
          <a:xfrm>
            <a:off x="327025" y="755844"/>
            <a:ext cx="3482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>
              <a:buFont typeface="Wingdings" panose="05000000000000000000" pitchFamily="2" charset="2"/>
              <a:buChar char="l"/>
            </a:pPr>
            <a:r>
              <a:rPr kumimoji="1" lang="en-US" altLang="ko-KR" b="1">
                <a:latin typeface="하나 L" panose="02020603020101020101" pitchFamily="18" charset="-127"/>
                <a:ea typeface="하나 L" panose="02020603020101020101" pitchFamily="18" charset="-127"/>
              </a:rPr>
              <a:t> ERP</a:t>
            </a:r>
            <a:r>
              <a:rPr kumimoji="1" lang="ko-KR" altLang="en-US" b="1">
                <a:latin typeface="하나 L" panose="02020603020101020101" pitchFamily="18" charset="-127"/>
                <a:ea typeface="하나 L" panose="02020603020101020101" pitchFamily="18" charset="-127"/>
              </a:rPr>
              <a:t>연계 대기 현황</a:t>
            </a:r>
            <a:endParaRPr kumimoji="1" lang="en-US" altLang="ko-KR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211574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BA6EF-85B2-5128-B9AE-9843D3C2A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>
            <a:extLst>
              <a:ext uri="{FF2B5EF4-FFF2-40B4-BE49-F238E27FC236}">
                <a16:creationId xmlns:a16="http://schemas.microsoft.com/office/drawing/2014/main" id="{588C506A-9862-BE37-2C60-B97C0A0BE163}"/>
              </a:ext>
            </a:extLst>
          </p:cNvPr>
          <p:cNvSpPr txBox="1">
            <a:spLocks noChangeArrowheads="1"/>
          </p:cNvSpPr>
          <p:nvPr/>
        </p:nvSpPr>
        <p:spPr>
          <a:xfrm>
            <a:off x="139700" y="90488"/>
            <a:ext cx="2182008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1pPr>
            <a:lvl2pPr marL="742950" indent="-28575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2pPr>
            <a:lvl3pPr marL="11430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3pPr>
            <a:lvl4pPr marL="16002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4pPr>
            <a:lvl5pPr marL="20574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9pPr>
          </a:lstStyle>
          <a:p>
            <a:pPr eaLnBrk="1" latinLnBrk="1" hangingPunct="1">
              <a:defRPr/>
            </a:pPr>
            <a:r>
              <a:rPr lang="en-US" altLang="ko-KR" sz="2400" b="1">
                <a:latin typeface="하나 L"/>
                <a:ea typeface="하나 L"/>
              </a:rPr>
              <a:t>4. ERP</a:t>
            </a:r>
            <a:r>
              <a:rPr lang="ko-KR" altLang="en-US" sz="2400" b="1">
                <a:latin typeface="하나 L"/>
                <a:ea typeface="하나 L"/>
              </a:rPr>
              <a:t>연계 부문</a:t>
            </a:r>
            <a:endParaRPr lang="ko-KR" altLang="en-US" sz="2000" b="1">
              <a:latin typeface="하나 L"/>
              <a:ea typeface="하나 L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5569D25-7F3D-4DF8-9685-1F3172739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901283"/>
              </p:ext>
            </p:extLst>
          </p:nvPr>
        </p:nvGraphicFramePr>
        <p:xfrm>
          <a:off x="488504" y="1206277"/>
          <a:ext cx="9001000" cy="3938622"/>
        </p:xfrm>
        <a:graphic>
          <a:graphicData uri="http://schemas.openxmlformats.org/drawingml/2006/table">
            <a:tbl>
              <a:tblPr/>
              <a:tblGrid>
                <a:gridCol w="392614">
                  <a:extLst>
                    <a:ext uri="{9D8B030D-6E8A-4147-A177-3AD203B41FA5}">
                      <a16:colId xmlns:a16="http://schemas.microsoft.com/office/drawing/2014/main" val="1294399126"/>
                    </a:ext>
                  </a:extLst>
                </a:gridCol>
                <a:gridCol w="169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184">
                  <a:extLst>
                    <a:ext uri="{9D8B030D-6E8A-4147-A177-3AD203B41FA5}">
                      <a16:colId xmlns:a16="http://schemas.microsoft.com/office/drawing/2014/main" val="933722605"/>
                    </a:ext>
                  </a:extLst>
                </a:gridCol>
                <a:gridCol w="1081184">
                  <a:extLst>
                    <a:ext uri="{9D8B030D-6E8A-4147-A177-3AD203B41FA5}">
                      <a16:colId xmlns:a16="http://schemas.microsoft.com/office/drawing/2014/main" val="1834817635"/>
                    </a:ext>
                  </a:extLst>
                </a:gridCol>
                <a:gridCol w="1081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85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5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No.</a:t>
                      </a:r>
                      <a:endParaRPr kumimoji="0" lang="en-US" altLang="ko-KR" sz="1200" b="1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고객명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 err="1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신청점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접수일자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예정</a:t>
                      </a:r>
                      <a:r>
                        <a:rPr kumimoji="0" lang="en-US" altLang="ko-KR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(</a:t>
                      </a: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완료</a:t>
                      </a:r>
                      <a:r>
                        <a:rPr kumimoji="0" lang="en-US" altLang="ko-KR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)</a:t>
                      </a: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일자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진행상황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담당자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23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17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새성남교회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야탑역금융센터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2026-05-08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월 중 연계 협의 후 연계 진행 예정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임인지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275537"/>
                  </a:ext>
                </a:extLst>
              </a:tr>
              <a:tr h="58023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18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동경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2026-05-13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미 구축 고객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구축 후 연계 예정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임인지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762629"/>
                  </a:ext>
                </a:extLst>
              </a:tr>
              <a:tr h="58023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19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메종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21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지코리아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청담사거리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2026-05-14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미 구축 고객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구축 후 연계 예정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이수현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72086"/>
                  </a:ext>
                </a:extLst>
              </a:tr>
              <a:tr h="58023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대구서현교회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진천동지점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2026-05-14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CMS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미 구축 고객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구축 후 연계 예정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윤기호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830478"/>
                  </a:ext>
                </a:extLst>
              </a:tr>
              <a:tr h="58023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21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모티바코리아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청담사거리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2026-05-14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추가 연계 접수 고객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이수현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927533"/>
                  </a:ext>
                </a:extLst>
              </a:tr>
              <a:tr h="58023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22</a:t>
                      </a:r>
                    </a:p>
                  </a:txBody>
                  <a:tcPr marL="9525" marR="9525" marT="955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휴먼웰니스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청담사거리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2026-05-14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추가 연계 접수 고객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이수현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129894"/>
                  </a:ext>
                </a:extLst>
              </a:tr>
            </a:tbl>
          </a:graphicData>
        </a:graphic>
      </p:graphicFrame>
      <p:sp>
        <p:nvSpPr>
          <p:cNvPr id="21541" name="Rectangle 298">
            <a:extLst>
              <a:ext uri="{FF2B5EF4-FFF2-40B4-BE49-F238E27FC236}">
                <a16:creationId xmlns:a16="http://schemas.microsoft.com/office/drawing/2014/main" id="{633DA9CD-2ED0-2AC7-9997-4A9BFA1777C0}"/>
              </a:ext>
            </a:extLst>
          </p:cNvPr>
          <p:cNvSpPr>
            <a:spLocks noChangeArrowheads="1"/>
          </p:cNvSpPr>
          <p:nvPr/>
        </p:nvSpPr>
        <p:spPr>
          <a:xfrm>
            <a:off x="327025" y="755844"/>
            <a:ext cx="3482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>
              <a:buFont typeface="Wingdings" panose="05000000000000000000" pitchFamily="2" charset="2"/>
              <a:buChar char="l"/>
            </a:pPr>
            <a:r>
              <a:rPr kumimoji="1" lang="en-US" altLang="ko-KR" b="1">
                <a:latin typeface="하나 L" panose="02020603020101020101" pitchFamily="18" charset="-127"/>
                <a:ea typeface="하나 L" panose="02020603020101020101" pitchFamily="18" charset="-127"/>
              </a:rPr>
              <a:t> ERP</a:t>
            </a:r>
            <a:r>
              <a:rPr kumimoji="1" lang="ko-KR" altLang="en-US" b="1">
                <a:latin typeface="하나 L" panose="02020603020101020101" pitchFamily="18" charset="-127"/>
                <a:ea typeface="하나 L" panose="02020603020101020101" pitchFamily="18" charset="-127"/>
              </a:rPr>
              <a:t>연계 대기 현황</a:t>
            </a:r>
            <a:endParaRPr kumimoji="1" lang="en-US" altLang="ko-KR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3229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A3062-EADC-475B-A1D8-E704A6F1B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6337C5A-F69E-0EE3-B2E6-49E08B52B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841620"/>
              </p:ext>
            </p:extLst>
          </p:nvPr>
        </p:nvGraphicFramePr>
        <p:xfrm>
          <a:off x="488504" y="1204668"/>
          <a:ext cx="9073011" cy="5125454"/>
        </p:xfrm>
        <a:graphic>
          <a:graphicData uri="http://schemas.openxmlformats.org/drawingml/2006/table">
            <a:tbl>
              <a:tblPr/>
              <a:tblGrid>
                <a:gridCol w="384691">
                  <a:extLst>
                    <a:ext uri="{9D8B030D-6E8A-4147-A177-3AD203B41FA5}">
                      <a16:colId xmlns:a16="http://schemas.microsoft.com/office/drawing/2014/main" val="3251229416"/>
                    </a:ext>
                  </a:extLst>
                </a:gridCol>
                <a:gridCol w="1343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75665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1090699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30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No.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고객명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 err="1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신청점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접수일자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연계업무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상태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진행상황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담당자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완료일자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(</a:t>
                      </a: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예정</a:t>
                      </a:r>
                      <a:r>
                        <a:rPr kumimoji="0" lang="en-US" altLang="ko-KR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)</a:t>
                      </a: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367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1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미원상사</a:t>
                      </a: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(</a:t>
                      </a:r>
                      <a:r>
                        <a:rPr lang="ko-KR" altLang="en-US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주</a:t>
                      </a: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)</a:t>
                      </a:r>
                      <a:br>
                        <a:rPr lang="en-US" altLang="ko-KR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(</a:t>
                      </a:r>
                      <a:r>
                        <a:rPr lang="ko-KR" altLang="en-US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미원화학</a:t>
                      </a: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, </a:t>
                      </a:r>
                      <a:r>
                        <a:rPr lang="ko-KR" altLang="en-US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태광정밀화학 계열사</a:t>
                      </a: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평촌범계</a:t>
                      </a: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2025-12-01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ERP /</a:t>
                      </a: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 </a:t>
                      </a:r>
                      <a:r>
                        <a:rPr lang="ko-KR" altLang="en-US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자체개발</a:t>
                      </a:r>
                      <a:endParaRPr lang="en-US" altLang="ko-KR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lang="en-US" altLang="ko-KR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B2B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매출내역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집금결과 연동 및 스케줄설정 완료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미원화학부터 연동테스트를 진행 후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나머지 계열사는 동일하게 구성 예정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>
                          <a:latin typeface="하나 L"/>
                          <a:ea typeface="하나 L"/>
                        </a:rPr>
                        <a:t>이성환</a:t>
                      </a: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dirty="0">
                          <a:latin typeface="하나 L"/>
                          <a:ea typeface="하나 L"/>
                        </a:rPr>
                        <a:t>-</a:t>
                      </a:r>
                      <a:endParaRPr lang="ko-KR" altLang="en-US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27811"/>
                  </a:ext>
                </a:extLst>
              </a:tr>
              <a:tr h="3843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집금결과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065058"/>
                  </a:ext>
                </a:extLst>
              </a:tr>
              <a:tr h="38436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B2B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매출내역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765626"/>
                  </a:ext>
                </a:extLst>
              </a:tr>
              <a:tr h="3843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대량이체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대기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1859"/>
                  </a:ext>
                </a:extLst>
              </a:tr>
              <a:tr h="384367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2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미원화학</a:t>
                      </a: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(</a:t>
                      </a:r>
                      <a:r>
                        <a:rPr lang="ko-KR" altLang="en-US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주</a:t>
                      </a: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평촌범계</a:t>
                      </a: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2025-12-01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ERP /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자체개발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B2B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매출내역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집금결과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연동 및 스케줄설정 완료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이체 데이터 생성 후 통합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CMS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가져오기 정상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ERP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프로그램 개발 완료 후 사용 예정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>
                          <a:latin typeface="하나 L"/>
                          <a:ea typeface="하나 L"/>
                        </a:rPr>
                        <a:t>이성환</a:t>
                      </a: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dirty="0">
                          <a:latin typeface="하나 L"/>
                          <a:ea typeface="하나 L"/>
                        </a:rPr>
                        <a:t>-</a:t>
                      </a:r>
                      <a:endParaRPr lang="ko-KR" altLang="en-US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311374"/>
                  </a:ext>
                </a:extLst>
              </a:tr>
              <a:tr h="3843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집금결과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974782"/>
                  </a:ext>
                </a:extLst>
              </a:tr>
              <a:tr h="38436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B2B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매출내역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582395"/>
                  </a:ext>
                </a:extLst>
              </a:tr>
              <a:tr h="3843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대량이체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진행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893813"/>
                  </a:ext>
                </a:extLst>
              </a:tr>
              <a:tr h="384367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3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태광정밀화학</a:t>
                      </a:r>
                      <a:endParaRPr lang="en-US" altLang="ko-KR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평촌범계</a:t>
                      </a: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2025-12-01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ERP /</a:t>
                      </a: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 </a:t>
                      </a:r>
                      <a:r>
                        <a:rPr lang="ko-KR" altLang="en-US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자체개발</a:t>
                      </a:r>
                      <a:endParaRPr lang="en-US" altLang="ko-KR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lang="en-US" altLang="ko-KR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B2B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매출내역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집금결과 연동 및 스케줄설정 완료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미원화학부터 연동테스트를 진행 후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나머지 계열사는 동일하게 구성 예정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>
                          <a:latin typeface="하나 L"/>
                          <a:ea typeface="하나 L"/>
                        </a:rPr>
                        <a:t>이성환</a:t>
                      </a: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dirty="0">
                          <a:latin typeface="하나 L"/>
                          <a:ea typeface="하나 L"/>
                        </a:rPr>
                        <a:t>-</a:t>
                      </a:r>
                      <a:endParaRPr lang="ko-KR" altLang="en-US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735317"/>
                  </a:ext>
                </a:extLst>
              </a:tr>
              <a:tr h="3843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집금결과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815369"/>
                  </a:ext>
                </a:extLst>
              </a:tr>
              <a:tr h="38436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B2B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매출내역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6748315"/>
                  </a:ext>
                </a:extLst>
              </a:tr>
              <a:tr h="3843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대량이체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대기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070522"/>
                  </a:ext>
                </a:extLst>
              </a:tr>
            </a:tbl>
          </a:graphicData>
        </a:graphic>
      </p:graphicFrame>
      <p:sp>
        <p:nvSpPr>
          <p:cNvPr id="21541" name="Rectangle 298">
            <a:extLst>
              <a:ext uri="{FF2B5EF4-FFF2-40B4-BE49-F238E27FC236}">
                <a16:creationId xmlns:a16="http://schemas.microsoft.com/office/drawing/2014/main" id="{674816C2-7E52-174B-1961-1F577C6EBE44}"/>
              </a:ext>
            </a:extLst>
          </p:cNvPr>
          <p:cNvSpPr>
            <a:spLocks noChangeArrowheads="1"/>
          </p:cNvSpPr>
          <p:nvPr/>
        </p:nvSpPr>
        <p:spPr>
          <a:xfrm>
            <a:off x="327025" y="755844"/>
            <a:ext cx="3482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>
              <a:buFont typeface="Wingdings" panose="05000000000000000000" pitchFamily="2" charset="2"/>
              <a:buChar char="l"/>
            </a:pPr>
            <a:r>
              <a:rPr kumimoji="1" lang="en-US" altLang="ko-KR" b="1">
                <a:latin typeface="하나 L" panose="02020603020101020101" pitchFamily="18" charset="-127"/>
                <a:ea typeface="하나 L" panose="02020603020101020101" pitchFamily="18" charset="-127"/>
              </a:rPr>
              <a:t> ERP</a:t>
            </a:r>
            <a:r>
              <a:rPr kumimoji="1" lang="ko-KR" altLang="en-US" b="1">
                <a:latin typeface="하나 L" panose="02020603020101020101" pitchFamily="18" charset="-127"/>
                <a:ea typeface="하나 L" panose="02020603020101020101" pitchFamily="18" charset="-127"/>
              </a:rPr>
              <a:t>연계 진행 현황</a:t>
            </a:r>
            <a:endParaRPr kumimoji="1" lang="en-US" altLang="ko-KR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09E15570-C1DB-4776-932B-5C12CA24E127}"/>
              </a:ext>
            </a:extLst>
          </p:cNvPr>
          <p:cNvSpPr txBox="1">
            <a:spLocks noChangeArrowheads="1"/>
          </p:cNvSpPr>
          <p:nvPr/>
        </p:nvSpPr>
        <p:spPr>
          <a:xfrm>
            <a:off x="139700" y="90488"/>
            <a:ext cx="2182008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1pPr>
            <a:lvl2pPr marL="742950" indent="-28575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2pPr>
            <a:lvl3pPr marL="11430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3pPr>
            <a:lvl4pPr marL="16002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4pPr>
            <a:lvl5pPr marL="20574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9pPr>
          </a:lstStyle>
          <a:p>
            <a:pPr eaLnBrk="1" latinLnBrk="1" hangingPunct="1">
              <a:defRPr/>
            </a:pPr>
            <a:r>
              <a:rPr lang="en-US" altLang="ko-KR" sz="2400" b="1">
                <a:latin typeface="하나 L"/>
                <a:ea typeface="하나 L"/>
              </a:rPr>
              <a:t>4. ERP</a:t>
            </a:r>
            <a:r>
              <a:rPr lang="ko-KR" altLang="en-US" sz="2400" b="1">
                <a:latin typeface="하나 L"/>
                <a:ea typeface="하나 L"/>
              </a:rPr>
              <a:t>연계 부문</a:t>
            </a:r>
            <a:endParaRPr lang="ko-KR" altLang="en-US" sz="2000" b="1">
              <a:latin typeface="하나 L"/>
              <a:ea typeface="하나 L"/>
            </a:endParaRPr>
          </a:p>
        </p:txBody>
      </p:sp>
    </p:spTree>
    <p:extLst>
      <p:ext uri="{BB962C8B-B14F-4D97-AF65-F5344CB8AC3E}">
        <p14:creationId xmlns:p14="http://schemas.microsoft.com/office/powerpoint/2010/main" val="146786928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0BFD-B3D0-C9DF-E444-02C889F37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4DD802F-E99E-E101-811B-685F9199A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297121"/>
              </p:ext>
            </p:extLst>
          </p:nvPr>
        </p:nvGraphicFramePr>
        <p:xfrm>
          <a:off x="488504" y="1204668"/>
          <a:ext cx="9073011" cy="5104654"/>
        </p:xfrm>
        <a:graphic>
          <a:graphicData uri="http://schemas.openxmlformats.org/drawingml/2006/table">
            <a:tbl>
              <a:tblPr/>
              <a:tblGrid>
                <a:gridCol w="384691">
                  <a:extLst>
                    <a:ext uri="{9D8B030D-6E8A-4147-A177-3AD203B41FA5}">
                      <a16:colId xmlns:a16="http://schemas.microsoft.com/office/drawing/2014/main" val="3251229416"/>
                    </a:ext>
                  </a:extLst>
                </a:gridCol>
                <a:gridCol w="1343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75665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1090699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30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No.</a:t>
                      </a:r>
                      <a:endParaRPr kumimoji="0" lang="en-US" altLang="ko-KR" sz="1200" b="1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고객명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 err="1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신청점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접수일자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연계업무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상태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진행상황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담당자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완료일자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(</a:t>
                      </a: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예정</a:t>
                      </a:r>
                      <a:r>
                        <a:rPr kumimoji="0" lang="en-US" altLang="ko-KR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)</a:t>
                      </a: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853">
                <a:tc rowSpan="4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latin typeface="하나 L"/>
                          <a:ea typeface="하나 L"/>
                          <a:cs typeface="+mn-cs"/>
                        </a:rPr>
                        <a:t>4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에이로마플라붐</a:t>
                      </a: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평촌범계역</a:t>
                      </a: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2026-01-30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ERP /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영림원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 데이터 이관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법인카드 타카드사 등록 및 조회 후 이관완료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대량이체 테스트 파일 생성 후 테스트 예정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월 이체 테스트 예정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>
                          <a:latin typeface="하나 L"/>
                          <a:ea typeface="하나 L"/>
                        </a:rPr>
                        <a:t>이수현</a:t>
                      </a: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latin typeface="하나 L"/>
                          <a:ea typeface="하나 L"/>
                        </a:rPr>
                        <a:t>2026-05</a:t>
                      </a: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5155505"/>
                  </a:ext>
                </a:extLst>
              </a:tr>
              <a:tr h="715853"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법인카드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583818"/>
                  </a:ext>
                </a:extLst>
              </a:tr>
              <a:tr h="715853"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대량이체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진행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0686640"/>
                  </a:ext>
                </a:extLst>
              </a:tr>
              <a:tr h="715853"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세금계산서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989636"/>
                  </a:ext>
                </a:extLst>
              </a:tr>
              <a:tr h="1728192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latin typeface="하나 L"/>
                          <a:ea typeface="하나 L"/>
                          <a:cs typeface="+mn-cs"/>
                        </a:rPr>
                        <a:t>5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엘케이보험중개주식회사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서여의도</a:t>
                      </a:r>
                      <a:endParaRPr lang="en-US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금융센터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2026-01-29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진행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ERP /</a:t>
                      </a: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 </a:t>
                      </a:r>
                      <a:r>
                        <a:rPr lang="ko-KR" altLang="en-US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자체개발</a:t>
                      </a:r>
                      <a:endParaRPr lang="en-US" altLang="ko-KR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lang="en-US" altLang="ko-KR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API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연동방식으로 데이터 호출 테스트 진행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ERP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시스템에서 데이터 검수 진행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ERP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시스템 화면 개발을 진행중으로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6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월정도에 완료 예상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>
                          <a:latin typeface="하나 L"/>
                          <a:ea typeface="하나 L"/>
                        </a:rPr>
                        <a:t>임인지</a:t>
                      </a: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dirty="0">
                          <a:latin typeface="하나 L"/>
                          <a:ea typeface="하나 L"/>
                        </a:rPr>
                        <a:t>2026-06</a:t>
                      </a:r>
                      <a:endParaRPr lang="ko-KR" altLang="en-US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790506"/>
                  </a:ext>
                </a:extLst>
              </a:tr>
            </a:tbl>
          </a:graphicData>
        </a:graphic>
      </p:graphicFrame>
      <p:sp>
        <p:nvSpPr>
          <p:cNvPr id="21541" name="Rectangle 298">
            <a:extLst>
              <a:ext uri="{FF2B5EF4-FFF2-40B4-BE49-F238E27FC236}">
                <a16:creationId xmlns:a16="http://schemas.microsoft.com/office/drawing/2014/main" id="{CF9C7949-A0ED-F2FB-D8DD-0573063F6121}"/>
              </a:ext>
            </a:extLst>
          </p:cNvPr>
          <p:cNvSpPr>
            <a:spLocks noChangeArrowheads="1"/>
          </p:cNvSpPr>
          <p:nvPr/>
        </p:nvSpPr>
        <p:spPr>
          <a:xfrm>
            <a:off x="327025" y="755844"/>
            <a:ext cx="3482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>
              <a:buFont typeface="Wingdings" panose="05000000000000000000" pitchFamily="2" charset="2"/>
              <a:buChar char="l"/>
            </a:pPr>
            <a:r>
              <a:rPr kumimoji="1" lang="en-US" altLang="ko-KR" b="1">
                <a:latin typeface="하나 L" panose="02020603020101020101" pitchFamily="18" charset="-127"/>
                <a:ea typeface="하나 L" panose="02020603020101020101" pitchFamily="18" charset="-127"/>
              </a:rPr>
              <a:t> ERP</a:t>
            </a:r>
            <a:r>
              <a:rPr kumimoji="1" lang="ko-KR" altLang="en-US" b="1">
                <a:latin typeface="하나 L" panose="02020603020101020101" pitchFamily="18" charset="-127"/>
                <a:ea typeface="하나 L" panose="02020603020101020101" pitchFamily="18" charset="-127"/>
              </a:rPr>
              <a:t>연계 진행 현황</a:t>
            </a:r>
            <a:endParaRPr kumimoji="1" lang="en-US" altLang="ko-KR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F77FC1B7-55EA-0B0D-55C5-D562491FCFAA}"/>
              </a:ext>
            </a:extLst>
          </p:cNvPr>
          <p:cNvSpPr txBox="1">
            <a:spLocks noChangeArrowheads="1"/>
          </p:cNvSpPr>
          <p:nvPr/>
        </p:nvSpPr>
        <p:spPr>
          <a:xfrm>
            <a:off x="139700" y="90488"/>
            <a:ext cx="2182008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1pPr>
            <a:lvl2pPr marL="742950" indent="-28575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2pPr>
            <a:lvl3pPr marL="11430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3pPr>
            <a:lvl4pPr marL="16002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4pPr>
            <a:lvl5pPr marL="20574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9pPr>
          </a:lstStyle>
          <a:p>
            <a:pPr eaLnBrk="1" latinLnBrk="1" hangingPunct="1">
              <a:defRPr/>
            </a:pPr>
            <a:r>
              <a:rPr lang="en-US" altLang="ko-KR" sz="2400" b="1">
                <a:latin typeface="하나 L"/>
                <a:ea typeface="하나 L"/>
              </a:rPr>
              <a:t>4. ERP</a:t>
            </a:r>
            <a:r>
              <a:rPr lang="ko-KR" altLang="en-US" sz="2400" b="1">
                <a:latin typeface="하나 L"/>
                <a:ea typeface="하나 L"/>
              </a:rPr>
              <a:t>연계 부문</a:t>
            </a:r>
            <a:endParaRPr lang="ko-KR" altLang="en-US" sz="2000" b="1">
              <a:latin typeface="하나 L"/>
              <a:ea typeface="하나 L"/>
            </a:endParaRPr>
          </a:p>
        </p:txBody>
      </p:sp>
    </p:spTree>
    <p:extLst>
      <p:ext uri="{BB962C8B-B14F-4D97-AF65-F5344CB8AC3E}">
        <p14:creationId xmlns:p14="http://schemas.microsoft.com/office/powerpoint/2010/main" val="398340191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02F0A-20C6-F9F2-D14A-8C8D5D4F6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2433D55-E0D1-376D-D3C7-4CA1164EA7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629586"/>
              </p:ext>
            </p:extLst>
          </p:nvPr>
        </p:nvGraphicFramePr>
        <p:xfrm>
          <a:off x="488504" y="1204668"/>
          <a:ext cx="9073011" cy="5104652"/>
        </p:xfrm>
        <a:graphic>
          <a:graphicData uri="http://schemas.openxmlformats.org/drawingml/2006/table">
            <a:tbl>
              <a:tblPr/>
              <a:tblGrid>
                <a:gridCol w="384691">
                  <a:extLst>
                    <a:ext uri="{9D8B030D-6E8A-4147-A177-3AD203B41FA5}">
                      <a16:colId xmlns:a16="http://schemas.microsoft.com/office/drawing/2014/main" val="3251229416"/>
                    </a:ext>
                  </a:extLst>
                </a:gridCol>
                <a:gridCol w="1343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75665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1090699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30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No.</a:t>
                      </a:r>
                      <a:endParaRPr kumimoji="0" lang="en-US" altLang="ko-KR" sz="1200" b="1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고객명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 err="1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신청점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접수일자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연계업무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상태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진행상황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담당자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완료일자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(</a:t>
                      </a: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예정</a:t>
                      </a:r>
                      <a:r>
                        <a:rPr kumimoji="0" lang="en-US" altLang="ko-KR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)</a:t>
                      </a: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latin typeface="하나 L"/>
                          <a:ea typeface="하나 L"/>
                          <a:cs typeface="+mn-cs"/>
                        </a:rPr>
                        <a:t>6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애장경향교회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공항로</a:t>
                      </a: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2026-03-13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헌금내역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진행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ERP /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디모데</a:t>
                      </a:r>
                      <a:b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헌금내역 연계 쿼리 작성 진행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데이터 이관하였으며 검수 진행 중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>
                          <a:latin typeface="하나 L"/>
                          <a:ea typeface="하나 L"/>
                        </a:rPr>
                        <a:t>전준수</a:t>
                      </a: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dirty="0">
                          <a:latin typeface="하나 L"/>
                          <a:ea typeface="하나 L"/>
                        </a:rPr>
                        <a:t>2026-05</a:t>
                      </a:r>
                      <a:endParaRPr lang="ko-KR" altLang="en-US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5238935"/>
                  </a:ext>
                </a:extLst>
              </a:tr>
              <a:tr h="648422">
                <a:tc rowSpan="3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latin typeface="하나 L"/>
                          <a:ea typeface="하나 L"/>
                          <a:cs typeface="+mn-cs"/>
                        </a:rPr>
                        <a:t>7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더네이처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을지로</a:t>
                      </a: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6</a:t>
                      </a:r>
                      <a:r>
                        <a:rPr lang="ko-KR" altLang="en-US" sz="1000" kern="1200" baseline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가지점</a:t>
                      </a: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2026-04-01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진행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ERP /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더존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ERP 10</a:t>
                      </a:r>
                      <a:b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법인카드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대량이체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연계쿼리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진행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데이터 이관하였으며 검수 진행 중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dirty="0">
                          <a:latin typeface="하나 L"/>
                          <a:ea typeface="하나 L"/>
                        </a:rPr>
                        <a:t>이수현</a:t>
                      </a: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latin typeface="하나 L"/>
                          <a:ea typeface="하나 L"/>
                        </a:rPr>
                        <a:t>2026-05</a:t>
                      </a: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451220"/>
                  </a:ext>
                </a:extLst>
              </a:tr>
              <a:tr h="648422"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법인카드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진행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 pitchFamily="34" charset="0"/>
                        <a:buChar char="•"/>
                        <a:defRPr/>
                      </a:pPr>
                      <a:endParaRPr lang="ko-KR" altLang="en-US" sz="1000" kern="1200" baseline="0">
                        <a:solidFill>
                          <a:srgbClr val="0000FF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834758"/>
                  </a:ext>
                </a:extLst>
              </a:tr>
              <a:tr h="648422"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대량이체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진행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 pitchFamily="34" charset="0"/>
                        <a:buChar char="•"/>
                        <a:defRPr/>
                      </a:pPr>
                      <a:endParaRPr lang="ko-KR" altLang="en-US" sz="1000" kern="1200" baseline="0">
                        <a:solidFill>
                          <a:srgbClr val="0000FF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163349"/>
                  </a:ext>
                </a:extLst>
              </a:tr>
              <a:tr h="648422">
                <a:tc rowSpan="3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latin typeface="하나 L"/>
                          <a:ea typeface="하나 L"/>
                          <a:cs typeface="+mn-cs"/>
                        </a:rPr>
                        <a:t>8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포티스</a:t>
                      </a: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을지로</a:t>
                      </a: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6</a:t>
                      </a:r>
                      <a:r>
                        <a:rPr lang="ko-KR" altLang="en-US" sz="1000" kern="1200" baseline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가지점</a:t>
                      </a: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kern="1200" baseline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2026-04-01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진행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ERP /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더존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ERP 10</a:t>
                      </a:r>
                      <a:b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법인카드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대량이체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연계쿼리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진행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데이터 이관하였으며 검수 진행 중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dirty="0">
                          <a:latin typeface="하나 L"/>
                          <a:ea typeface="하나 L"/>
                        </a:rPr>
                        <a:t>이수현</a:t>
                      </a: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latin typeface="하나 L"/>
                          <a:ea typeface="하나 L"/>
                        </a:rPr>
                        <a:t>2026-05</a:t>
                      </a: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275443"/>
                  </a:ext>
                </a:extLst>
              </a:tr>
              <a:tr h="648422"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법인카드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진행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 pitchFamily="34" charset="0"/>
                        <a:buChar char="•"/>
                        <a:defRPr/>
                      </a:pPr>
                      <a:endParaRPr lang="ko-KR" altLang="en-US" sz="1000" kern="1200" baseline="0">
                        <a:solidFill>
                          <a:srgbClr val="0000FF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612072"/>
                  </a:ext>
                </a:extLst>
              </a:tr>
              <a:tr h="648422"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ko-KR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대량이체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진행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 pitchFamily="34" charset="0"/>
                        <a:buChar char="•"/>
                        <a:defRPr/>
                      </a:pPr>
                      <a:endParaRPr lang="ko-KR" altLang="en-US" sz="1000" kern="1200" baseline="0">
                        <a:solidFill>
                          <a:srgbClr val="0000FF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0542952"/>
                  </a:ext>
                </a:extLst>
              </a:tr>
            </a:tbl>
          </a:graphicData>
        </a:graphic>
      </p:graphicFrame>
      <p:sp>
        <p:nvSpPr>
          <p:cNvPr id="21541" name="Rectangle 298">
            <a:extLst>
              <a:ext uri="{FF2B5EF4-FFF2-40B4-BE49-F238E27FC236}">
                <a16:creationId xmlns:a16="http://schemas.microsoft.com/office/drawing/2014/main" id="{186BA373-7438-D858-599F-3A4A8DF0301F}"/>
              </a:ext>
            </a:extLst>
          </p:cNvPr>
          <p:cNvSpPr>
            <a:spLocks noChangeArrowheads="1"/>
          </p:cNvSpPr>
          <p:nvPr/>
        </p:nvSpPr>
        <p:spPr>
          <a:xfrm>
            <a:off x="327025" y="755844"/>
            <a:ext cx="3482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>
              <a:buFont typeface="Wingdings" panose="05000000000000000000" pitchFamily="2" charset="2"/>
              <a:buChar char="l"/>
            </a:pPr>
            <a:r>
              <a:rPr kumimoji="1" lang="en-US" altLang="ko-KR" b="1">
                <a:latin typeface="하나 L" panose="02020603020101020101" pitchFamily="18" charset="-127"/>
                <a:ea typeface="하나 L" panose="02020603020101020101" pitchFamily="18" charset="-127"/>
              </a:rPr>
              <a:t> ERP</a:t>
            </a:r>
            <a:r>
              <a:rPr kumimoji="1" lang="ko-KR" altLang="en-US" b="1">
                <a:latin typeface="하나 L" panose="02020603020101020101" pitchFamily="18" charset="-127"/>
                <a:ea typeface="하나 L" panose="02020603020101020101" pitchFamily="18" charset="-127"/>
              </a:rPr>
              <a:t>연계 진행 현황</a:t>
            </a:r>
            <a:endParaRPr kumimoji="1" lang="en-US" altLang="ko-KR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7F3C0040-E5E8-1F3E-F151-48154DDC14D5}"/>
              </a:ext>
            </a:extLst>
          </p:cNvPr>
          <p:cNvSpPr txBox="1">
            <a:spLocks noChangeArrowheads="1"/>
          </p:cNvSpPr>
          <p:nvPr/>
        </p:nvSpPr>
        <p:spPr>
          <a:xfrm>
            <a:off x="139700" y="90488"/>
            <a:ext cx="2182008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1pPr>
            <a:lvl2pPr marL="742950" indent="-28575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2pPr>
            <a:lvl3pPr marL="11430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3pPr>
            <a:lvl4pPr marL="16002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4pPr>
            <a:lvl5pPr marL="20574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9pPr>
          </a:lstStyle>
          <a:p>
            <a:pPr eaLnBrk="1" latinLnBrk="1" hangingPunct="1">
              <a:defRPr/>
            </a:pPr>
            <a:r>
              <a:rPr lang="en-US" altLang="ko-KR" sz="2400" b="1">
                <a:latin typeface="하나 L"/>
                <a:ea typeface="하나 L"/>
              </a:rPr>
              <a:t>4. ERP</a:t>
            </a:r>
            <a:r>
              <a:rPr lang="ko-KR" altLang="en-US" sz="2400" b="1">
                <a:latin typeface="하나 L"/>
                <a:ea typeface="하나 L"/>
              </a:rPr>
              <a:t>연계 부문</a:t>
            </a:r>
            <a:endParaRPr lang="ko-KR" altLang="en-US" sz="2000" b="1">
              <a:latin typeface="하나 L"/>
              <a:ea typeface="하나 L"/>
            </a:endParaRPr>
          </a:p>
        </p:txBody>
      </p:sp>
    </p:spTree>
    <p:extLst>
      <p:ext uri="{BB962C8B-B14F-4D97-AF65-F5344CB8AC3E}">
        <p14:creationId xmlns:p14="http://schemas.microsoft.com/office/powerpoint/2010/main" val="287148185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5D69C-CFD9-6F3F-34B8-D1EC976A7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CCE8DF4-6F4E-F801-B01A-FF9E425A1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641672"/>
              </p:ext>
            </p:extLst>
          </p:nvPr>
        </p:nvGraphicFramePr>
        <p:xfrm>
          <a:off x="488504" y="1204668"/>
          <a:ext cx="9073011" cy="5104652"/>
        </p:xfrm>
        <a:graphic>
          <a:graphicData uri="http://schemas.openxmlformats.org/drawingml/2006/table">
            <a:tbl>
              <a:tblPr/>
              <a:tblGrid>
                <a:gridCol w="384691">
                  <a:extLst>
                    <a:ext uri="{9D8B030D-6E8A-4147-A177-3AD203B41FA5}">
                      <a16:colId xmlns:a16="http://schemas.microsoft.com/office/drawing/2014/main" val="3251229416"/>
                    </a:ext>
                  </a:extLst>
                </a:gridCol>
                <a:gridCol w="1343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75665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1090699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30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No.</a:t>
                      </a:r>
                      <a:endParaRPr kumimoji="0" lang="en-US" altLang="ko-KR" sz="1200" b="1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고객명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 err="1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신청점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접수일자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연계업무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상태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진행상황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담당자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완료일자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(</a:t>
                      </a: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예정</a:t>
                      </a:r>
                      <a:r>
                        <a:rPr kumimoji="0" lang="en-US" altLang="ko-KR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)</a:t>
                      </a: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251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9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신송식품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(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신송산업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신송홀딩스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 계열사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)</a:t>
                      </a:r>
                      <a:endParaRPr lang="ko-KR" altLang="en-US" sz="1000" b="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여의도금융센터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2025-11-05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ERP /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영림원</a:t>
                      </a:r>
                      <a:b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법인카드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대량이체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연계쿼리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작업 완료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영림원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 시스템도 구축 완료 상태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가상계좌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, B2B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매출내역 데이터 검수 진행 중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B2B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매출내역 데이터 확인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가상계좌 테스트로 입금 후 데이터는 정상 이관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/ 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실거래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 데이터 확인 후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ERP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연계 완료 예정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dirty="0">
                          <a:latin typeface="하나 L"/>
                          <a:ea typeface="하나 L"/>
                        </a:rPr>
                        <a:t>전준수</a:t>
                      </a: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dirty="0">
                          <a:latin typeface="하나 L"/>
                          <a:ea typeface="하나 L"/>
                        </a:rPr>
                        <a:t>2026-05</a:t>
                      </a:r>
                      <a:endParaRPr lang="ko-KR" altLang="en-US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602792"/>
                  </a:ext>
                </a:extLst>
              </a:tr>
              <a:tr h="62125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법인카드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 pitchFamily="34" charset="0"/>
                        <a:buNone/>
                        <a:defRPr/>
                      </a:pPr>
                      <a:endParaRPr lang="ko-KR" altLang="en-US" sz="1000" kern="1200" baseline="0">
                        <a:solidFill>
                          <a:srgbClr val="0000FF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491767"/>
                  </a:ext>
                </a:extLst>
              </a:tr>
              <a:tr h="62125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대량이체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 pitchFamily="34" charset="0"/>
                        <a:buNone/>
                        <a:defRPr/>
                      </a:pPr>
                      <a:endParaRPr lang="ko-KR" altLang="en-US" sz="1000" kern="1200" baseline="0">
                        <a:solidFill>
                          <a:srgbClr val="0000FF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567257"/>
                  </a:ext>
                </a:extLst>
              </a:tr>
              <a:tr h="62125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ko-KR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지금집금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814313"/>
                  </a:ext>
                </a:extLst>
              </a:tr>
              <a:tr h="62125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가상계좌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진행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215209"/>
                  </a:ext>
                </a:extLst>
              </a:tr>
              <a:tr h="62125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B2B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매출내역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534499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latin typeface="하나 L"/>
                          <a:ea typeface="하나 L"/>
                          <a:cs typeface="+mn-cs"/>
                        </a:rPr>
                        <a:t>10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정윤교회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미사역지점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2026-03-31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헌금내역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진행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ERP /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디모데</a:t>
                      </a:r>
                      <a:b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헌금내역 연계 쿼리 작성 진행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데이터 이관하였으며 검수 진행 중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>
                          <a:latin typeface="하나 L"/>
                          <a:ea typeface="하나 L"/>
                        </a:rPr>
                        <a:t>전준수</a:t>
                      </a: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dirty="0">
                          <a:latin typeface="하나 L"/>
                          <a:ea typeface="하나 L"/>
                        </a:rPr>
                        <a:t>2026-05</a:t>
                      </a:r>
                      <a:endParaRPr lang="ko-KR" altLang="en-US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4105198"/>
                  </a:ext>
                </a:extLst>
              </a:tr>
            </a:tbl>
          </a:graphicData>
        </a:graphic>
      </p:graphicFrame>
      <p:sp>
        <p:nvSpPr>
          <p:cNvPr id="21541" name="Rectangle 298">
            <a:extLst>
              <a:ext uri="{FF2B5EF4-FFF2-40B4-BE49-F238E27FC236}">
                <a16:creationId xmlns:a16="http://schemas.microsoft.com/office/drawing/2014/main" id="{1B182923-89ED-270D-3514-7FB27D31580C}"/>
              </a:ext>
            </a:extLst>
          </p:cNvPr>
          <p:cNvSpPr>
            <a:spLocks noChangeArrowheads="1"/>
          </p:cNvSpPr>
          <p:nvPr/>
        </p:nvSpPr>
        <p:spPr>
          <a:xfrm>
            <a:off x="327025" y="755844"/>
            <a:ext cx="3482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>
              <a:buFont typeface="Wingdings" panose="05000000000000000000" pitchFamily="2" charset="2"/>
              <a:buChar char="l"/>
            </a:pPr>
            <a:r>
              <a:rPr kumimoji="1" lang="en-US" altLang="ko-KR" b="1">
                <a:latin typeface="하나 L" panose="02020603020101020101" pitchFamily="18" charset="-127"/>
                <a:ea typeface="하나 L" panose="02020603020101020101" pitchFamily="18" charset="-127"/>
              </a:rPr>
              <a:t> ERP</a:t>
            </a:r>
            <a:r>
              <a:rPr kumimoji="1" lang="ko-KR" altLang="en-US" b="1">
                <a:latin typeface="하나 L" panose="02020603020101020101" pitchFamily="18" charset="-127"/>
                <a:ea typeface="하나 L" panose="02020603020101020101" pitchFamily="18" charset="-127"/>
              </a:rPr>
              <a:t>연계 진행 현황</a:t>
            </a:r>
            <a:endParaRPr kumimoji="1" lang="en-US" altLang="ko-KR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C07FEA4E-048B-B98E-FD58-F76829FF7395}"/>
              </a:ext>
            </a:extLst>
          </p:cNvPr>
          <p:cNvSpPr txBox="1">
            <a:spLocks noChangeArrowheads="1"/>
          </p:cNvSpPr>
          <p:nvPr/>
        </p:nvSpPr>
        <p:spPr>
          <a:xfrm>
            <a:off x="139700" y="90488"/>
            <a:ext cx="2182008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1pPr>
            <a:lvl2pPr marL="742950" indent="-28575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2pPr>
            <a:lvl3pPr marL="11430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3pPr>
            <a:lvl4pPr marL="16002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4pPr>
            <a:lvl5pPr marL="20574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9pPr>
          </a:lstStyle>
          <a:p>
            <a:pPr eaLnBrk="1" latinLnBrk="1" hangingPunct="1">
              <a:defRPr/>
            </a:pPr>
            <a:r>
              <a:rPr lang="en-US" altLang="ko-KR" sz="2400" b="1">
                <a:latin typeface="하나 L"/>
                <a:ea typeface="하나 L"/>
              </a:rPr>
              <a:t>4. ERP</a:t>
            </a:r>
            <a:r>
              <a:rPr lang="ko-KR" altLang="en-US" sz="2400" b="1">
                <a:latin typeface="하나 L"/>
                <a:ea typeface="하나 L"/>
              </a:rPr>
              <a:t>연계 부문</a:t>
            </a:r>
            <a:endParaRPr lang="ko-KR" altLang="en-US" sz="2000" b="1">
              <a:latin typeface="하나 L"/>
              <a:ea typeface="하나 L"/>
            </a:endParaRPr>
          </a:p>
        </p:txBody>
      </p:sp>
    </p:spTree>
    <p:extLst>
      <p:ext uri="{BB962C8B-B14F-4D97-AF65-F5344CB8AC3E}">
        <p14:creationId xmlns:p14="http://schemas.microsoft.com/office/powerpoint/2010/main" val="185989324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83413-762C-DDA3-E2B0-0B39F82F3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569856-625E-0AA3-8A8B-C5CAF832F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396212"/>
              </p:ext>
            </p:extLst>
          </p:nvPr>
        </p:nvGraphicFramePr>
        <p:xfrm>
          <a:off x="488504" y="1204668"/>
          <a:ext cx="9073011" cy="5425850"/>
        </p:xfrm>
        <a:graphic>
          <a:graphicData uri="http://schemas.openxmlformats.org/drawingml/2006/table">
            <a:tbl>
              <a:tblPr/>
              <a:tblGrid>
                <a:gridCol w="384691">
                  <a:extLst>
                    <a:ext uri="{9D8B030D-6E8A-4147-A177-3AD203B41FA5}">
                      <a16:colId xmlns:a16="http://schemas.microsoft.com/office/drawing/2014/main" val="3251229416"/>
                    </a:ext>
                  </a:extLst>
                </a:gridCol>
                <a:gridCol w="1343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75665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1090699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30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No.</a:t>
                      </a:r>
                      <a:endParaRPr kumimoji="0" lang="en-US" altLang="ko-KR" sz="1200" b="1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고객명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 err="1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신청점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접수일자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연계업무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상태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진행상황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담당자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완료일자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(</a:t>
                      </a: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예정</a:t>
                      </a:r>
                      <a:r>
                        <a:rPr kumimoji="0" lang="en-US" altLang="ko-KR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)</a:t>
                      </a: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050">
                <a:tc rowSpan="4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latin typeface="하나 L"/>
                          <a:ea typeface="하나 L"/>
                          <a:cs typeface="+mn-cs"/>
                        </a:rPr>
                        <a:t>11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우레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야탑역금융센터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2026-02-03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ERP /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더존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ERP 10</a:t>
                      </a:r>
                      <a:b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법인카드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대량이체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연계쿼리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진행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테스트 완료 및 완료 업무 운영 오픈 완료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예금주조회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월 말 추가 테스트 예정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dirty="0">
                          <a:latin typeface="하나 L"/>
                          <a:ea typeface="하나 L"/>
                        </a:rPr>
                        <a:t>이수현</a:t>
                      </a: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2026-06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759026"/>
                  </a:ext>
                </a:extLst>
              </a:tr>
              <a:tr h="307050"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법인카드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 pitchFamily="34" charset="0"/>
                        <a:buChar char="•"/>
                        <a:defRPr/>
                      </a:pPr>
                      <a:endParaRPr lang="ko-KR" altLang="en-US" sz="1000" kern="1200" baseline="0">
                        <a:solidFill>
                          <a:srgbClr val="0000FF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619842"/>
                  </a:ext>
                </a:extLst>
              </a:tr>
              <a:tr h="307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대량이체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91900"/>
                  </a:ext>
                </a:extLst>
              </a:tr>
              <a:tr h="307050"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예금주조회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대기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 pitchFamily="34" charset="0"/>
                        <a:buChar char="•"/>
                        <a:defRPr/>
                      </a:pPr>
                      <a:endParaRPr lang="ko-KR" altLang="en-US" sz="1000" kern="1200" baseline="0">
                        <a:solidFill>
                          <a:srgbClr val="0000FF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4579120"/>
                  </a:ext>
                </a:extLst>
              </a:tr>
              <a:tr h="307050">
                <a:tc rowSpan="4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latin typeface="하나 L"/>
                          <a:ea typeface="하나 L"/>
                          <a:cs typeface="+mn-cs"/>
                        </a:rPr>
                        <a:t>12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붐잇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야탑역금융센터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2026-01-20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ERP /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더존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ERP 10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</a:b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거래내역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법인카드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대량이체 연계쿼리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진행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Arial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테스트 완료 및 완료 업무 운영 오픈 완료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Arial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예금주조회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월 말 추가 테스트 예정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dirty="0">
                          <a:latin typeface="하나 L"/>
                          <a:ea typeface="하나 L"/>
                        </a:rPr>
                        <a:t>이수현</a:t>
                      </a: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2026-06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450277"/>
                  </a:ext>
                </a:extLst>
              </a:tr>
              <a:tr h="307050"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법인카드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 pitchFamily="34" charset="0"/>
                        <a:buChar char="•"/>
                        <a:defRPr/>
                      </a:pPr>
                      <a:endParaRPr lang="ko-KR" altLang="en-US" sz="1000" kern="1200" baseline="0">
                        <a:solidFill>
                          <a:srgbClr val="0000FF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873819"/>
                  </a:ext>
                </a:extLst>
              </a:tr>
              <a:tr h="307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대량이체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88172"/>
                  </a:ext>
                </a:extLst>
              </a:tr>
              <a:tr h="307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예금주조회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대기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6604778"/>
                  </a:ext>
                </a:extLst>
              </a:tr>
              <a:tr h="307050">
                <a:tc rowSpan="4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latin typeface="하나 L"/>
                          <a:ea typeface="하나 L"/>
                          <a:cs typeface="+mn-cs"/>
                        </a:rPr>
                        <a:t>13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엔드림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야탑역금융센터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2026-01-20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ERP /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더존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ERP 10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</a:b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거래내역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법인카드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대량이체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연계쿼리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진행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Arial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테스트 완료 및 완료 업무 운영 오픈 완료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Arial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예금주조회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월 말 추가 테스트 예정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dirty="0">
                          <a:latin typeface="하나 L"/>
                          <a:ea typeface="하나 L"/>
                        </a:rPr>
                        <a:t>이수현</a:t>
                      </a: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2026-06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1934833"/>
                  </a:ext>
                </a:extLst>
              </a:tr>
              <a:tr h="307050"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법인카드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 pitchFamily="34" charset="0"/>
                        <a:buChar char="•"/>
                        <a:defRPr/>
                      </a:pPr>
                      <a:endParaRPr lang="ko-KR" altLang="en-US" sz="1000" kern="1200" baseline="0">
                        <a:solidFill>
                          <a:srgbClr val="0000FF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278507"/>
                  </a:ext>
                </a:extLst>
              </a:tr>
              <a:tr h="307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대량이체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50857"/>
                  </a:ext>
                </a:extLst>
              </a:tr>
              <a:tr h="307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예금주조회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대기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768430"/>
                  </a:ext>
                </a:extLst>
              </a:tr>
              <a:tr h="307050">
                <a:tc rowSpan="4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latin typeface="하나 L"/>
                          <a:ea typeface="하나 L"/>
                          <a:cs typeface="+mn-cs"/>
                        </a:rPr>
                        <a:t>14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조이시티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야탑역금융센터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2026-01-05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ERP /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더존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ERP 10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</a:b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거래내역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법인카드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대량이체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연계쿼리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진행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Arial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테스트 완료 및 완료 업무 운영 오픈 완료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Arial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예금주조회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월 말 추가 테스트 예정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dirty="0">
                          <a:latin typeface="하나 L"/>
                          <a:ea typeface="하나 L"/>
                        </a:rPr>
                        <a:t>이수현</a:t>
                      </a: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/>
                          <a:ea typeface="하나 L"/>
                          <a:cs typeface="Arial" pitchFamily="34" charset="0"/>
                        </a:rPr>
                        <a:t>2026-06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하나 L"/>
                        <a:ea typeface="하나 L"/>
                        <a:cs typeface="Arial" pitchFamily="34" charset="0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65786"/>
                  </a:ext>
                </a:extLst>
              </a:tr>
              <a:tr h="307050"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법인카드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 pitchFamily="34" charset="0"/>
                        <a:buChar char="•"/>
                        <a:defRPr/>
                      </a:pPr>
                      <a:endParaRPr lang="ko-KR" altLang="en-US" sz="1000" kern="1200" baseline="0">
                        <a:solidFill>
                          <a:srgbClr val="0000FF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755563"/>
                  </a:ext>
                </a:extLst>
              </a:tr>
              <a:tr h="307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대량이체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128766"/>
                  </a:ext>
                </a:extLst>
              </a:tr>
              <a:tr h="307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예금주조회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대기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5576955"/>
                  </a:ext>
                </a:extLst>
              </a:tr>
            </a:tbl>
          </a:graphicData>
        </a:graphic>
      </p:graphicFrame>
      <p:sp>
        <p:nvSpPr>
          <p:cNvPr id="21541" name="Rectangle 298">
            <a:extLst>
              <a:ext uri="{FF2B5EF4-FFF2-40B4-BE49-F238E27FC236}">
                <a16:creationId xmlns:a16="http://schemas.microsoft.com/office/drawing/2014/main" id="{32646385-5355-5687-B42A-9F018B5F01BA}"/>
              </a:ext>
            </a:extLst>
          </p:cNvPr>
          <p:cNvSpPr>
            <a:spLocks noChangeArrowheads="1"/>
          </p:cNvSpPr>
          <p:nvPr/>
        </p:nvSpPr>
        <p:spPr>
          <a:xfrm>
            <a:off x="327025" y="755844"/>
            <a:ext cx="3482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>
              <a:buFont typeface="Wingdings" panose="05000000000000000000" pitchFamily="2" charset="2"/>
              <a:buChar char="l"/>
            </a:pPr>
            <a:r>
              <a:rPr kumimoji="1" lang="en-US" altLang="ko-KR" b="1">
                <a:latin typeface="하나 L" panose="02020603020101020101" pitchFamily="18" charset="-127"/>
                <a:ea typeface="하나 L" panose="02020603020101020101" pitchFamily="18" charset="-127"/>
              </a:rPr>
              <a:t> ERP</a:t>
            </a:r>
            <a:r>
              <a:rPr kumimoji="1" lang="ko-KR" altLang="en-US" b="1">
                <a:latin typeface="하나 L" panose="02020603020101020101" pitchFamily="18" charset="-127"/>
                <a:ea typeface="하나 L" panose="02020603020101020101" pitchFamily="18" charset="-127"/>
              </a:rPr>
              <a:t>연계 진행 현황</a:t>
            </a:r>
            <a:endParaRPr kumimoji="1" lang="en-US" altLang="ko-KR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2562AB1C-B945-4626-E2F1-F038548D3337}"/>
              </a:ext>
            </a:extLst>
          </p:cNvPr>
          <p:cNvSpPr txBox="1">
            <a:spLocks noChangeArrowheads="1"/>
          </p:cNvSpPr>
          <p:nvPr/>
        </p:nvSpPr>
        <p:spPr>
          <a:xfrm>
            <a:off x="139700" y="90488"/>
            <a:ext cx="2182008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1pPr>
            <a:lvl2pPr marL="742950" indent="-28575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2pPr>
            <a:lvl3pPr marL="11430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3pPr>
            <a:lvl4pPr marL="16002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4pPr>
            <a:lvl5pPr marL="20574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9pPr>
          </a:lstStyle>
          <a:p>
            <a:pPr eaLnBrk="1" latinLnBrk="1" hangingPunct="1">
              <a:defRPr/>
            </a:pPr>
            <a:r>
              <a:rPr lang="en-US" altLang="ko-KR" sz="2400" b="1">
                <a:latin typeface="하나 L"/>
                <a:ea typeface="하나 L"/>
              </a:rPr>
              <a:t>4. ERP</a:t>
            </a:r>
            <a:r>
              <a:rPr lang="ko-KR" altLang="en-US" sz="2400" b="1">
                <a:latin typeface="하나 L"/>
                <a:ea typeface="하나 L"/>
              </a:rPr>
              <a:t>연계 부문</a:t>
            </a:r>
            <a:endParaRPr lang="ko-KR" altLang="en-US" sz="2000" b="1">
              <a:latin typeface="하나 L"/>
              <a:ea typeface="하나 L"/>
            </a:endParaRPr>
          </a:p>
        </p:txBody>
      </p:sp>
    </p:spTree>
    <p:extLst>
      <p:ext uri="{BB962C8B-B14F-4D97-AF65-F5344CB8AC3E}">
        <p14:creationId xmlns:p14="http://schemas.microsoft.com/office/powerpoint/2010/main" val="299422457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333C2-8A32-D61E-EC34-7433A3800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B0803F9-D4E1-115D-ADA6-9E56E74CCC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477870"/>
              </p:ext>
            </p:extLst>
          </p:nvPr>
        </p:nvGraphicFramePr>
        <p:xfrm>
          <a:off x="488504" y="1204668"/>
          <a:ext cx="9073011" cy="4808620"/>
        </p:xfrm>
        <a:graphic>
          <a:graphicData uri="http://schemas.openxmlformats.org/drawingml/2006/table">
            <a:tbl>
              <a:tblPr/>
              <a:tblGrid>
                <a:gridCol w="384691">
                  <a:extLst>
                    <a:ext uri="{9D8B030D-6E8A-4147-A177-3AD203B41FA5}">
                      <a16:colId xmlns:a16="http://schemas.microsoft.com/office/drawing/2014/main" val="3251229416"/>
                    </a:ext>
                  </a:extLst>
                </a:gridCol>
                <a:gridCol w="1343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75665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1090699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30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No.</a:t>
                      </a:r>
                      <a:endParaRPr kumimoji="0" lang="en-US" altLang="ko-KR" sz="1200" b="1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고객명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 err="1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신청점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접수일자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연계업무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상태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진행상황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담당자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완료일자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(</a:t>
                      </a: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예정</a:t>
                      </a:r>
                      <a:r>
                        <a:rPr kumimoji="0" lang="en-US" altLang="ko-KR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)</a:t>
                      </a: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5178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latin typeface="하나 L"/>
                          <a:ea typeface="하나 L"/>
                          <a:cs typeface="+mn-cs"/>
                        </a:rPr>
                        <a:t>15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한결엘에스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을지로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6</a:t>
                      </a: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가지점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2026-05-06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가상계좌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진행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ERP /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자체개발</a:t>
                      </a:r>
                      <a:b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가상계좌 데이터 이관하였으며 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검수 진행 중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dirty="0">
                          <a:latin typeface="하나 L"/>
                          <a:ea typeface="하나 L"/>
                        </a:rPr>
                        <a:t>전준수</a:t>
                      </a: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dirty="0">
                          <a:latin typeface="하나 L"/>
                          <a:ea typeface="하나 L"/>
                        </a:rPr>
                        <a:t>2026-05</a:t>
                      </a:r>
                      <a:endParaRPr lang="ko-KR" altLang="en-US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275443"/>
                  </a:ext>
                </a:extLst>
              </a:tr>
              <a:tr h="440049">
                <a:tc rowSpan="8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latin typeface="하나 L"/>
                          <a:ea typeface="하나 L"/>
                          <a:cs typeface="+mn-cs"/>
                        </a:rPr>
                        <a:t>16</a:t>
                      </a:r>
                      <a:b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latin typeface="하나 L"/>
                          <a:ea typeface="하나 L"/>
                          <a:cs typeface="+mn-cs"/>
                        </a:rPr>
                        <a:t>,17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천경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b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천경해운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영업부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2026-03-26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진행</a:t>
                      </a:r>
                      <a:endParaRPr lang="ko-KR" altLang="en-US" sz="1000" kern="1200" dirty="0">
                        <a:solidFill>
                          <a:srgbClr val="0000FF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8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ERP /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자체개발</a:t>
                      </a:r>
                      <a:b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연계 협의 완료 및 연계 모듈 구성 중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월 중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차 테스트 목표로 연동 중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8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dirty="0">
                          <a:latin typeface="하나 L"/>
                          <a:ea typeface="하나 L"/>
                        </a:rPr>
                        <a:t>임인지</a:t>
                      </a: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8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dirty="0">
                          <a:latin typeface="하나 L"/>
                          <a:ea typeface="하나 L"/>
                        </a:rPr>
                        <a:t>2026-06</a:t>
                      </a:r>
                      <a:endParaRPr lang="ko-KR" altLang="en-US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759026"/>
                  </a:ext>
                </a:extLst>
              </a:tr>
              <a:tr h="4400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환율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진행</a:t>
                      </a:r>
                      <a:endParaRPr lang="ko-KR" altLang="en-US" sz="1000" kern="1200" dirty="0">
                        <a:solidFill>
                          <a:srgbClr val="0000FF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650024"/>
                  </a:ext>
                </a:extLst>
              </a:tr>
              <a:tr h="4400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법인카드</a:t>
                      </a:r>
                      <a:br>
                        <a:rPr lang="en-US" altLang="ko-KR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</a:b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승인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이용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진행</a:t>
                      </a:r>
                      <a:endParaRPr lang="ko-KR" altLang="en-US" sz="1000" kern="1200" dirty="0">
                        <a:solidFill>
                          <a:srgbClr val="0000FF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775115"/>
                  </a:ext>
                </a:extLst>
              </a:tr>
              <a:tr h="4400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급여이체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진행</a:t>
                      </a:r>
                      <a:endParaRPr lang="ko-KR" altLang="en-US" sz="1000" kern="1200" dirty="0">
                        <a:solidFill>
                          <a:srgbClr val="0000FF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565480"/>
                  </a:ext>
                </a:extLst>
              </a:tr>
              <a:tr h="4400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예금주조회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대기</a:t>
                      </a:r>
                      <a:endParaRPr lang="ko-KR" altLang="en-US" sz="1000" kern="1200" dirty="0">
                        <a:solidFill>
                          <a:srgbClr val="0000FF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132859"/>
                  </a:ext>
                </a:extLst>
              </a:tr>
              <a:tr h="4400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전자세금계산서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대기</a:t>
                      </a:r>
                      <a:endParaRPr lang="ko-KR" altLang="en-US" sz="1000" kern="1200" dirty="0">
                        <a:solidFill>
                          <a:srgbClr val="0000FF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398493"/>
                  </a:ext>
                </a:extLst>
              </a:tr>
              <a:tr h="440049"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당행외화송금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대기</a:t>
                      </a:r>
                      <a:endParaRPr lang="ko-KR" altLang="en-US" sz="1000" kern="1200" dirty="0">
                        <a:solidFill>
                          <a:srgbClr val="0000FF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 pitchFamily="34" charset="0"/>
                        <a:buChar char="•"/>
                        <a:defRPr/>
                      </a:pPr>
                      <a:endParaRPr lang="ko-KR" altLang="en-US" sz="1000" kern="1200" baseline="0">
                        <a:solidFill>
                          <a:srgbClr val="0000FF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619842"/>
                  </a:ext>
                </a:extLst>
              </a:tr>
              <a:tr h="440049"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외화대량송금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대기</a:t>
                      </a:r>
                      <a:endParaRPr lang="ko-KR" altLang="en-US" sz="1000" kern="1200" dirty="0">
                        <a:solidFill>
                          <a:srgbClr val="0000FF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 pitchFamily="34" charset="0"/>
                        <a:buChar char="•"/>
                        <a:defRPr/>
                      </a:pPr>
                      <a:endParaRPr lang="ko-KR" altLang="en-US" sz="1000" kern="1200" baseline="0">
                        <a:solidFill>
                          <a:srgbClr val="0000FF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4579120"/>
                  </a:ext>
                </a:extLst>
              </a:tr>
            </a:tbl>
          </a:graphicData>
        </a:graphic>
      </p:graphicFrame>
      <p:sp>
        <p:nvSpPr>
          <p:cNvPr id="21541" name="Rectangle 298">
            <a:extLst>
              <a:ext uri="{FF2B5EF4-FFF2-40B4-BE49-F238E27FC236}">
                <a16:creationId xmlns:a16="http://schemas.microsoft.com/office/drawing/2014/main" id="{C110AF62-F8B3-4B2F-BA07-081B5E860878}"/>
              </a:ext>
            </a:extLst>
          </p:cNvPr>
          <p:cNvSpPr>
            <a:spLocks noChangeArrowheads="1"/>
          </p:cNvSpPr>
          <p:nvPr/>
        </p:nvSpPr>
        <p:spPr>
          <a:xfrm>
            <a:off x="327025" y="755844"/>
            <a:ext cx="3482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>
              <a:buFont typeface="Wingdings" panose="05000000000000000000" pitchFamily="2" charset="2"/>
              <a:buChar char="l"/>
            </a:pPr>
            <a:r>
              <a:rPr kumimoji="1" lang="en-US" altLang="ko-KR" b="1">
                <a:latin typeface="하나 L" panose="02020603020101020101" pitchFamily="18" charset="-127"/>
                <a:ea typeface="하나 L" panose="02020603020101020101" pitchFamily="18" charset="-127"/>
              </a:rPr>
              <a:t> ERP</a:t>
            </a:r>
            <a:r>
              <a:rPr kumimoji="1" lang="ko-KR" altLang="en-US" b="1">
                <a:latin typeface="하나 L" panose="02020603020101020101" pitchFamily="18" charset="-127"/>
                <a:ea typeface="하나 L" panose="02020603020101020101" pitchFamily="18" charset="-127"/>
              </a:rPr>
              <a:t>연계 진행 현황</a:t>
            </a:r>
            <a:endParaRPr kumimoji="1" lang="en-US" altLang="ko-KR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8F1D5F3A-FF9E-D229-21AA-70A91C042269}"/>
              </a:ext>
            </a:extLst>
          </p:cNvPr>
          <p:cNvSpPr txBox="1">
            <a:spLocks noChangeArrowheads="1"/>
          </p:cNvSpPr>
          <p:nvPr/>
        </p:nvSpPr>
        <p:spPr>
          <a:xfrm>
            <a:off x="139700" y="90488"/>
            <a:ext cx="2182008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1pPr>
            <a:lvl2pPr marL="742950" indent="-28575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2pPr>
            <a:lvl3pPr marL="11430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3pPr>
            <a:lvl4pPr marL="16002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4pPr>
            <a:lvl5pPr marL="20574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9pPr>
          </a:lstStyle>
          <a:p>
            <a:pPr eaLnBrk="1" latinLnBrk="1" hangingPunct="1">
              <a:defRPr/>
            </a:pPr>
            <a:r>
              <a:rPr lang="en-US" altLang="ko-KR" sz="2400" b="1">
                <a:latin typeface="하나 L"/>
                <a:ea typeface="하나 L"/>
              </a:rPr>
              <a:t>4. ERP</a:t>
            </a:r>
            <a:r>
              <a:rPr lang="ko-KR" altLang="en-US" sz="2400" b="1">
                <a:latin typeface="하나 L"/>
                <a:ea typeface="하나 L"/>
              </a:rPr>
              <a:t>연계 부문</a:t>
            </a:r>
            <a:endParaRPr lang="ko-KR" altLang="en-US" sz="2000" b="1">
              <a:latin typeface="하나 L"/>
              <a:ea typeface="하나 L"/>
            </a:endParaRPr>
          </a:p>
        </p:txBody>
      </p:sp>
    </p:spTree>
    <p:extLst>
      <p:ext uri="{BB962C8B-B14F-4D97-AF65-F5344CB8AC3E}">
        <p14:creationId xmlns:p14="http://schemas.microsoft.com/office/powerpoint/2010/main" val="75449987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97A69-1305-3EA8-F440-1C0C35543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CD92D87-D1F3-014A-A7D0-5964ED2F2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835062"/>
              </p:ext>
            </p:extLst>
          </p:nvPr>
        </p:nvGraphicFramePr>
        <p:xfrm>
          <a:off x="488504" y="1204668"/>
          <a:ext cx="9073011" cy="5032642"/>
        </p:xfrm>
        <a:graphic>
          <a:graphicData uri="http://schemas.openxmlformats.org/drawingml/2006/table">
            <a:tbl>
              <a:tblPr/>
              <a:tblGrid>
                <a:gridCol w="384691">
                  <a:extLst>
                    <a:ext uri="{9D8B030D-6E8A-4147-A177-3AD203B41FA5}">
                      <a16:colId xmlns:a16="http://schemas.microsoft.com/office/drawing/2014/main" val="3251229416"/>
                    </a:ext>
                  </a:extLst>
                </a:gridCol>
                <a:gridCol w="1343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75665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1090699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30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No.</a:t>
                      </a:r>
                      <a:endParaRPr kumimoji="0" lang="en-US" altLang="ko-KR" sz="1200" b="1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고객명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 err="1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신청점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접수일자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연계업무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상태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진행상황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담당자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완료일자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(</a:t>
                      </a: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예정</a:t>
                      </a:r>
                      <a:r>
                        <a:rPr kumimoji="0" lang="en-US" altLang="ko-KR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)</a:t>
                      </a: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949">
                <a:tc rowSpan="2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단국대학교 천안캠퍼스 산학협력단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천안지점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2026-03-23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ERP /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자체개발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대량이체 연계 쿼리 진행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ERP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시스템에 이관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대량이체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ERP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가져오기 및 실제 이체 정상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연계 작업 및 데이터 검수 완료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dirty="0" err="1">
                          <a:latin typeface="하나 L"/>
                          <a:ea typeface="하나 L"/>
                        </a:rPr>
                        <a:t>탁영민</a:t>
                      </a:r>
                      <a:endParaRPr lang="ko-KR" altLang="en-US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dirty="0">
                          <a:latin typeface="하나 L"/>
                          <a:ea typeface="하나 L"/>
                        </a:rPr>
                        <a:t>2026-05</a:t>
                      </a:r>
                      <a:endParaRPr lang="ko-KR" altLang="en-US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56152"/>
                  </a:ext>
                </a:extLst>
              </a:tr>
              <a:tr h="564949"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대량이체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627048"/>
                  </a:ext>
                </a:extLst>
              </a:tr>
              <a:tr h="564949">
                <a:tc rowSpan="3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니어스랩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역삼중앙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2026-03-12</a:t>
                      </a: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 pitchFamily="34" charset="0"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ERP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/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아마란스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 pitchFamily="34" charset="0"/>
                        <a:buNone/>
                        <a:defRPr/>
                      </a:pP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 pitchFamily="34" charset="0"/>
                        <a:buChar char="•"/>
                        <a:defRPr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거래내역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,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 법인카드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,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대량이체 모듈 매핑 진행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 pitchFamily="34" charset="0"/>
                        <a:buChar char="•"/>
                        <a:defRPr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거래내역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,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법인카드 데이터 이관 진행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연계 작업 및 데이터 검수 완료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>
                          <a:latin typeface="하나 L"/>
                          <a:ea typeface="하나 L"/>
                        </a:rPr>
                        <a:t>이수현</a:t>
                      </a: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latin typeface="하나 L"/>
                          <a:ea typeface="하나 L"/>
                        </a:rPr>
                        <a:t>2026-05</a:t>
                      </a: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68454"/>
                  </a:ext>
                </a:extLst>
              </a:tr>
              <a:tr h="564949"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법인카드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603216"/>
                  </a:ext>
                </a:extLst>
              </a:tr>
              <a:tr h="564949"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대량이체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065944"/>
                  </a:ext>
                </a:extLst>
              </a:tr>
              <a:tr h="564949">
                <a:tc rowSpan="3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지티엑스에이운영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 주식회사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기관사업부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2026-03-06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ERP /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자체개발</a:t>
                      </a:r>
                      <a:b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예금주조회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대량이체 연계작업 진행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 데이터 이관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대량이체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예금주조회 테스트 완료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고객사 최종 검수 후 완료 예정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데이터 검수 완료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dirty="0">
                          <a:latin typeface="하나 L"/>
                          <a:ea typeface="하나 L"/>
                        </a:rPr>
                        <a:t>전준수</a:t>
                      </a: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dirty="0">
                          <a:latin typeface="하나 L"/>
                          <a:ea typeface="하나 L"/>
                        </a:rPr>
                        <a:t>2026-05</a:t>
                      </a:r>
                      <a:endParaRPr lang="ko-KR" altLang="en-US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393809"/>
                  </a:ext>
                </a:extLst>
              </a:tr>
              <a:tr h="564949"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ko-KR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예금주조회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 pitchFamily="34" charset="0"/>
                        <a:buChar char="•"/>
                        <a:defRPr/>
                      </a:pPr>
                      <a:endParaRPr lang="ko-KR" altLang="en-US" sz="1000" kern="1200" baseline="0">
                        <a:solidFill>
                          <a:srgbClr val="0000FF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7192"/>
                  </a:ext>
                </a:extLst>
              </a:tr>
              <a:tr h="564949"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ko-KR" sz="1000" kern="1200" baseline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대량이체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완료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 pitchFamily="34" charset="0"/>
                        <a:buChar char="•"/>
                        <a:defRPr/>
                      </a:pPr>
                      <a:endParaRPr lang="ko-KR" altLang="en-US" sz="1000" kern="1200" baseline="0">
                        <a:solidFill>
                          <a:srgbClr val="0000FF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654484"/>
                  </a:ext>
                </a:extLst>
              </a:tr>
            </a:tbl>
          </a:graphicData>
        </a:graphic>
      </p:graphicFrame>
      <p:sp>
        <p:nvSpPr>
          <p:cNvPr id="21541" name="Rectangle 298">
            <a:extLst>
              <a:ext uri="{FF2B5EF4-FFF2-40B4-BE49-F238E27FC236}">
                <a16:creationId xmlns:a16="http://schemas.microsoft.com/office/drawing/2014/main" id="{E556DD54-2CBE-36A4-35B0-E558A8F197B7}"/>
              </a:ext>
            </a:extLst>
          </p:cNvPr>
          <p:cNvSpPr>
            <a:spLocks noChangeArrowheads="1"/>
          </p:cNvSpPr>
          <p:nvPr/>
        </p:nvSpPr>
        <p:spPr>
          <a:xfrm>
            <a:off x="327025" y="755844"/>
            <a:ext cx="3482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>
              <a:buFont typeface="Wingdings" panose="05000000000000000000" pitchFamily="2" charset="2"/>
              <a:buChar char="l"/>
            </a:pPr>
            <a:r>
              <a:rPr kumimoji="1" lang="en-US" altLang="ko-KR" b="1">
                <a:latin typeface="하나 L" panose="02020603020101020101" pitchFamily="18" charset="-127"/>
                <a:ea typeface="하나 L" panose="02020603020101020101" pitchFamily="18" charset="-127"/>
              </a:rPr>
              <a:t> ERP</a:t>
            </a:r>
            <a:r>
              <a:rPr kumimoji="1" lang="ko-KR" altLang="en-US" b="1">
                <a:latin typeface="하나 L" panose="02020603020101020101" pitchFamily="18" charset="-127"/>
                <a:ea typeface="하나 L" panose="02020603020101020101" pitchFamily="18" charset="-127"/>
              </a:rPr>
              <a:t>연계 진행 현황</a:t>
            </a:r>
            <a:endParaRPr kumimoji="1" lang="en-US" altLang="ko-KR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13A43407-34FA-16E6-DFFD-982F35D29ED8}"/>
              </a:ext>
            </a:extLst>
          </p:cNvPr>
          <p:cNvSpPr txBox="1">
            <a:spLocks noChangeArrowheads="1"/>
          </p:cNvSpPr>
          <p:nvPr/>
        </p:nvSpPr>
        <p:spPr>
          <a:xfrm>
            <a:off x="139700" y="90488"/>
            <a:ext cx="2182008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1pPr>
            <a:lvl2pPr marL="742950" indent="-28575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2pPr>
            <a:lvl3pPr marL="11430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3pPr>
            <a:lvl4pPr marL="16002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4pPr>
            <a:lvl5pPr marL="20574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9pPr>
          </a:lstStyle>
          <a:p>
            <a:pPr eaLnBrk="1" latinLnBrk="1" hangingPunct="1">
              <a:defRPr/>
            </a:pPr>
            <a:r>
              <a:rPr lang="en-US" altLang="ko-KR" sz="2400" b="1">
                <a:latin typeface="하나 L"/>
                <a:ea typeface="하나 L"/>
              </a:rPr>
              <a:t>4. ERP</a:t>
            </a:r>
            <a:r>
              <a:rPr lang="ko-KR" altLang="en-US" sz="2400" b="1">
                <a:latin typeface="하나 L"/>
                <a:ea typeface="하나 L"/>
              </a:rPr>
              <a:t>연계 부문</a:t>
            </a:r>
            <a:endParaRPr lang="ko-KR" altLang="en-US" sz="2000" b="1">
              <a:latin typeface="하나 L"/>
              <a:ea typeface="하나 L"/>
            </a:endParaRPr>
          </a:p>
        </p:txBody>
      </p:sp>
    </p:spTree>
    <p:extLst>
      <p:ext uri="{BB962C8B-B14F-4D97-AF65-F5344CB8AC3E}">
        <p14:creationId xmlns:p14="http://schemas.microsoft.com/office/powerpoint/2010/main" val="575418078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C3AA8-4A97-DD8E-ECB5-C684D2F31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2139BA6-6F9C-A8B7-18E9-5C8A338223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478240"/>
              </p:ext>
            </p:extLst>
          </p:nvPr>
        </p:nvGraphicFramePr>
        <p:xfrm>
          <a:off x="488504" y="1204668"/>
          <a:ext cx="9073011" cy="3365185"/>
        </p:xfrm>
        <a:graphic>
          <a:graphicData uri="http://schemas.openxmlformats.org/drawingml/2006/table">
            <a:tbl>
              <a:tblPr/>
              <a:tblGrid>
                <a:gridCol w="384691">
                  <a:extLst>
                    <a:ext uri="{9D8B030D-6E8A-4147-A177-3AD203B41FA5}">
                      <a16:colId xmlns:a16="http://schemas.microsoft.com/office/drawing/2014/main" val="3251229416"/>
                    </a:ext>
                  </a:extLst>
                </a:gridCol>
                <a:gridCol w="1343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75665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1090699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30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No.</a:t>
                      </a:r>
                      <a:endParaRPr kumimoji="0" lang="en-US" altLang="ko-KR" sz="1200" b="1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고객명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 err="1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신청점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접수일자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연계업무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상태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진행상황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담당자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완료일자</a:t>
                      </a:r>
                      <a:endParaRPr kumimoji="0" lang="en-US" altLang="ko-KR" sz="12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(</a:t>
                      </a:r>
                      <a:r>
                        <a:rPr kumimoji="0" lang="ko-KR" altLang="en-US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예정</a:t>
                      </a:r>
                      <a:r>
                        <a:rPr kumimoji="0" lang="en-US" altLang="ko-KR" sz="12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)</a:t>
                      </a:r>
                    </a:p>
                  </a:txBody>
                  <a:tcPr marL="45721" marR="45721" marT="45547" marB="45547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427">
                <a:tc rowSpan="5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latin typeface="하나 L"/>
                          <a:ea typeface="하나 L"/>
                          <a:cs typeface="+mn-cs"/>
                        </a:rPr>
                        <a:t>-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국립문화공간재단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안국동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2026-03-10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완료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ERP /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  <a:t>자체개발</a:t>
                      </a:r>
                      <a:b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  <a:cs typeface="+mn-cs"/>
                        </a:rPr>
                      </a:b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법인카드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대량이체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전자세금계산서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외화송금 연계작업 진행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거래내역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법인카드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세금계산서 데이터 이관 완료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대량이체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외화송금 테스트 완료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dirty="0">
                          <a:latin typeface="하나 L"/>
                          <a:ea typeface="하나 L"/>
                        </a:rPr>
                        <a:t>임인지</a:t>
                      </a: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dirty="0">
                          <a:latin typeface="하나 L"/>
                          <a:ea typeface="하나 L"/>
                        </a:rPr>
                        <a:t>2026-05</a:t>
                      </a:r>
                      <a:endParaRPr lang="ko-KR" altLang="en-US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149235"/>
                  </a:ext>
                </a:extLst>
              </a:tr>
              <a:tr h="570427"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법인카드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이용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완료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018230"/>
                  </a:ext>
                </a:extLst>
              </a:tr>
              <a:tr h="570427"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전자세금계산서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완료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745585"/>
                  </a:ext>
                </a:extLst>
              </a:tr>
              <a:tr h="570427"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대량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급여이체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완료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564087"/>
                  </a:ext>
                </a:extLst>
              </a:tr>
              <a:tr h="57042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1443" marR="91443" marT="44347" marB="44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외화대량송금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Arial" pitchFamily="34" charset="0"/>
                        </a:rPr>
                        <a:t>완료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91447" marR="91447" marT="45706" marB="457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1447" marR="91447" marT="45735" marB="4573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447117"/>
                  </a:ext>
                </a:extLst>
              </a:tr>
            </a:tbl>
          </a:graphicData>
        </a:graphic>
      </p:graphicFrame>
      <p:sp>
        <p:nvSpPr>
          <p:cNvPr id="21541" name="Rectangle 298">
            <a:extLst>
              <a:ext uri="{FF2B5EF4-FFF2-40B4-BE49-F238E27FC236}">
                <a16:creationId xmlns:a16="http://schemas.microsoft.com/office/drawing/2014/main" id="{CA26C040-42CE-9D14-0E7C-B493B64A2146}"/>
              </a:ext>
            </a:extLst>
          </p:cNvPr>
          <p:cNvSpPr>
            <a:spLocks noChangeArrowheads="1"/>
          </p:cNvSpPr>
          <p:nvPr/>
        </p:nvSpPr>
        <p:spPr>
          <a:xfrm>
            <a:off x="327025" y="755844"/>
            <a:ext cx="3482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>
              <a:buFont typeface="Wingdings" panose="05000000000000000000" pitchFamily="2" charset="2"/>
              <a:buChar char="l"/>
            </a:pPr>
            <a:r>
              <a:rPr kumimoji="1" lang="en-US" altLang="ko-KR" b="1">
                <a:latin typeface="하나 L" panose="02020603020101020101" pitchFamily="18" charset="-127"/>
                <a:ea typeface="하나 L" panose="02020603020101020101" pitchFamily="18" charset="-127"/>
              </a:rPr>
              <a:t> ERP</a:t>
            </a:r>
            <a:r>
              <a:rPr kumimoji="1" lang="ko-KR" altLang="en-US" b="1">
                <a:latin typeface="하나 L" panose="02020603020101020101" pitchFamily="18" charset="-127"/>
                <a:ea typeface="하나 L" panose="02020603020101020101" pitchFamily="18" charset="-127"/>
              </a:rPr>
              <a:t>연계 진행 현황</a:t>
            </a:r>
            <a:endParaRPr kumimoji="1" lang="en-US" altLang="ko-KR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42360A25-2369-C6CA-FE61-5DD163F24422}"/>
              </a:ext>
            </a:extLst>
          </p:cNvPr>
          <p:cNvSpPr txBox="1">
            <a:spLocks noChangeArrowheads="1"/>
          </p:cNvSpPr>
          <p:nvPr/>
        </p:nvSpPr>
        <p:spPr>
          <a:xfrm>
            <a:off x="139700" y="90488"/>
            <a:ext cx="2182008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1pPr>
            <a:lvl2pPr marL="742950" indent="-28575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2pPr>
            <a:lvl3pPr marL="11430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3pPr>
            <a:lvl4pPr marL="16002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4pPr>
            <a:lvl5pPr marL="20574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/>
                <a:ea typeface="굴림체"/>
                <a:cs typeface="+mn-cs"/>
              </a:defRPr>
            </a:lvl9pPr>
          </a:lstStyle>
          <a:p>
            <a:pPr eaLnBrk="1" latinLnBrk="1" hangingPunct="1">
              <a:defRPr/>
            </a:pPr>
            <a:r>
              <a:rPr lang="en-US" altLang="ko-KR" sz="2400" b="1">
                <a:latin typeface="하나 L"/>
                <a:ea typeface="하나 L"/>
              </a:rPr>
              <a:t>4. ERP</a:t>
            </a:r>
            <a:r>
              <a:rPr lang="ko-KR" altLang="en-US" sz="2400" b="1">
                <a:latin typeface="하나 L"/>
                <a:ea typeface="하나 L"/>
              </a:rPr>
              <a:t>연계 부문</a:t>
            </a:r>
            <a:endParaRPr lang="ko-KR" altLang="en-US" sz="2000" b="1">
              <a:latin typeface="하나 L"/>
              <a:ea typeface="하나 L"/>
            </a:endParaRPr>
          </a:p>
        </p:txBody>
      </p:sp>
    </p:spTree>
    <p:extLst>
      <p:ext uri="{BB962C8B-B14F-4D97-AF65-F5344CB8AC3E}">
        <p14:creationId xmlns:p14="http://schemas.microsoft.com/office/powerpoint/2010/main" val="1727984864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BD423-72F7-50F5-D288-04E884E6A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98">
            <a:extLst>
              <a:ext uri="{FF2B5EF4-FFF2-40B4-BE49-F238E27FC236}">
                <a16:creationId xmlns:a16="http://schemas.microsoft.com/office/drawing/2014/main" id="{FD7B190E-8BDF-1201-D8E4-12DD884BD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" y="755844"/>
            <a:ext cx="36893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>
              <a:buFont typeface="Wingdings" panose="05000000000000000000" pitchFamily="2" charset="2"/>
              <a:buChar char="l"/>
            </a:pPr>
            <a:r>
              <a:rPr kumimoji="1" lang="en-US" altLang="ko-KR" b="1">
                <a:latin typeface="하나 L" panose="02020603020101020101" pitchFamily="18" charset="-127"/>
                <a:ea typeface="하나 L" panose="02020603020101020101" pitchFamily="18" charset="-127"/>
              </a:rPr>
              <a:t> </a:t>
            </a:r>
            <a:r>
              <a:rPr kumimoji="1" lang="ko-KR" altLang="en-US" b="1" err="1">
                <a:latin typeface="하나 L" panose="02020603020101020101" pitchFamily="18" charset="-127"/>
                <a:ea typeface="하나 L" panose="02020603020101020101" pitchFamily="18" charset="-127"/>
              </a:rPr>
              <a:t>운영고객 현황</a:t>
            </a:r>
            <a:r>
              <a:rPr kumimoji="1" lang="en-US" altLang="ko-KR" b="1">
                <a:latin typeface="하나 L" panose="02020603020101020101" pitchFamily="18" charset="-127"/>
                <a:ea typeface="하나 L" panose="02020603020101020101" pitchFamily="18" charset="-127"/>
              </a:rPr>
              <a:t>(</a:t>
            </a:r>
            <a:r>
              <a:rPr kumimoji="1" lang="ko-KR" altLang="en-US" b="1" err="1">
                <a:latin typeface="하나 L" panose="02020603020101020101" pitchFamily="18" charset="-127"/>
                <a:ea typeface="하나 L" panose="02020603020101020101" pitchFamily="18" charset="-127"/>
              </a:rPr>
              <a:t>기사용 고객사항</a:t>
            </a:r>
            <a:r>
              <a:rPr kumimoji="1" lang="en-US" altLang="ko-KR" b="1">
                <a:latin typeface="하나 L" panose="02020603020101020101" pitchFamily="18" charset="-127"/>
                <a:ea typeface="하나 L" panose="02020603020101020101" pitchFamily="18" charset="-127"/>
              </a:rPr>
              <a:t>)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2AB237AD-56F0-450F-B5D1-2654050E6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90488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9pPr>
          </a:lstStyle>
          <a:p>
            <a:pPr eaLnBrk="1" latinLnBrk="1" hangingPunct="1"/>
            <a:r>
              <a:rPr lang="en-US" altLang="ko-KR" sz="2400" b="1">
                <a:latin typeface="하나 L" panose="02020603020101020101" pitchFamily="18" charset="-127"/>
                <a:ea typeface="하나 L" panose="02020603020101020101" pitchFamily="18" charset="-127"/>
              </a:rPr>
              <a:t>5. </a:t>
            </a:r>
            <a:r>
              <a:rPr lang="ko-KR" altLang="en-US" sz="2400" b="1">
                <a:latin typeface="하나 L" panose="02020603020101020101" pitchFamily="18" charset="-127"/>
                <a:ea typeface="하나 L" panose="02020603020101020101" pitchFamily="18" charset="-127"/>
              </a:rPr>
              <a:t>운영 부문</a:t>
            </a:r>
            <a:endParaRPr lang="ko-KR" altLang="en-US" sz="2000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38BF52D-9CC7-689B-A904-20D1B82CC1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798167"/>
              </p:ext>
            </p:extLst>
          </p:nvPr>
        </p:nvGraphicFramePr>
        <p:xfrm>
          <a:off x="488505" y="1191286"/>
          <a:ext cx="9073015" cy="5046026"/>
        </p:xfrm>
        <a:graphic>
          <a:graphicData uri="http://schemas.openxmlformats.org/drawingml/2006/table">
            <a:tbl>
              <a:tblPr/>
              <a:tblGrid>
                <a:gridCol w="366525">
                  <a:extLst>
                    <a:ext uri="{9D8B030D-6E8A-4147-A177-3AD203B41FA5}">
                      <a16:colId xmlns:a16="http://schemas.microsoft.com/office/drawing/2014/main" val="3346327747"/>
                    </a:ext>
                  </a:extLst>
                </a:gridCol>
                <a:gridCol w="585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965">
                  <a:extLst>
                    <a:ext uri="{9D8B030D-6E8A-4147-A177-3AD203B41FA5}">
                      <a16:colId xmlns:a16="http://schemas.microsoft.com/office/drawing/2014/main" val="3898337032"/>
                    </a:ext>
                  </a:extLst>
                </a:gridCol>
                <a:gridCol w="746307">
                  <a:extLst>
                    <a:ext uri="{9D8B030D-6E8A-4147-A177-3AD203B41FA5}">
                      <a16:colId xmlns:a16="http://schemas.microsoft.com/office/drawing/2014/main" val="1126325254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44832427"/>
                    </a:ext>
                  </a:extLst>
                </a:gridCol>
                <a:gridCol w="432056">
                  <a:extLst>
                    <a:ext uri="{9D8B030D-6E8A-4147-A177-3AD203B41FA5}">
                      <a16:colId xmlns:a16="http://schemas.microsoft.com/office/drawing/2014/main" val="3097625986"/>
                    </a:ext>
                  </a:extLst>
                </a:gridCol>
              </a:tblGrid>
              <a:tr h="4228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No.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구분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고객명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신청점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접수일자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이슈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담당자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피드백</a:t>
                      </a:r>
                      <a:br>
                        <a:rPr kumimoji="0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</a:br>
                      <a:r>
                        <a:rPr kumimoji="0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예정</a:t>
                      </a:r>
                      <a:r>
                        <a:rPr kumimoji="0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) </a:t>
                      </a: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일자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상태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1274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1</a:t>
                      </a:r>
                      <a:endParaRPr kumimoji="0" lang="ko-KR" altLang="en-US" sz="1000" b="0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56" marR="91456" marT="18002" marB="180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연계형</a:t>
                      </a:r>
                    </a:p>
                  </a:txBody>
                  <a:tcPr marL="91456" marR="91456" marT="18002" marB="180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성주재단</a:t>
                      </a:r>
                    </a:p>
                  </a:txBody>
                  <a:tcPr marL="9527" marR="9527" marT="956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defRPr/>
                      </a:pPr>
                      <a:r>
                        <a:rPr lang="ko-KR" altLang="en-US" sz="1000" baseline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언주역</a:t>
                      </a:r>
                      <a:endParaRPr lang="en-US" altLang="ko-KR" sz="1000" baseline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45720" marR="45720" marT="45735" marB="4573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defRPr/>
                      </a:pPr>
                      <a:r>
                        <a:rPr lang="en-US" altLang="ko-KR" sz="1000" baseline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2026-03-13</a:t>
                      </a:r>
                    </a:p>
                  </a:txBody>
                  <a:tcPr marL="45720" marR="45720" marT="45735" marB="4573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03/13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전 일자 잔액이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SAP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시스템에 반영되지 않아 점검 진행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</a:b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통합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CMS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로그 확인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    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1) 07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시 네트워크 끊김 현상이 있어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SAP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전산팀에 네트워크 끊김 문의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03/16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주말 스케줄 정상 구동된 부분 확인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매월 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첫째주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금요일 성주 서버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PC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점검 안내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송미숙부장 협의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위 문제가 해결될 때까지 모니터링 예정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03/24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성주재단 운영방문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- 3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월 시재마감 정상 확인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일자별 마감처리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ERP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내보내기 상세 안내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사용자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PC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가 무선인터넷으로 유선환경 대비 느린 점 안내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유선 환경 구축이 가능한지 내부적으로 확인 예정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- 4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월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20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일 전후 운영방문 예정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4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월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24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일 금요일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14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시 운영방문은 성주에서 외부일정이 갑자기 생겨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취소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(5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월 일정 확인 후 방문 예정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04/17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문의사항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대량이체 등록화면에서 키보드를 이용해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DELETE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버튼을 누르면 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그리드에서 삭제되는 문의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defRPr/>
                      </a:pP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    → 개발팀에서 수정은 했고 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테스트중으로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04/17 (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금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통화 시 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       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개선예정 안내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2. 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해외대량송금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가져오기 조건 구분에 파일명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PARAMETTER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추가 문의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defRPr/>
                      </a:pP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    → 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해외대량송금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파일명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PARAMETTER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은 신규개발이 필요하여 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       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개발일정 확인 후 회신 드리기로 안내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※ 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해외대량송금은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금요일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ERP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개발환경에서 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내려받기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후 파일명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PARAMETTER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신규개발이 필요하다는 내용으로 전달</a:t>
                      </a:r>
                    </a:p>
                  </a:txBody>
                  <a:tcPr marL="45720" marR="45720" marT="45735" marB="4573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>
                          <a:latin typeface="하나 L"/>
                          <a:ea typeface="하나 L"/>
                        </a:rPr>
                        <a:t>이성환</a:t>
                      </a:r>
                      <a:endParaRPr lang="en-US" altLang="ko-KR" sz="1000">
                        <a:latin typeface="하나 L"/>
                        <a:ea typeface="하나 L"/>
                      </a:endParaRPr>
                    </a:p>
                  </a:txBody>
                  <a:tcPr marL="91447" marR="91447" marT="45766" marB="4576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하나 L"/>
                          <a:ea typeface="하나 L"/>
                        </a:rPr>
                        <a:t>-</a:t>
                      </a:r>
                    </a:p>
                  </a:txBody>
                  <a:tcPr marL="91447" marR="91447" marT="45766" marB="4576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</a:rPr>
                        <a:t>진행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하나 L"/>
                        <a:ea typeface="하나 L"/>
                      </a:endParaRPr>
                    </a:p>
                  </a:txBody>
                  <a:tcPr marL="91447" marR="91447" marT="45766" marB="4576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726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2466561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9B055-AF94-9FBB-9AFF-19DACF74A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98">
            <a:extLst>
              <a:ext uri="{FF2B5EF4-FFF2-40B4-BE49-F238E27FC236}">
                <a16:creationId xmlns:a16="http://schemas.microsoft.com/office/drawing/2014/main" id="{BB1FD13F-A0AE-B4B4-4EAC-52C75FA95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" y="755844"/>
            <a:ext cx="36893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>
              <a:buFont typeface="Wingdings" panose="05000000000000000000" pitchFamily="2" charset="2"/>
              <a:buChar char="l"/>
            </a:pPr>
            <a:r>
              <a:rPr kumimoji="1" lang="en-US" altLang="ko-KR" b="1">
                <a:latin typeface="하나 L" panose="02020603020101020101" pitchFamily="18" charset="-127"/>
                <a:ea typeface="하나 L" panose="02020603020101020101" pitchFamily="18" charset="-127"/>
              </a:rPr>
              <a:t> </a:t>
            </a:r>
            <a:r>
              <a:rPr kumimoji="1" lang="ko-KR" altLang="en-US" b="1" err="1">
                <a:latin typeface="하나 L" panose="02020603020101020101" pitchFamily="18" charset="-127"/>
                <a:ea typeface="하나 L" panose="02020603020101020101" pitchFamily="18" charset="-127"/>
              </a:rPr>
              <a:t>운영고객 현황</a:t>
            </a:r>
            <a:r>
              <a:rPr kumimoji="1" lang="en-US" altLang="ko-KR" b="1">
                <a:latin typeface="하나 L" panose="02020603020101020101" pitchFamily="18" charset="-127"/>
                <a:ea typeface="하나 L" panose="02020603020101020101" pitchFamily="18" charset="-127"/>
              </a:rPr>
              <a:t>(</a:t>
            </a:r>
            <a:r>
              <a:rPr kumimoji="1" lang="ko-KR" altLang="en-US" b="1" err="1">
                <a:latin typeface="하나 L" panose="02020603020101020101" pitchFamily="18" charset="-127"/>
                <a:ea typeface="하나 L" panose="02020603020101020101" pitchFamily="18" charset="-127"/>
              </a:rPr>
              <a:t>기사용 고객사항</a:t>
            </a:r>
            <a:r>
              <a:rPr kumimoji="1" lang="en-US" altLang="ko-KR" b="1">
                <a:latin typeface="하나 L" panose="02020603020101020101" pitchFamily="18" charset="-127"/>
                <a:ea typeface="하나 L" panose="02020603020101020101" pitchFamily="18" charset="-127"/>
              </a:rPr>
              <a:t>)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7808FB01-336D-CE8A-331C-7879C3C64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90488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9pPr>
          </a:lstStyle>
          <a:p>
            <a:pPr eaLnBrk="1" latinLnBrk="1" hangingPunct="1"/>
            <a:r>
              <a:rPr lang="en-US" altLang="ko-KR" sz="2400" b="1">
                <a:latin typeface="하나 L" panose="02020603020101020101" pitchFamily="18" charset="-127"/>
                <a:ea typeface="하나 L" panose="02020603020101020101" pitchFamily="18" charset="-127"/>
              </a:rPr>
              <a:t>5. </a:t>
            </a:r>
            <a:r>
              <a:rPr lang="ko-KR" altLang="en-US" sz="2400" b="1">
                <a:latin typeface="하나 L" panose="02020603020101020101" pitchFamily="18" charset="-127"/>
                <a:ea typeface="하나 L" panose="02020603020101020101" pitchFamily="18" charset="-127"/>
              </a:rPr>
              <a:t>운영 부문</a:t>
            </a:r>
            <a:endParaRPr lang="ko-KR" altLang="en-US" sz="2000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450827B-90AD-7CFD-8E7C-199BFCC372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1644"/>
              </p:ext>
            </p:extLst>
          </p:nvPr>
        </p:nvGraphicFramePr>
        <p:xfrm>
          <a:off x="488505" y="1191286"/>
          <a:ext cx="9073015" cy="3389842"/>
        </p:xfrm>
        <a:graphic>
          <a:graphicData uri="http://schemas.openxmlformats.org/drawingml/2006/table">
            <a:tbl>
              <a:tblPr/>
              <a:tblGrid>
                <a:gridCol w="366525">
                  <a:extLst>
                    <a:ext uri="{9D8B030D-6E8A-4147-A177-3AD203B41FA5}">
                      <a16:colId xmlns:a16="http://schemas.microsoft.com/office/drawing/2014/main" val="3346327747"/>
                    </a:ext>
                  </a:extLst>
                </a:gridCol>
                <a:gridCol w="585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965">
                  <a:extLst>
                    <a:ext uri="{9D8B030D-6E8A-4147-A177-3AD203B41FA5}">
                      <a16:colId xmlns:a16="http://schemas.microsoft.com/office/drawing/2014/main" val="3898337032"/>
                    </a:ext>
                  </a:extLst>
                </a:gridCol>
                <a:gridCol w="746307">
                  <a:extLst>
                    <a:ext uri="{9D8B030D-6E8A-4147-A177-3AD203B41FA5}">
                      <a16:colId xmlns:a16="http://schemas.microsoft.com/office/drawing/2014/main" val="1126325254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44832427"/>
                    </a:ext>
                  </a:extLst>
                </a:gridCol>
                <a:gridCol w="432056">
                  <a:extLst>
                    <a:ext uri="{9D8B030D-6E8A-4147-A177-3AD203B41FA5}">
                      <a16:colId xmlns:a16="http://schemas.microsoft.com/office/drawing/2014/main" val="3097625986"/>
                    </a:ext>
                  </a:extLst>
                </a:gridCol>
              </a:tblGrid>
              <a:tr h="4228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No.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구분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고객명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신청점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접수일자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이슈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담당자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피드백</a:t>
                      </a:r>
                      <a:br>
                        <a:rPr kumimoji="0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</a:br>
                      <a:r>
                        <a:rPr kumimoji="0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예정</a:t>
                      </a:r>
                      <a:r>
                        <a:rPr kumimoji="0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) </a:t>
                      </a: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일자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상태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090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1</a:t>
                      </a:r>
                      <a:endParaRPr kumimoji="0" lang="ko-KR" altLang="en-US" sz="1000" b="0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56" marR="91456" marT="18002" marB="180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연계형</a:t>
                      </a:r>
                    </a:p>
                  </a:txBody>
                  <a:tcPr marL="91456" marR="91456" marT="18002" marB="180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성주재단</a:t>
                      </a:r>
                    </a:p>
                  </a:txBody>
                  <a:tcPr marL="9527" marR="9527" marT="956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defRPr/>
                      </a:pPr>
                      <a:r>
                        <a:rPr lang="ko-KR" altLang="en-US" sz="1000" baseline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언주역</a:t>
                      </a:r>
                      <a:endParaRPr lang="en-US" altLang="ko-KR" sz="1000" baseline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</a:endParaRPr>
                    </a:p>
                  </a:txBody>
                  <a:tcPr marL="45720" marR="45720" marT="45735" marB="4573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defRPr/>
                      </a:pPr>
                      <a:r>
                        <a:rPr lang="en-US" altLang="ko-KR" sz="1000" baseline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2026-03-13</a:t>
                      </a:r>
                    </a:p>
                  </a:txBody>
                  <a:tcPr marL="45720" marR="45720" marT="45735" marB="4573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b="0" kern="1200" baseline="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대량이체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DEL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키 입력 시 삭제 수정파일 적용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ko-KR" altLang="en-US" sz="1000" b="0" kern="1200" baseline="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대량이체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DEL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키 입력 시 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삭제안되는부분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확인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송미숙 부장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해외대량송금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파일명 입력하여 호출 적용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파일명 입력하여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SAP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시스템에서 데이터 가져오기 정상 확인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  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성주재단은 세팅 완료 상태이며 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성주디앤디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, MCM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코리아 세팅 후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  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최종 테스트 예정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성주재단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성주디앤디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완료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    MCM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코리아는 데이터가 없어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5/15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이후 송금 발생 시 점검 예정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ko-KR" altLang="en-US" sz="1000" b="0" kern="1200" baseline="0" dirty="0" err="1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해외대량송금</a:t>
                      </a:r>
                      <a:r>
                        <a:rPr lang="ko-KR" altLang="en-US" sz="1000" b="0" kern="1200" baseline="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전송 확인</a:t>
                      </a:r>
                      <a:br>
                        <a:rPr lang="en-US" altLang="ko-KR" sz="1000" b="0" kern="1200" baseline="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- MCM</a:t>
                      </a:r>
                      <a:r>
                        <a:rPr lang="ko-KR" altLang="en-US" sz="1000" b="0" kern="1200" baseline="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코리아</a:t>
                      </a:r>
                      <a:r>
                        <a:rPr lang="en-US" altLang="ko-KR" sz="1000" b="0" kern="1200" baseline="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000" b="0" kern="1200" baseline="0" dirty="0" err="1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성주디앤디는</a:t>
                      </a:r>
                      <a:r>
                        <a:rPr lang="ko-KR" altLang="en-US" sz="1000" b="0" kern="1200" baseline="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지난주 </a:t>
                      </a:r>
                      <a:r>
                        <a:rPr lang="en-US" altLang="ko-KR" sz="1000" b="0" kern="1200" baseline="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SAP ERP</a:t>
                      </a:r>
                      <a:r>
                        <a:rPr lang="ko-KR" altLang="en-US" sz="1000" b="0" kern="1200" baseline="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에서 데이터 생성 후</a:t>
                      </a:r>
                      <a:br>
                        <a:rPr lang="en-US" altLang="ko-KR" sz="1000" b="0" kern="1200" baseline="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ko-KR" altLang="en-US" sz="1000" b="0" kern="1200" baseline="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통합</a:t>
                      </a:r>
                      <a:r>
                        <a:rPr lang="en-US" altLang="ko-KR" sz="1000" b="0" kern="1200" baseline="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CMS</a:t>
                      </a:r>
                      <a:r>
                        <a:rPr lang="ko-KR" altLang="en-US" sz="1000" b="0" kern="1200" baseline="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프로그램에서 송금 신청 정상 진행 확인</a:t>
                      </a:r>
                      <a:br>
                        <a:rPr lang="en-US" altLang="ko-KR" sz="1000" b="0" kern="1200" baseline="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- </a:t>
                      </a:r>
                      <a:r>
                        <a:rPr lang="ko-KR" altLang="en-US" sz="1000" b="0" kern="1200" baseline="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성주재단은 아직 송금 건이 없어 송금 건 발생 시 진행 예정</a:t>
                      </a:r>
                    </a:p>
                  </a:txBody>
                  <a:tcPr marL="45720" marR="45720" marT="45735" marB="4573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>
                          <a:latin typeface="하나 L"/>
                          <a:ea typeface="하나 L"/>
                        </a:rPr>
                        <a:t>이성환</a:t>
                      </a:r>
                      <a:endParaRPr lang="en-US" altLang="ko-KR" sz="1000">
                        <a:latin typeface="하나 L"/>
                        <a:ea typeface="하나 L"/>
                      </a:endParaRPr>
                    </a:p>
                  </a:txBody>
                  <a:tcPr marL="91447" marR="91447" marT="45766" marB="4576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하나 L"/>
                          <a:ea typeface="하나 L"/>
                        </a:rPr>
                        <a:t>-</a:t>
                      </a:r>
                    </a:p>
                  </a:txBody>
                  <a:tcPr marL="91447" marR="91447" marT="45766" marB="4576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</a:rPr>
                        <a:t>진행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하나 L"/>
                        <a:ea typeface="하나 L"/>
                      </a:endParaRPr>
                    </a:p>
                  </a:txBody>
                  <a:tcPr marL="91447" marR="91447" marT="45766" marB="4576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726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047216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79C25-571C-4D83-7DA4-DB9FBC7E3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98">
            <a:extLst>
              <a:ext uri="{FF2B5EF4-FFF2-40B4-BE49-F238E27FC236}">
                <a16:creationId xmlns:a16="http://schemas.microsoft.com/office/drawing/2014/main" id="{7A9517B1-73B7-093C-1773-3A5DCF63D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" y="755844"/>
            <a:ext cx="36893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>
              <a:buFont typeface="Wingdings" panose="05000000000000000000" pitchFamily="2" charset="2"/>
              <a:buChar char="l"/>
            </a:pPr>
            <a:r>
              <a:rPr kumimoji="1" lang="en-US" altLang="ko-KR" b="1">
                <a:latin typeface="하나 L" panose="02020603020101020101" pitchFamily="18" charset="-127"/>
                <a:ea typeface="하나 L" panose="02020603020101020101" pitchFamily="18" charset="-127"/>
              </a:rPr>
              <a:t> </a:t>
            </a:r>
            <a:r>
              <a:rPr kumimoji="1" lang="ko-KR" altLang="en-US" b="1" err="1">
                <a:latin typeface="하나 L" panose="02020603020101020101" pitchFamily="18" charset="-127"/>
                <a:ea typeface="하나 L" panose="02020603020101020101" pitchFamily="18" charset="-127"/>
              </a:rPr>
              <a:t>운영고객 현황</a:t>
            </a:r>
            <a:r>
              <a:rPr kumimoji="1" lang="en-US" altLang="ko-KR" b="1">
                <a:latin typeface="하나 L" panose="02020603020101020101" pitchFamily="18" charset="-127"/>
                <a:ea typeface="하나 L" panose="02020603020101020101" pitchFamily="18" charset="-127"/>
              </a:rPr>
              <a:t>(</a:t>
            </a:r>
            <a:r>
              <a:rPr kumimoji="1" lang="ko-KR" altLang="en-US" b="1" err="1">
                <a:latin typeface="하나 L" panose="02020603020101020101" pitchFamily="18" charset="-127"/>
                <a:ea typeface="하나 L" panose="02020603020101020101" pitchFamily="18" charset="-127"/>
              </a:rPr>
              <a:t>기사용 고객사항</a:t>
            </a:r>
            <a:r>
              <a:rPr kumimoji="1" lang="en-US" altLang="ko-KR" b="1">
                <a:latin typeface="하나 L" panose="02020603020101020101" pitchFamily="18" charset="-127"/>
                <a:ea typeface="하나 L" panose="02020603020101020101" pitchFamily="18" charset="-127"/>
              </a:rPr>
              <a:t>)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A53194DD-380C-E4DD-9027-FFD123B0E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90488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9pPr>
          </a:lstStyle>
          <a:p>
            <a:pPr eaLnBrk="1" latinLnBrk="1" hangingPunct="1"/>
            <a:r>
              <a:rPr lang="en-US" altLang="ko-KR" sz="2400" b="1">
                <a:latin typeface="하나 L" panose="02020603020101020101" pitchFamily="18" charset="-127"/>
                <a:ea typeface="하나 L" panose="02020603020101020101" pitchFamily="18" charset="-127"/>
              </a:rPr>
              <a:t>5. </a:t>
            </a:r>
            <a:r>
              <a:rPr lang="ko-KR" altLang="en-US" sz="2400" b="1">
                <a:latin typeface="하나 L" panose="02020603020101020101" pitchFamily="18" charset="-127"/>
                <a:ea typeface="하나 L" panose="02020603020101020101" pitchFamily="18" charset="-127"/>
              </a:rPr>
              <a:t>운영 부문</a:t>
            </a:r>
            <a:endParaRPr lang="ko-KR" altLang="en-US" sz="2000" b="1">
              <a:latin typeface="하나 L" panose="02020603020101020101" pitchFamily="18" charset="-127"/>
              <a:ea typeface="하나 L" panose="02020603020101020101" pitchFamily="18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35695C8-F398-8A80-39C0-B91C6E5268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051085"/>
              </p:ext>
            </p:extLst>
          </p:nvPr>
        </p:nvGraphicFramePr>
        <p:xfrm>
          <a:off x="488505" y="1191286"/>
          <a:ext cx="9073015" cy="5118034"/>
        </p:xfrm>
        <a:graphic>
          <a:graphicData uri="http://schemas.openxmlformats.org/drawingml/2006/table">
            <a:tbl>
              <a:tblPr/>
              <a:tblGrid>
                <a:gridCol w="366525">
                  <a:extLst>
                    <a:ext uri="{9D8B030D-6E8A-4147-A177-3AD203B41FA5}">
                      <a16:colId xmlns:a16="http://schemas.microsoft.com/office/drawing/2014/main" val="3346327747"/>
                    </a:ext>
                  </a:extLst>
                </a:gridCol>
                <a:gridCol w="585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965">
                  <a:extLst>
                    <a:ext uri="{9D8B030D-6E8A-4147-A177-3AD203B41FA5}">
                      <a16:colId xmlns:a16="http://schemas.microsoft.com/office/drawing/2014/main" val="3898337032"/>
                    </a:ext>
                  </a:extLst>
                </a:gridCol>
                <a:gridCol w="746307">
                  <a:extLst>
                    <a:ext uri="{9D8B030D-6E8A-4147-A177-3AD203B41FA5}">
                      <a16:colId xmlns:a16="http://schemas.microsoft.com/office/drawing/2014/main" val="1126325254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44832427"/>
                    </a:ext>
                  </a:extLst>
                </a:gridCol>
                <a:gridCol w="432056">
                  <a:extLst>
                    <a:ext uri="{9D8B030D-6E8A-4147-A177-3AD203B41FA5}">
                      <a16:colId xmlns:a16="http://schemas.microsoft.com/office/drawing/2014/main" val="3097625986"/>
                    </a:ext>
                  </a:extLst>
                </a:gridCol>
              </a:tblGrid>
              <a:tr h="4228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No.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구분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고객명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신청점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접수일자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이슈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담당자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피드백</a:t>
                      </a:r>
                      <a:br>
                        <a:rPr kumimoji="0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</a:br>
                      <a:r>
                        <a:rPr kumimoji="0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예정</a:t>
                      </a:r>
                      <a:r>
                        <a:rPr kumimoji="0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) </a:t>
                      </a: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일자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</a:rPr>
                        <a:t>상태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</a:endParaRPr>
                    </a:p>
                  </a:txBody>
                  <a:tcPr marL="45728" marR="45728" marT="43056" marB="4305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3282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2</a:t>
                      </a:r>
                      <a:endParaRPr kumimoji="0" lang="ko-KR" altLang="en-US" sz="1000" b="0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1456" marR="91456" marT="18002" marB="180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연계형</a:t>
                      </a:r>
                    </a:p>
                  </a:txBody>
                  <a:tcPr marL="91456" marR="91456" marT="18002" marB="1800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하나 L"/>
                          <a:ea typeface="하나 L"/>
                          <a:cs typeface="+mn-cs"/>
                        </a:rPr>
                        <a:t>한솥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하나 L"/>
                        <a:ea typeface="하나 L"/>
                        <a:cs typeface="+mn-cs"/>
                      </a:endParaRPr>
                    </a:p>
                  </a:txBody>
                  <a:tcPr marL="9527" marR="9527" marT="956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-</a:t>
                      </a:r>
                    </a:p>
                  </a:txBody>
                  <a:tcPr marL="45720" marR="45720" marT="45735" marB="4573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</a:rPr>
                        <a:t>2026-04-20</a:t>
                      </a:r>
                    </a:p>
                  </a:txBody>
                  <a:tcPr marL="45720" marR="45720" marT="45735" marB="4573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04/23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메일 보낸 직후 임인지과장에게 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“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귀사의 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선제적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대응 체계를 기반한 근본적인 대책 요구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”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한솥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가맹점 피해 발생 → 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한솥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본사 직원 확인 →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CMS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기술진 확인 →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CMS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영업 담당자 확인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※ 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한솥에서는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영업파트에서 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선제적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대응 체계를 마련해 달라는 요청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04/24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오전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07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시대에 스케줄 오류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- OS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환경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네트워크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에 따른 개선과 별개사항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 (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수요일 선적용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동일 오류 발생 없음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- 04/23 (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목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로그인 실패 시 모니터링 화면에 표시 업데이트 운영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배포 후 발생한 오류로 확인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한솥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운영방문 예정이며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4/28 (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화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) 17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시 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이지희대리에게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히스토리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설명 예정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05/08 (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금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) 14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시 운영방문 진행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더존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I-U  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옴니이솔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고도화 시 펌 가상계좌 서비스 제공 안내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2.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가상계좌 스케줄 반복간격 설정 변경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(20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분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 15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분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[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한솥요청사항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]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오류가 발생 했을 때 사전 감지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탐지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기능을 지속 요구하여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내부적으로 확인 후 회신 드리는 방향으로 안내하고 미팅 종료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defRPr/>
                      </a:pP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05/12 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유송목과장에게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한솥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2026.01 ~ 2026.04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가상계좌 입금내역 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       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데이터 파일 전송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000" b="0" kern="1200" baseline="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kern="1200" baseline="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데이터 파일 분석 후 </a:t>
                      </a:r>
                      <a:r>
                        <a:rPr lang="ko-KR" altLang="en-US" sz="1000" b="0" kern="1200" baseline="0" dirty="0" err="1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한솥측에</a:t>
                      </a:r>
                      <a:r>
                        <a:rPr lang="ko-KR" altLang="en-US" sz="1000" b="0" kern="1200" baseline="0" dirty="0">
                          <a:solidFill>
                            <a:srgbClr val="0000FF"/>
                          </a:solidFill>
                          <a:latin typeface="하나 L" panose="02020603020101020101" pitchFamily="18" charset="-127"/>
                          <a:ea typeface="하나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제안할 수 있는 가이드방향 확인 예정</a:t>
                      </a:r>
                      <a:endParaRPr lang="en-US" altLang="ko-KR" sz="1000" b="0" kern="1200" baseline="0" dirty="0">
                        <a:solidFill>
                          <a:srgbClr val="0000FF"/>
                        </a:solidFill>
                        <a:latin typeface="하나 L" panose="02020603020101020101" pitchFamily="18" charset="-127"/>
                        <a:ea typeface="하나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45720" marR="45720" marT="45735" marB="4573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dirty="0">
                          <a:latin typeface="하나 L"/>
                          <a:ea typeface="하나 L"/>
                        </a:rPr>
                        <a:t>임인지</a:t>
                      </a:r>
                      <a:endParaRPr lang="en-US" altLang="ko-KR" sz="1000" dirty="0">
                        <a:latin typeface="하나 L"/>
                        <a:ea typeface="하나 L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dirty="0">
                          <a:latin typeface="하나 L"/>
                          <a:ea typeface="하나 L"/>
                        </a:rPr>
                        <a:t>이성환</a:t>
                      </a:r>
                      <a:endParaRPr lang="en-US" altLang="ko-KR" sz="1000" dirty="0">
                        <a:latin typeface="하나 L"/>
                        <a:ea typeface="하나 L"/>
                      </a:endParaRPr>
                    </a:p>
                  </a:txBody>
                  <a:tcPr marL="91447" marR="91447" marT="45766" marB="4576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하나 L"/>
                          <a:ea typeface="하나 L"/>
                        </a:rPr>
                        <a:t>-</a:t>
                      </a:r>
                    </a:p>
                  </a:txBody>
                  <a:tcPr marL="91447" marR="91447" marT="45766" marB="4576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하나 L"/>
                          <a:ea typeface="하나 L"/>
                        </a:rPr>
                        <a:t>진행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하나 L"/>
                        <a:ea typeface="하나 L"/>
                      </a:endParaRPr>
                    </a:p>
                  </a:txBody>
                  <a:tcPr marL="91447" marR="91447" marT="45766" marB="4576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726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3774368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2.0.50727.8980"/>
  <p:tag name="AS_OS" val="Microsoft Windows NT 6.2.9200.0"/>
  <p:tag name="AS_RELEASE_DATE" val="2021.08.14"/>
  <p:tag name="AS_TITLE" val="Aspose.Slides for .NET 2.0"/>
  <p:tag name="AS_VERSION" val="21.8"/>
</p:tagLst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Arial" pitchFamily="34" charset="0"/>
      </a:majorFont>
      <a:minorFont>
        <a:latin typeface="굴림"/>
        <a:ea typeface="굴림"/>
        <a:cs typeface="Arial" pitchFamily="34" charset="0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rgbClr val="FFCC99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체" pitchFamily="49" charset="-127"/>
            <a:ea typeface="굴림체" pitchFamily="49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rgbClr val="FFCC99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체" pitchFamily="49" charset="-127"/>
            <a:ea typeface="굴림체" pitchFamily="49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Arial" pitchFamily="34" charset="0"/>
        <a:cs typeface="Arial" pitchFamily="34" charset="0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Arial" pitchFamily="34" charset="0"/>
        <a:cs typeface="Arial" pitchFamily="34" charset="0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2015</TotalTime>
  <Words>3364</Words>
  <Application>Microsoft Office PowerPoint</Application>
  <PresentationFormat>A4 용지(210x297mm)</PresentationFormat>
  <Paragraphs>1572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2" baseType="lpstr">
      <vt:lpstr>굴림</vt:lpstr>
      <vt:lpstr>굴림체</vt:lpstr>
      <vt:lpstr>하나 L</vt:lpstr>
      <vt:lpstr>Arial</vt:lpstr>
      <vt:lpstr>Calibri</vt:lpstr>
      <vt:lpstr>Trebuchet MS</vt:lpstr>
      <vt:lpstr>Wingdings</vt:lpstr>
      <vt:lpstr>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권준희_1011614</dc:creator>
  <cp:lastModifiedBy>이성환</cp:lastModifiedBy>
  <cp:revision>91</cp:revision>
  <cp:lastPrinted>2026-04-20T13:53:12Z</cp:lastPrinted>
  <dcterms:created xsi:type="dcterms:W3CDTF">2026-04-20T04:53:12Z</dcterms:created>
  <dcterms:modified xsi:type="dcterms:W3CDTF">2026-05-20T23:26:29Z</dcterms:modified>
</cp:coreProperties>
</file>