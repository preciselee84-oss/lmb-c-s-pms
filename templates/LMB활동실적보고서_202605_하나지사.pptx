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3453" r:id="rId3"/>
    <p:sldId id="3447" r:id="rId4"/>
    <p:sldId id="3647" r:id="rId5"/>
    <p:sldId id="3456" r:id="rId6"/>
    <p:sldId id="3597" r:id="rId7"/>
    <p:sldId id="3689" r:id="rId8"/>
    <p:sldId id="3794" r:id="rId9"/>
    <p:sldId id="3800" r:id="rId10"/>
    <p:sldId id="3627" r:id="rId11"/>
    <p:sldId id="3656" r:id="rId12"/>
    <p:sldId id="3758" r:id="rId13"/>
    <p:sldId id="3778" r:id="rId14"/>
    <p:sldId id="3642" r:id="rId15"/>
    <p:sldId id="3685" r:id="rId16"/>
    <p:sldId id="3772" r:id="rId17"/>
    <p:sldId id="3790" r:id="rId18"/>
    <p:sldId id="3780" r:id="rId19"/>
    <p:sldId id="3781" r:id="rId20"/>
    <p:sldId id="3782" r:id="rId21"/>
    <p:sldId id="3795" r:id="rId22"/>
    <p:sldId id="3786" r:id="rId23"/>
    <p:sldId id="3787" r:id="rId24"/>
    <p:sldId id="3802" r:id="rId25"/>
    <p:sldId id="3803" r:id="rId26"/>
    <p:sldId id="3796" r:id="rId27"/>
    <p:sldId id="3797" r:id="rId28"/>
    <p:sldId id="3798" r:id="rId29"/>
    <p:sldId id="3358" r:id="rId30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7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3120" userDrawn="1">
          <p15:clr>
            <a:srgbClr val="A4A3A4"/>
          </p15:clr>
        </p15:guide>
        <p15:guide id="7" orient="horz" pos="43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90" autoAdjust="0"/>
  </p:normalViewPr>
  <p:slideViewPr>
    <p:cSldViewPr snapToObjects="1">
      <p:cViewPr varScale="1">
        <p:scale>
          <a:sx n="99" d="100"/>
          <a:sy n="99" d="100"/>
        </p:scale>
        <p:origin x="1734" y="90"/>
      </p:cViewPr>
      <p:guideLst>
        <p:guide orient="horz" pos="2160"/>
        <p:guide pos="217"/>
        <p:guide pos="5955"/>
        <p:guide orient="horz" pos="572"/>
        <p:guide orient="horz" pos="3974"/>
        <p:guide pos="3120"/>
        <p:guide orient="horz" pos="4319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39BA9402-A269-42E5-95B7-A28A0DBD9105}" type="datetimeFigureOut">
              <a:rPr lang="ko-KR" altLang="en-US" smtClean="0"/>
              <a:pPr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17B69E43-88D7-4BB5-BB86-4B403B2024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49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BA0-9D30-4109-8816-930DC86DBB26}" type="datetimeFigureOut">
              <a:rPr lang="ko-KR" altLang="en-US" smtClean="0"/>
              <a:pPr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7D4A-4087-40FA-B13F-651B852150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99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스타일 적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823BEDB-4248-4E51-8D10-3CF791C1406B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rgbClr val="0000FF"/>
                </a:solidFill>
              </a:ln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4320" y="116633"/>
            <a:ext cx="8950643" cy="504055"/>
          </a:xfrm>
        </p:spPr>
        <p:txBody>
          <a:bodyPr tIns="36000" bIns="36000" anchor="b">
            <a:noAutofit/>
          </a:bodyPr>
          <a:lstStyle>
            <a:lvl1pPr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BA0-9D30-4109-8816-930DC86DBB26}" type="datetimeFigureOut">
              <a:rPr lang="ko-KR" altLang="en-US" smtClean="0"/>
              <a:pPr/>
              <a:t>2026-05-06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7D4A-4087-40FA-B13F-651B852150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3AFC09-5176-4A0A-9742-61E0CDBEA47B}"/>
              </a:ext>
            </a:extLst>
          </p:cNvPr>
          <p:cNvCxnSpPr>
            <a:cxnSpLocks/>
          </p:cNvCxnSpPr>
          <p:nvPr userDrawn="1"/>
        </p:nvCxnSpPr>
        <p:spPr>
          <a:xfrm>
            <a:off x="274320" y="713359"/>
            <a:ext cx="9360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16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스타일 적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4320" y="116633"/>
            <a:ext cx="8950643" cy="504055"/>
          </a:xfrm>
        </p:spPr>
        <p:txBody>
          <a:bodyPr tIns="36000" bIns="36000" anchor="b">
            <a:noAutofit/>
          </a:bodyPr>
          <a:lstStyle>
            <a:lvl1pPr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ABA0-9D30-4109-8816-930DC86DBB26}" type="datetimeFigureOut">
              <a:rPr lang="ko-KR" altLang="en-US" smtClean="0"/>
              <a:pPr/>
              <a:t>2026-05-06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87D4A-4087-40FA-B13F-651B852150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3AFC09-5176-4A0A-9742-61E0CDBEA47B}"/>
              </a:ext>
            </a:extLst>
          </p:cNvPr>
          <p:cNvCxnSpPr>
            <a:cxnSpLocks/>
          </p:cNvCxnSpPr>
          <p:nvPr userDrawn="1"/>
        </p:nvCxnSpPr>
        <p:spPr>
          <a:xfrm>
            <a:off x="274320" y="713359"/>
            <a:ext cx="9360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09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맑은 고딕" panose="020B0503020000020004" pitchFamily="50" charset="-127"/>
              </a:defRPr>
            </a:lvl1pPr>
          </a:lstStyle>
          <a:p>
            <a:fld id="{7DACABA0-9D30-4109-8816-930DC86DBB26}" type="datetimeFigureOut">
              <a:rPr lang="ko-KR" altLang="en-US" smtClean="0"/>
              <a:pPr/>
              <a:t>2026-05-06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맑은 고딕" panose="020B0503020000020004" pitchFamily="50" charset="-127"/>
              </a:defRPr>
            </a:lvl1pPr>
          </a:lstStyle>
          <a:p>
            <a:fld id="{9BC87D4A-4087-40FA-B13F-651B852150A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138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  <p:sldLayoutId id="214748368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6950" y="1527445"/>
            <a:ext cx="4780090" cy="138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’26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월</a:t>
            </a:r>
            <a:endParaRPr lang="en-US" altLang="ko-KR" sz="3600" b="1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 sz="48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LMB</a:t>
            </a:r>
            <a:r>
              <a:rPr lang="ko-KR" altLang="en-US" sz="48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 성과보고서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536950" y="3105512"/>
            <a:ext cx="86337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7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E6027F-7CF2-4B38-A798-FFABDE65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417" y="2340401"/>
            <a:ext cx="4369721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지사</a:t>
            </a:r>
            <a:r>
              <a:rPr lang="en-US" altLang="ko-KR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팀</a:t>
            </a:r>
            <a:r>
              <a:rPr lang="en-US" altLang="ko-KR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성과 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CCA2-41D6-4CE6-9EA1-2CDACED455BD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지사장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팀장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 작성합니다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전체 고객현황과 실적현황을 취합하여 작성합니다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36C18-47F9-4E77-AE44-A33A5CA4E63D}"/>
              </a:ext>
            </a:extLst>
          </p:cNvPr>
          <p:cNvSpPr txBox="1"/>
          <p:nvPr/>
        </p:nvSpPr>
        <p:spPr>
          <a:xfrm>
            <a:off x="4981493" y="4437112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웹케시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C&amp;S LMB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팀장 이성환 외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5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명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264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지사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팀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 목표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2026</a:t>
            </a:r>
            <a:endParaRPr lang="ko-KR" altLang="en-US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441F4-DA29-491A-A2D5-C8FB38CD4E14}"/>
              </a:ext>
            </a:extLst>
          </p:cNvPr>
          <p:cNvSpPr txBox="1"/>
          <p:nvPr/>
        </p:nvSpPr>
        <p:spPr>
          <a:xfrm>
            <a:off x="8481392" y="188640"/>
            <a:ext cx="1080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</a:rPr>
              <a:t>팀장만 작성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972E38-ACA5-4554-8A34-92DDC6C22717}"/>
              </a:ext>
            </a:extLst>
          </p:cNvPr>
          <p:cNvSpPr txBox="1"/>
          <p:nvPr/>
        </p:nvSpPr>
        <p:spPr>
          <a:xfrm>
            <a:off x="315610" y="995976"/>
            <a:ext cx="144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BS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연간목표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296266"/>
              </p:ext>
            </p:extLst>
          </p:nvPr>
        </p:nvGraphicFramePr>
        <p:xfrm>
          <a:off x="1808049" y="1100644"/>
          <a:ext cx="7416916" cy="861907"/>
        </p:xfrm>
        <a:graphic>
          <a:graphicData uri="http://schemas.openxmlformats.org/drawingml/2006/table">
            <a:tbl>
              <a:tblPr/>
              <a:tblGrid>
                <a:gridCol w="1854229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854229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854229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854229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개설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(A)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개설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(B)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추가 연계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구축보고서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(E)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150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93A54566-9F94-4887-B0D7-9D1CF2953501}"/>
              </a:ext>
            </a:extLst>
          </p:cNvPr>
          <p:cNvSpPr txBox="1"/>
          <p:nvPr/>
        </p:nvSpPr>
        <p:spPr>
          <a:xfrm>
            <a:off x="323008" y="4269576"/>
            <a:ext cx="144000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AM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유통사업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spcBef>
                <a:spcPts val="600"/>
              </a:spcBef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연간목표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4A193F3-354B-47C6-9C9B-9F4B3BC1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339736"/>
              </p:ext>
            </p:extLst>
          </p:nvPr>
        </p:nvGraphicFramePr>
        <p:xfrm>
          <a:off x="1823619" y="3980964"/>
          <a:ext cx="7704851" cy="861907"/>
        </p:xfrm>
        <a:graphic>
          <a:graphicData uri="http://schemas.openxmlformats.org/drawingml/2006/table">
            <a:tbl>
              <a:tblPr/>
              <a:tblGrid>
                <a:gridCol w="2568283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2568284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2568284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가치제안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가치제안 활동 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 고객 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DCFDE0-8CFA-4064-9002-6C5EE93DC566}"/>
              </a:ext>
            </a:extLst>
          </p:cNvPr>
          <p:cNvSpPr txBox="1"/>
          <p:nvPr/>
        </p:nvSpPr>
        <p:spPr>
          <a:xfrm>
            <a:off x="1823619" y="4989076"/>
            <a:ext cx="67297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대기업사업본부 연간 목표 참조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지사의 보유고객 수</a:t>
            </a:r>
            <a:r>
              <a:rPr lang="en-US" altLang="ko-KR" sz="1100" dirty="0"/>
              <a:t>, </a:t>
            </a:r>
            <a:r>
              <a:rPr lang="ko-KR" altLang="en-US" sz="1100" dirty="0"/>
              <a:t>고객분석에 근거하여 유통사업 활동 목표 수립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계약 고객 수 연간 목표는 </a:t>
            </a:r>
            <a:r>
              <a:rPr lang="en-US" altLang="ko-KR" sz="1100" dirty="0"/>
              <a:t>1</a:t>
            </a:r>
            <a:r>
              <a:rPr lang="ko-KR" altLang="en-US" sz="1100" dirty="0"/>
              <a:t>인당 </a:t>
            </a:r>
            <a:r>
              <a:rPr lang="en-US" altLang="ko-KR" sz="1100" dirty="0"/>
              <a:t>8</a:t>
            </a:r>
            <a:r>
              <a:rPr lang="ko-KR" altLang="en-US" sz="1100" dirty="0"/>
              <a:t>을 우선 목표로 설정 </a:t>
            </a:r>
            <a:r>
              <a:rPr lang="en-US" altLang="ko-KR" sz="1100" dirty="0"/>
              <a:t>(</a:t>
            </a:r>
            <a:r>
              <a:rPr lang="ko-KR" altLang="en-US" sz="1100" dirty="0"/>
              <a:t>비즈플레이 </a:t>
            </a:r>
            <a:r>
              <a:rPr lang="en-US" altLang="ko-KR" sz="1100" dirty="0"/>
              <a:t>2, </a:t>
            </a:r>
            <a:r>
              <a:rPr lang="ko-KR" altLang="en-US" sz="1100" dirty="0"/>
              <a:t>기타 </a:t>
            </a:r>
            <a:r>
              <a:rPr lang="en-US" altLang="ko-KR" sz="1100" dirty="0"/>
              <a:t>1)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06C3-794A-4083-A35C-E1683DA59D95}"/>
              </a:ext>
            </a:extLst>
          </p:cNvPr>
          <p:cNvSpPr txBox="1"/>
          <p:nvPr/>
        </p:nvSpPr>
        <p:spPr>
          <a:xfrm>
            <a:off x="1751611" y="2062009"/>
            <a:ext cx="79539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대기업사업본부 연간 목표 참조</a:t>
            </a:r>
            <a:r>
              <a:rPr lang="en-US" altLang="ko-KR" sz="1100" dirty="0"/>
              <a:t>, </a:t>
            </a:r>
            <a:r>
              <a:rPr lang="ko-KR" altLang="en-US" sz="1100" dirty="0"/>
              <a:t>지사별 연간 브랜치 서비스 활동 목표 수립 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연계형 고객 구축완료 시 </a:t>
            </a:r>
            <a:r>
              <a:rPr lang="en-US" altLang="ko-KR" sz="1100" dirty="0"/>
              <a:t>(A) </a:t>
            </a:r>
            <a:r>
              <a:rPr lang="ko-KR" altLang="en-US" sz="1100" dirty="0"/>
              <a:t>항목 </a:t>
            </a:r>
            <a:r>
              <a:rPr lang="en-US" altLang="ko-KR" sz="1100" dirty="0"/>
              <a:t>+1, (B) </a:t>
            </a:r>
            <a:r>
              <a:rPr lang="ko-KR" altLang="en-US" sz="1100" dirty="0"/>
              <a:t>항목 </a:t>
            </a:r>
            <a:r>
              <a:rPr lang="en-US" altLang="ko-KR" sz="1100" dirty="0"/>
              <a:t>+1 </a:t>
            </a:r>
            <a:r>
              <a:rPr lang="ko-KR" altLang="en-US" sz="1100" dirty="0"/>
              <a:t>양쪽 모두 카운트 증가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70264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 err="1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브랜치성과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)_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운영</a:t>
            </a:r>
            <a:endParaRPr lang="ko-KR" altLang="en-US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F441F4-DA29-491A-A2D5-C8FB38CD4E14}"/>
              </a:ext>
            </a:extLst>
          </p:cNvPr>
          <p:cNvSpPr txBox="1"/>
          <p:nvPr/>
        </p:nvSpPr>
        <p:spPr>
          <a:xfrm>
            <a:off x="8481392" y="188640"/>
            <a:ext cx="1080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</a:rPr>
              <a:t>팀장만 작성</a:t>
            </a: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1D394D49-9AE1-4929-B937-E04F91B773E0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972E38-ACA5-4554-8A34-92DDC6C22717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B592DF-85E2-469C-9E02-5D7CC35FC616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A54566-9F94-4887-B0D7-9D1CF2953501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4A193F3-354B-47C6-9C9B-9F4B3BC1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53332"/>
              </p:ext>
            </p:extLst>
          </p:nvPr>
        </p:nvGraphicFramePr>
        <p:xfrm>
          <a:off x="1856656" y="3861048"/>
          <a:ext cx="7786250" cy="861907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308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BB0A037-B63F-4409-ADF7-497E76E239D2}"/>
              </a:ext>
            </a:extLst>
          </p:cNvPr>
          <p:cNvSpPr txBox="1"/>
          <p:nvPr/>
        </p:nvSpPr>
        <p:spPr>
          <a:xfrm>
            <a:off x="319736" y="51377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5201ECFB-E3D8-4DAF-9015-B230067D1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88184"/>
              </p:ext>
            </p:extLst>
          </p:nvPr>
        </p:nvGraphicFramePr>
        <p:xfrm>
          <a:off x="1853384" y="5137776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890159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347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FBB223A-DA6D-45AA-AF23-3313E46E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640902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2081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981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127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74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55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</a:rPr>
              <a:t>의견 및 다음달 계획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0BE679-FC7F-493F-9AA4-D3F24FB00784}"/>
              </a:ext>
            </a:extLst>
          </p:cNvPr>
          <p:cNvSpPr txBox="1"/>
          <p:nvPr/>
        </p:nvSpPr>
        <p:spPr>
          <a:xfrm>
            <a:off x="319802" y="798673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의견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566970-62F0-419A-9EB4-7540E8D95DA5}"/>
              </a:ext>
            </a:extLst>
          </p:cNvPr>
          <p:cNvSpPr txBox="1"/>
          <p:nvPr/>
        </p:nvSpPr>
        <p:spPr>
          <a:xfrm>
            <a:off x="8481392" y="188640"/>
            <a:ext cx="1080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C00000"/>
                </a:solidFill>
              </a:rPr>
              <a:t>팀장만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DBE797A-1D8D-44B0-A5F4-4D0A96414744}"/>
              </a:ext>
            </a:extLst>
          </p:cNvPr>
          <p:cNvSpPr/>
          <p:nvPr/>
        </p:nvSpPr>
        <p:spPr>
          <a:xfrm>
            <a:off x="1759802" y="908720"/>
            <a:ext cx="7826396" cy="17281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Tx/>
              <a:buChar char="-"/>
            </a:pPr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85775-F0E3-47B8-8E40-8DD5BD17CC74}"/>
              </a:ext>
            </a:extLst>
          </p:cNvPr>
          <p:cNvSpPr txBox="1"/>
          <p:nvPr/>
        </p:nvSpPr>
        <p:spPr>
          <a:xfrm>
            <a:off x="319802" y="3121223"/>
            <a:ext cx="144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브랜치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계획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F25636-CB87-46D0-B727-E5D4C70D300F}"/>
              </a:ext>
            </a:extLst>
          </p:cNvPr>
          <p:cNvSpPr/>
          <p:nvPr/>
        </p:nvSpPr>
        <p:spPr>
          <a:xfrm>
            <a:off x="1752040" y="3121223"/>
            <a:ext cx="7826396" cy="1387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9D015F-74E7-43D7-BEC2-FDB4F07431EE}"/>
              </a:ext>
            </a:extLst>
          </p:cNvPr>
          <p:cNvSpPr/>
          <p:nvPr/>
        </p:nvSpPr>
        <p:spPr>
          <a:xfrm>
            <a:off x="1759802" y="4925410"/>
            <a:ext cx="7826396" cy="13878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85251-39B8-4CE0-949C-9E5C304890C3}"/>
              </a:ext>
            </a:extLst>
          </p:cNvPr>
          <p:cNvSpPr txBox="1"/>
          <p:nvPr/>
        </p:nvSpPr>
        <p:spPr>
          <a:xfrm>
            <a:off x="342425" y="4797152"/>
            <a:ext cx="144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유통사업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계획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목표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800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E6027F-7CF2-4B38-A798-FFABDE65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개인성과 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CCA2-41D6-4CE6-9EA1-2CDACED455BD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52E0F-27EF-4EDC-A54E-A7D0596508FA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이성환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021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4D799BA-B7AB-430D-8B33-AE9F37ECBAD2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49A8D-7203-4F9E-911D-3BA21FCE1E4A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00E1-C839-4285-B5DA-37888F2BEE3F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D13D5-92CF-49A2-A73B-8665D8834A51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1D394D49-9AE1-4929-B937-E04F91B773E0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24A193F3-354B-47C6-9C9B-9F4B3BC1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569754"/>
              </p:ext>
            </p:extLst>
          </p:nvPr>
        </p:nvGraphicFramePr>
        <p:xfrm>
          <a:off x="1856656" y="3861048"/>
          <a:ext cx="7786252" cy="861907"/>
        </p:xfrm>
        <a:graphic>
          <a:graphicData uri="http://schemas.openxmlformats.org/drawingml/2006/table">
            <a:tbl>
              <a:tblPr/>
              <a:tblGrid>
                <a:gridCol w="1946563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5201ECFB-E3D8-4DAF-9015-B230067D1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496374"/>
              </p:ext>
            </p:extLst>
          </p:nvPr>
        </p:nvGraphicFramePr>
        <p:xfrm>
          <a:off x="1853384" y="5373216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2023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15551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57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FBB223A-DA6D-45AA-AF23-3313E46E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641588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376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261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77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84CD-DA9F-9E78-1838-371C2E74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1DA8999B-1964-1758-4AEC-3E89C19E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C7111D7-BFA3-81B4-1031-8627DE654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8690"/>
              </p:ext>
            </p:extLst>
          </p:nvPr>
        </p:nvGraphicFramePr>
        <p:xfrm>
          <a:off x="344488" y="1371263"/>
          <a:ext cx="9289031" cy="1618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지방공기업평가원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구축작업 진행</a:t>
                      </a:r>
                      <a:b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 사용자교육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36022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컴인워시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  <a:endParaRPr lang="ko-KR" altLang="en-US" sz="1000" b="0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구축작업 진행</a:t>
                      </a:r>
                      <a:b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하나은행 주거래 변경으로 가입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2467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7FD5F8-8AE3-70B2-D3B8-E79418ABD911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582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92F03-C2E0-62CF-F13F-3F755026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27C907B7-B2B9-4AD3-5BC1-E0A0B83B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00035D3-A941-3005-6E5E-720BBA7CF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334562"/>
              </p:ext>
            </p:extLst>
          </p:nvPr>
        </p:nvGraphicFramePr>
        <p:xfrm>
          <a:off x="344488" y="1371263"/>
          <a:ext cx="9289031" cy="1618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더블하트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I-U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데이터 이관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36022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지방공기업평가원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아마란스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데이터 이관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2467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0C25C2-24D6-3B6B-B44D-9EC506FE28F8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3944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E6027F-7CF2-4B38-A798-FFABDE65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개인성과 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CCA2-41D6-4CE6-9EA1-2CDACED455BD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52E0F-27EF-4EDC-A54E-A7D0596508FA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임인지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377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4D799BA-B7AB-430D-8B33-AE9F37ECBAD2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49A8D-7203-4F9E-911D-3BA21FCE1E4A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00E1-C839-4285-B5DA-37888F2BEE3F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FD13D5-92CF-49A2-A73B-8665D8834A51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1D394D49-9AE1-4929-B937-E04F91B773E0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24A193F3-354B-47C6-9C9B-9F4B3BC1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578089"/>
              </p:ext>
            </p:extLst>
          </p:nvPr>
        </p:nvGraphicFramePr>
        <p:xfrm>
          <a:off x="1856656" y="3861048"/>
          <a:ext cx="7786252" cy="861907"/>
        </p:xfrm>
        <a:graphic>
          <a:graphicData uri="http://schemas.openxmlformats.org/drawingml/2006/table">
            <a:tbl>
              <a:tblPr/>
              <a:tblGrid>
                <a:gridCol w="1946563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5201ECFB-E3D8-4DAF-9015-B230067D1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681505"/>
              </p:ext>
            </p:extLst>
          </p:nvPr>
        </p:nvGraphicFramePr>
        <p:xfrm>
          <a:off x="1853384" y="5373216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259411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62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FBB223A-DA6D-45AA-AF23-3313E46E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860939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444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285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77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AD1398-6E31-4A66-8F15-C809BA7CC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390291"/>
              </p:ext>
            </p:extLst>
          </p:nvPr>
        </p:nvGraphicFramePr>
        <p:xfrm>
          <a:off x="344488" y="1371263"/>
          <a:ext cx="9289031" cy="4568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올박스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36022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비바리퍼블리카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978241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천경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계좌조회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 사용자교육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44096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수원중앙침례교회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모바일헌금 사용자교육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4879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남강정밀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계좌조회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 사용자교육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721568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국립문화공간재단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5133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천경해운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계좌조회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 사용자교육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7620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C83D90-3A89-468B-BEC9-0C7B35F32DCC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096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D47F7-7044-A2BA-E174-7B933935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D7F86394-52A4-71AE-CE0F-3EA529D7F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2B91349-9977-27A7-6B48-008715213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09553"/>
              </p:ext>
            </p:extLst>
          </p:nvPr>
        </p:nvGraphicFramePr>
        <p:xfrm>
          <a:off x="344488" y="1371263"/>
          <a:ext cx="9289031" cy="2208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스테츠칩팩코리아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SAP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SAP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해외송금 업무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304016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제이셋스테츠칩팩코리아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SAP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SAP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해외송금 업무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81411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수원중앙침례교회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아이처치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아이처치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모바일헌금 내역 이관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738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98B882-B366-C3AE-147D-7B3DF8D6323E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258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E6027F-7CF2-4B38-A798-FFABDE65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>
                <a:solidFill>
                  <a:srgbClr val="000000"/>
                </a:solidFill>
                <a:latin typeface="맑은 고딕" panose="020B0503020000020004" pitchFamily="50" charset="-127"/>
              </a:rPr>
              <a:t>개인성과 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CCA2-41D6-4CE6-9EA1-2CDACED455BD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52E0F-27EF-4EDC-A54E-A7D0596508FA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전준수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350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7BAB07A9-A237-44AD-9F17-B6DDCE6307EE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799BA-B7AB-430D-8B33-AE9F37ECBAD2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49A8D-7203-4F9E-911D-3BA21FCE1E4A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)_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운영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00E1-C839-4285-B5DA-37888F2BEE3F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BA3577F-F76E-4D97-89D1-F953B5881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599764"/>
              </p:ext>
            </p:extLst>
          </p:nvPr>
        </p:nvGraphicFramePr>
        <p:xfrm>
          <a:off x="1856656" y="3861048"/>
          <a:ext cx="7786250" cy="861907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3FD13D5-92CF-49A2-A73B-8665D8834A51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1550FBA-61E7-4EC7-8CD4-57545E36D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150424"/>
              </p:ext>
            </p:extLst>
          </p:nvPr>
        </p:nvGraphicFramePr>
        <p:xfrm>
          <a:off x="1853384" y="5364005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167967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54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FBB223A-DA6D-45AA-AF23-3313E46E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70603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315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69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88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AD1398-6E31-4A66-8F15-C809BA7CC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00596"/>
              </p:ext>
            </p:extLst>
          </p:nvPr>
        </p:nvGraphicFramePr>
        <p:xfrm>
          <a:off x="344488" y="1371263"/>
          <a:ext cx="9289031" cy="3980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문성민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 법인 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가입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조회 사용예정으로 교육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예장경향교회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모바일헌금 사용자교육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849312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은산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 법인 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가입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 사용예정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19384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한국보안기술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신규구축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1232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정윤교회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자금관리 고도화로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도입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계좌조회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157258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롯데캐슬이스트폴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입주자대표회의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신규구축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9917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C83D90-3A89-468B-BEC9-0C7B35F32DCC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3465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D1F5C-C6B3-BA65-87AF-78F37882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F710F4E0-69D8-1A52-FBD4-AB96951B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1057D4F-A27E-9F4E-A6F6-FA025DC45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959230"/>
              </p:ext>
            </p:extLst>
          </p:nvPr>
        </p:nvGraphicFramePr>
        <p:xfrm>
          <a:off x="344488" y="1371263"/>
          <a:ext cx="9289031" cy="2798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신송산업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영림원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영림원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480430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신송식품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영림원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영림원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846984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신송홀딩스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영림원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영림원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580968"/>
                  </a:ext>
                </a:extLst>
              </a:tr>
              <a:tr h="5901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이데일리엠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4913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ADA249-C082-89FB-BD64-071F9E867E8B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6618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E6027F-7CF2-4B38-A798-FFABDE65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>
                <a:solidFill>
                  <a:srgbClr val="000000"/>
                </a:solidFill>
                <a:latin typeface="맑은 고딕" panose="020B0503020000020004" pitchFamily="50" charset="-127"/>
              </a:rPr>
              <a:t>개인성과 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CCA2-41D6-4CE6-9EA1-2CDACED455BD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52E0F-27EF-4EDC-A54E-A7D0596508FA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이수현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0795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7BAB07A9-A237-44AD-9F17-B6DDCE6307EE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799BA-B7AB-430D-8B33-AE9F37ECBAD2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49A8D-7203-4F9E-911D-3BA21FCE1E4A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)_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운영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400E1-C839-4285-B5DA-37888F2BEE3F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4BA3577F-F76E-4D97-89D1-F953B5881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306859"/>
              </p:ext>
            </p:extLst>
          </p:nvPr>
        </p:nvGraphicFramePr>
        <p:xfrm>
          <a:off x="1856656" y="3861048"/>
          <a:ext cx="7786250" cy="861907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48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3FD13D5-92CF-49A2-A73B-8665D8834A51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1550FBA-61E7-4EC7-8CD4-57545E36D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84616"/>
              </p:ext>
            </p:extLst>
          </p:nvPr>
        </p:nvGraphicFramePr>
        <p:xfrm>
          <a:off x="1853384" y="5364005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4171900-36B1-42C2-91D1-002071F7E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42550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FBB223A-DA6D-45AA-AF23-3313E46E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836877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413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231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37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9EBD88F0-D822-4783-B1D3-C98EAD14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AD1398-6E31-4A66-8F15-C809BA7CC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064941"/>
              </p:ext>
            </p:extLst>
          </p:nvPr>
        </p:nvGraphicFramePr>
        <p:xfrm>
          <a:off x="344488" y="1371263"/>
          <a:ext cx="9289031" cy="3389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우양홀딩스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한국간편결제진흥원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  <a:endParaRPr lang="ko-KR" altLang="en-US" sz="1000" b="0" kern="1200" dirty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31779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남양인터내셔날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신규구축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519384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경기도미래세대재단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신규구축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영업점 도입권유로 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50888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이모코그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6858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C83D90-3A89-468B-BEC9-0C7B35F32DCC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58361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F5E8-E24A-0428-A301-FC884F1A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0F667796-0ACF-93E4-E9CF-3570CC37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7BE8F90-E505-3544-0ABF-2CA6AE9FC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015427"/>
              </p:ext>
            </p:extLst>
          </p:nvPr>
        </p:nvGraphicFramePr>
        <p:xfrm>
          <a:off x="344488" y="1371263"/>
          <a:ext cx="9289031" cy="33897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북팔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옴니이솔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하이어인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옴니이솔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415031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와이앤케이미디어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옴니이솔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433307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아티피오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옴니이솔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929599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이모코그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더존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더존 </a:t>
                      </a: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옴니이솔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9090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42E473-6024-A074-257E-ECD6F1AE34FA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1643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EC65-D452-0D7C-FB77-3467D9CD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70AF761-237A-51F9-86A8-7B2CCDDE7C39}"/>
              </a:ext>
            </a:extLst>
          </p:cNvPr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05AA0A-8227-6450-6F46-65CE88133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>
                <a:solidFill>
                  <a:srgbClr val="000000"/>
                </a:solidFill>
                <a:latin typeface="맑은 고딕" panose="020B0503020000020004" pitchFamily="50" charset="-127"/>
              </a:rPr>
              <a:t>개인성과 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BB409-07A8-F71F-28B6-A9CD7E4D6FDA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98DCF-FB3A-E598-D6C0-963D6B534407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하성춘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5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8697-5AFB-9135-87A9-56EA21D4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FDDCEF0C-547A-4929-E9B3-77B828D4D8C7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86203D-1D77-E6CE-A5DF-D7FA147CC3DF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9AFCF-23FC-E113-E637-37AAE8BB4ADF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B10E5F14-942E-C28F-47B8-8CE559F5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)_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운영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AC54DA-2516-EA9A-B61F-D10782D37625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DC1A415-1A9C-3388-4738-4E203B6B2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16519"/>
              </p:ext>
            </p:extLst>
          </p:nvPr>
        </p:nvGraphicFramePr>
        <p:xfrm>
          <a:off x="1856656" y="3861048"/>
          <a:ext cx="7786250" cy="861907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0EEE308-32D7-1EFD-1494-C062D593D10A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160BE02-A52C-2450-6843-714CFE986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913475"/>
              </p:ext>
            </p:extLst>
          </p:nvPr>
        </p:nvGraphicFramePr>
        <p:xfrm>
          <a:off x="1853384" y="5364005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306DD74-5F1E-4108-2D26-F08F2BFFD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739428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026CF59-7897-A79D-59EB-E11B2820D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893047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271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104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641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33874-FBD0-E6B6-6C07-E6CA7CC2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7207BF3B-F7DD-16FF-B231-F5755D3D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C423D7-AC48-79A9-7BBA-7FEC46A53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688522"/>
              </p:ext>
            </p:extLst>
          </p:nvPr>
        </p:nvGraphicFramePr>
        <p:xfrm>
          <a:off x="344488" y="1371263"/>
          <a:ext cx="9289031" cy="2208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덕성학원해영회관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선진분말야금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31779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선일에스티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주식회사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급여이체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본지사서비스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3137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A01462-0384-2FC7-2E76-A80EA9F117FE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0255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9D900-5CE1-A2ED-E2FF-0C2180E29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5F530FD3-ABD1-037C-868A-7A9A8353A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5A7C40F-AF45-B22C-DD01-2F612634D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956992"/>
              </p:ext>
            </p:extLst>
          </p:nvPr>
        </p:nvGraphicFramePr>
        <p:xfrm>
          <a:off x="344488" y="1371263"/>
          <a:ext cx="9289031" cy="1028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코스모앤컴퍼니</a:t>
                      </a:r>
                      <a:endParaRPr lang="ko-KR" alt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추가 연계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영림원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영림원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연계 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대량이체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거래내역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연계 완료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9BB41A-7B58-B74C-0888-6A06EF20465B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5934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2CAD-BA77-AEF3-1C16-609C2194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98ACEAF-7A13-F5A2-97ED-31FCA93D06E0}"/>
              </a:ext>
            </a:extLst>
          </p:cNvPr>
          <p:cNvCxnSpPr>
            <a:cxnSpLocks/>
          </p:cNvCxnSpPr>
          <p:nvPr/>
        </p:nvCxnSpPr>
        <p:spPr>
          <a:xfrm flipV="1">
            <a:off x="5097016" y="3105512"/>
            <a:ext cx="4073644" cy="3545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875E79-0597-6966-2086-45D37990A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024" y="2375857"/>
            <a:ext cx="3577838" cy="64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49" tIns="45621" rIns="91249" bIns="45621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ko-KR" altLang="en-US" sz="3600" b="1">
                <a:solidFill>
                  <a:srgbClr val="000000"/>
                </a:solidFill>
                <a:latin typeface="맑은 고딕" panose="020B0503020000020004" pitchFamily="50" charset="-127"/>
              </a:rPr>
              <a:t>개인성과 </a:t>
            </a:r>
            <a:r>
              <a:rPr lang="ko-KR" altLang="en-US" sz="3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보고서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744E4-210C-3B55-EAF1-B28D3CCBBB53}"/>
              </a:ext>
            </a:extLst>
          </p:cNvPr>
          <p:cNvSpPr txBox="1"/>
          <p:nvPr/>
        </p:nvSpPr>
        <p:spPr>
          <a:xfrm>
            <a:off x="488504" y="6237312"/>
            <a:ext cx="8496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개인별로 작성하고 취합합니다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34892-993E-A486-B6E9-946E6447CF31}"/>
              </a:ext>
            </a:extLst>
          </p:cNvPr>
          <p:cNvSpPr txBox="1"/>
          <p:nvPr/>
        </p:nvSpPr>
        <p:spPr>
          <a:xfrm>
            <a:off x="5111472" y="4293048"/>
            <a:ext cx="4077566" cy="7921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소속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하나지사</a:t>
            </a:r>
            <a:endParaRPr lang="en-US" altLang="ko-KR" sz="1400" b="1" dirty="0">
              <a:latin typeface="+mn-ea"/>
              <a:sym typeface="Wingdings" panose="05000000000000000000" pitchFamily="2" charset="2"/>
            </a:endParaRPr>
          </a:p>
          <a:p>
            <a:pPr lvl="1" indent="-317500">
              <a:lnSpc>
                <a:spcPct val="150000"/>
              </a:lnSpc>
              <a:buSzPts val="1400"/>
              <a:buFont typeface="Malgun Gothic"/>
              <a:buChar char="●"/>
            </a:pPr>
            <a:r>
              <a:rPr lang="ko-KR" altLang="en-US" sz="1400" b="1" dirty="0">
                <a:latin typeface="+mn-ea"/>
                <a:sym typeface="Wingdings" panose="05000000000000000000" pitchFamily="2" charset="2"/>
              </a:rPr>
              <a:t>이름 </a:t>
            </a:r>
            <a:r>
              <a:rPr lang="en-US" altLang="ko-KR" sz="1400" b="1" dirty="0">
                <a:latin typeface="+mn-ea"/>
                <a:sym typeface="Wingdings" panose="05000000000000000000" pitchFamily="2" charset="2"/>
              </a:rPr>
              <a:t>: </a:t>
            </a:r>
            <a:r>
              <a:rPr lang="ko-KR" altLang="en-US" sz="1400" b="1" dirty="0" err="1">
                <a:latin typeface="+mn-ea"/>
                <a:sym typeface="Wingdings" panose="05000000000000000000" pitchFamily="2" charset="2"/>
              </a:rPr>
              <a:t>길민종</a:t>
            </a:r>
            <a:endParaRPr lang="en-US" altLang="ko-KR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5325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AF33-15E0-4C5A-23E8-AF70CA5A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8E2BCC30-48DF-780C-90BE-35D2532ABA00}"/>
              </a:ext>
            </a:extLst>
          </p:cNvPr>
          <p:cNvSpPr/>
          <p:nvPr/>
        </p:nvSpPr>
        <p:spPr>
          <a:xfrm>
            <a:off x="1896359" y="3284984"/>
            <a:ext cx="7706844" cy="552200"/>
          </a:xfrm>
          <a:prstGeom prst="triangle">
            <a:avLst>
              <a:gd name="adj" fmla="val 49728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DFCC32-9D88-2F7A-2860-F3BAF432CCB3}"/>
              </a:ext>
            </a:extLst>
          </p:cNvPr>
          <p:cNvSpPr txBox="1"/>
          <p:nvPr/>
        </p:nvSpPr>
        <p:spPr>
          <a:xfrm>
            <a:off x="315610" y="995976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■고객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B7AB3-3C04-F24F-1676-454FC21F0541}"/>
              </a:ext>
            </a:extLst>
          </p:cNvPr>
          <p:cNvSpPr txBox="1"/>
          <p:nvPr/>
        </p:nvSpPr>
        <p:spPr>
          <a:xfrm>
            <a:off x="315610" y="2527989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활동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3E2D1D7F-92D5-837A-953F-B4E0EC7F4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# 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서비스 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)_</a:t>
            </a:r>
            <a:r>
              <a:rPr lang="ko-KR" altLang="en-US" dirty="0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운영</a:t>
            </a:r>
            <a:endParaRPr lang="ko-KR" altLang="en-US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07D1C-AA67-A7DD-9228-9A7C89638E44}"/>
              </a:ext>
            </a:extLst>
          </p:cNvPr>
          <p:cNvSpPr txBox="1"/>
          <p:nvPr/>
        </p:nvSpPr>
        <p:spPr>
          <a:xfrm>
            <a:off x="323008" y="3861048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방문 실적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DE6D17-C6C2-445A-A9B5-6A2782851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298800"/>
              </p:ext>
            </p:extLst>
          </p:nvPr>
        </p:nvGraphicFramePr>
        <p:xfrm>
          <a:off x="1856656" y="3861048"/>
          <a:ext cx="7786250" cy="861907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마케팅 방문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은행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개설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신규 연계 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장애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정기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11C685A-80CD-76D8-0817-795464F412FE}"/>
              </a:ext>
            </a:extLst>
          </p:cNvPr>
          <p:cNvSpPr txBox="1"/>
          <p:nvPr/>
        </p:nvSpPr>
        <p:spPr>
          <a:xfrm>
            <a:off x="319736" y="5364005"/>
            <a:ext cx="14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지식활동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CAA62BC-5CCD-2114-4C0C-FFF45AF186FA}"/>
              </a:ext>
            </a:extLst>
          </p:cNvPr>
          <p:cNvGraphicFramePr>
            <a:graphicFrameLocks noGrp="1"/>
          </p:cNvGraphicFramePr>
          <p:nvPr/>
        </p:nvGraphicFramePr>
        <p:xfrm>
          <a:off x="1853384" y="5364005"/>
          <a:ext cx="7786250" cy="1243552"/>
        </p:xfrm>
        <a:graphic>
          <a:graphicData uri="http://schemas.openxmlformats.org/drawingml/2006/table">
            <a:tbl>
              <a:tblPr/>
              <a:tblGrid>
                <a:gridCol w="1946562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946562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946563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누적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475533"/>
                  </a:ext>
                </a:extLst>
              </a:tr>
              <a:tr h="381645"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컨설팅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Best Case</a:t>
                      </a: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AE05FB9-FE3F-C6FA-BF69-BD7BF3207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72994"/>
              </p:ext>
            </p:extLst>
          </p:nvPr>
        </p:nvGraphicFramePr>
        <p:xfrm>
          <a:off x="1849258" y="2527989"/>
          <a:ext cx="7786248" cy="861907"/>
        </p:xfrm>
        <a:graphic>
          <a:graphicData uri="http://schemas.openxmlformats.org/drawingml/2006/table">
            <a:tbl>
              <a:tblPr/>
              <a:tblGrid>
                <a:gridCol w="1297708">
                  <a:extLst>
                    <a:ext uri="{9D8B030D-6E8A-4147-A177-3AD203B41FA5}">
                      <a16:colId xmlns:a16="http://schemas.microsoft.com/office/drawing/2014/main" val="2408269870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608364282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475713941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3050862897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08">
                  <a:extLst>
                    <a:ext uri="{9D8B030D-6E8A-4147-A177-3AD203B41FA5}">
                      <a16:colId xmlns:a16="http://schemas.microsoft.com/office/drawing/2014/main" val="1140955"/>
                    </a:ext>
                  </a:extLst>
                </a:gridCol>
              </a:tblGrid>
              <a:tr h="3816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활동 고객 수</a:t>
                      </a:r>
                    </a:p>
                  </a:txBody>
                  <a:tcPr marL="9532" marR="9532" marT="9528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1pPr>
                      <a:lvl2pPr marL="742950" indent="-28575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2pPr>
                      <a:lvl3pPr marL="11430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3pPr>
                      <a:lvl4pPr marL="16002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4pPr>
                      <a:lvl5pPr marL="2057400" indent="-228600" latinLnBrk="1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활동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방문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 원격 횟수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원격 횟수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상담</a:t>
                      </a: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9532" marR="9532" marT="9528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1703"/>
                  </a:ext>
                </a:extLst>
              </a:tr>
              <a:tr h="4802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8278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140CFB5-62F0-8FE3-168E-DE7D2BEDC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28718"/>
              </p:ext>
            </p:extLst>
          </p:nvPr>
        </p:nvGraphicFramePr>
        <p:xfrm>
          <a:off x="1853384" y="1109090"/>
          <a:ext cx="7782120" cy="10726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1893727308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2184673647"/>
                    </a:ext>
                  </a:extLst>
                </a:gridCol>
                <a:gridCol w="972765">
                  <a:extLst>
                    <a:ext uri="{9D8B030D-6E8A-4147-A177-3AD203B41FA5}">
                      <a16:colId xmlns:a16="http://schemas.microsoft.com/office/drawing/2014/main" val="8297971"/>
                    </a:ext>
                  </a:extLst>
                </a:gridCol>
              </a:tblGrid>
              <a:tr h="31623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고객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월간 실적</a:t>
                      </a: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2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marL="7144" marR="7144" marT="714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마케팅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일반개설</a:t>
                      </a: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추가연계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44" marR="7144" marT="7143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305</a:t>
                      </a:r>
                    </a:p>
                  </a:txBody>
                  <a:tcPr marL="7144" marR="7144" marT="714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132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7144" marR="7144" marT="7144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063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52E1-7C32-28A7-5B60-8320D8932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제목 1">
            <a:extLst>
              <a:ext uri="{FF2B5EF4-FFF2-40B4-BE49-F238E27FC236}">
                <a16:creationId xmlns:a16="http://schemas.microsoft.com/office/drawing/2014/main" id="{D7792628-8B52-2229-96F0-F49F0FE1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116633"/>
            <a:ext cx="6478880" cy="504055"/>
          </a:xfrm>
        </p:spPr>
        <p:txBody>
          <a:bodyPr/>
          <a:lstStyle/>
          <a:p>
            <a:r>
              <a:rPr lang="en-US" altLang="ko-KR">
                <a:latin typeface="+mn-ea"/>
              </a:rPr>
              <a:t># 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브랜치 성과 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(BS</a:t>
            </a:r>
            <a:r>
              <a:rPr lang="ko-KR" altLang="en-US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성과</a:t>
            </a:r>
            <a:r>
              <a:rPr lang="en-US" altLang="ko-KR">
                <a:latin typeface="+mn-ea"/>
                <a:cs typeface="Arial Unicode MS" panose="020B0604020202020204" pitchFamily="50" charset="-127"/>
                <a:sym typeface="Wingdings" panose="05000000000000000000" pitchFamily="2" charset="2"/>
              </a:rPr>
              <a:t>)</a:t>
            </a:r>
            <a:endParaRPr lang="ko-KR" altLang="en-US"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BA9FC9A-F0DD-89E9-C34B-DE8A173AE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551031"/>
              </p:ext>
            </p:extLst>
          </p:nvPr>
        </p:nvGraphicFramePr>
        <p:xfrm>
          <a:off x="344488" y="1371263"/>
          <a:ext cx="9289031" cy="16185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6">
                  <a:extLst>
                    <a:ext uri="{9D8B030D-6E8A-4147-A177-3AD203B41FA5}">
                      <a16:colId xmlns:a16="http://schemas.microsoft.com/office/drawing/2014/main" val="2464887594"/>
                    </a:ext>
                  </a:extLst>
                </a:gridCol>
                <a:gridCol w="431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9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고객명</a:t>
                      </a:r>
                    </a:p>
                  </a:txBody>
                  <a:tcPr marL="35998" marR="35998" marT="35993" marB="3599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상품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보고서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줄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이내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93" marB="35993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서울예술대학교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76753"/>
                  </a:ext>
                </a:extLst>
              </a:tr>
              <a:tr h="590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동일종합무역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일반 개설</a:t>
                      </a:r>
                    </a:p>
                  </a:txBody>
                  <a:tcPr marL="35996" marR="35996" marT="35995" marB="3599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CMS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</a:p>
                  </a:txBody>
                  <a:tcPr marL="35998" marR="35998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구축진행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93775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이체</a:t>
                      </a:r>
                      <a:r>
                        <a:rPr lang="en-US" altLang="ko-KR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법인카드 조회 사용 예정</a:t>
                      </a:r>
                      <a:endParaRPr lang="en-US" altLang="ko-KR" sz="1000" b="0" kern="1200" baseline="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8" marR="9525" marT="35989" marB="3598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3067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DAE9B5-8643-A23C-3191-7A0C2EA4A087}"/>
              </a:ext>
            </a:extLst>
          </p:cNvPr>
          <p:cNvSpPr txBox="1"/>
          <p:nvPr/>
        </p:nvSpPr>
        <p:spPr>
          <a:xfrm>
            <a:off x="274320" y="842087"/>
            <a:ext cx="6910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■주요성과 목록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일반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추가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개설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이행 연계</a:t>
            </a:r>
            <a:r>
              <a:rPr lang="en-US" altLang="ko-KR" sz="1400" b="1" dirty="0">
                <a:latin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마케팅 고객 명단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881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3">
            <a:extLst>
              <a:ext uri="{FF2B5EF4-FFF2-40B4-BE49-F238E27FC236}">
                <a16:creationId xmlns:a16="http://schemas.microsoft.com/office/drawing/2014/main" id="{FD23DDE8-2E8E-4881-9D8B-9CD3B7869844}"/>
              </a:ext>
            </a:extLst>
          </p:cNvPr>
          <p:cNvSpPr/>
          <p:nvPr/>
        </p:nvSpPr>
        <p:spPr>
          <a:xfrm>
            <a:off x="2288705" y="3059972"/>
            <a:ext cx="5328592" cy="73805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36447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46940</TotalTime>
  <Words>2116</Words>
  <Application>Microsoft Office PowerPoint</Application>
  <PresentationFormat>A4 용지(210x297mm)</PresentationFormat>
  <Paragraphs>817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# 지사(팀) 목표 2026</vt:lpstr>
      <vt:lpstr># 브랜치성과 (BS성과)_운영</vt:lpstr>
      <vt:lpstr># 의견 및 다음달 계획</vt:lpstr>
      <vt:lpstr>PowerPoint 프레젠테이션</vt:lpstr>
      <vt:lpstr># 브랜치 서비스 (BS성과)</vt:lpstr>
      <vt:lpstr># 브랜치 성과 (BS성과)</vt:lpstr>
      <vt:lpstr># 브랜치 성과 (BS성과)</vt:lpstr>
      <vt:lpstr>PowerPoint 프레젠테이션</vt:lpstr>
      <vt:lpstr># 브랜치 서비스 (BS성과)</vt:lpstr>
      <vt:lpstr># 브랜치 성과 (BS성과)</vt:lpstr>
      <vt:lpstr># 브랜치 성과 (BS성과)</vt:lpstr>
      <vt:lpstr>PowerPoint 프레젠테이션</vt:lpstr>
      <vt:lpstr># 브랜치 서비스 (BS성과)_운영</vt:lpstr>
      <vt:lpstr># 브랜치 성과 (BS성과)</vt:lpstr>
      <vt:lpstr># 브랜치 성과 (BS성과)</vt:lpstr>
      <vt:lpstr>PowerPoint 프레젠테이션</vt:lpstr>
      <vt:lpstr># 브랜치 서비스 (BS성과)_운영</vt:lpstr>
      <vt:lpstr># 브랜치 성과 (BS성과)</vt:lpstr>
      <vt:lpstr># 브랜치 성과 (BS성과)</vt:lpstr>
      <vt:lpstr>PowerPoint 프레젠테이션</vt:lpstr>
      <vt:lpstr># 브랜치 서비스 (BS성과)_운영</vt:lpstr>
      <vt:lpstr># 브랜치 성과 (BS성과)</vt:lpstr>
      <vt:lpstr># 브랜치 성과 (BS성과)</vt:lpstr>
      <vt:lpstr>PowerPoint 프레젠테이션</vt:lpstr>
      <vt:lpstr># 브랜치 서비스 (BS성과)_운영</vt:lpstr>
      <vt:lpstr># 브랜치 성과 (BS성과)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erica L</dc:creator>
  <cp:lastModifiedBy>이성환</cp:lastModifiedBy>
  <cp:revision>2252</cp:revision>
  <cp:lastPrinted>2019-01-18T02:31:20Z</cp:lastPrinted>
  <dcterms:created xsi:type="dcterms:W3CDTF">2018-05-09T02:21:57Z</dcterms:created>
  <dcterms:modified xsi:type="dcterms:W3CDTF">2026-05-06T05:14:52Z</dcterms:modified>
</cp:coreProperties>
</file>