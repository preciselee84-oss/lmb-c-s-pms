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432000"/>
            <a:ext cx="43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672C4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792000"/>
            <a:ext cx="576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A48"/>
                </a:solidFill>
                <a:latin typeface="Malgun Gothic"/>
              </a:rPr>
              <a:t>ERP연계 사례집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000" y="1242000"/>
            <a:ext cx="59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algun Gothic"/>
              </a:rPr>
              <a:t>더존, 영림원, SAP, 자체개발 ERP별 연계 방식과 활용 화면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800000"/>
            <a:ext cx="1512000" cy="486000"/>
          </a:xfrm>
          <a:prstGeom prst="round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864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통합CMS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999" y="2052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은행/카드/세금계산서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8000" y="1951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8000" y="1800000"/>
            <a:ext cx="1512000" cy="486000"/>
          </a:xfrm>
          <a:prstGeom prst="round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8000" y="1864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연계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000" y="2052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스케줄·검증·전송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3999" y="1951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3999" y="1800000"/>
            <a:ext cx="1512000" cy="486000"/>
          </a:xfrm>
          <a:prstGeom prst="round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3999" y="1864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999" y="2052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회계·자금 업무 반영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999" y="1951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0000" y="1800000"/>
            <a:ext cx="1512000" cy="486000"/>
          </a:xfrm>
          <a:prstGeom prst="round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0000" y="1864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업무 활용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3999" y="2052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조회·이체·정산 자동화</a:t>
            </a:r>
          </a:p>
        </p:txBody>
      </p:sp>
      <p:pic>
        <p:nvPicPr>
          <p:cNvPr id="21" name="Picture 20" descr="corp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2700000"/>
            <a:ext cx="4031999" cy="1692000"/>
          </a:xfrm>
          <a:prstGeom prst="rect">
            <a:avLst/>
          </a:prstGeom>
        </p:spPr>
      </p:pic>
      <p:pic>
        <p:nvPicPr>
          <p:cNvPr id="22" name="Picture 21" descr="bulk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0" y="2700000"/>
            <a:ext cx="4031999" cy="1692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사례집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ERP사별 프로토콜과 대표 업무를 한눈에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98000"/>
          <a:ext cx="8424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000"/>
                <a:gridCol w="2106000"/>
                <a:gridCol w="2106000"/>
                <a:gridCol w="210600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ERP사</a:t>
                      </a:r>
                    </a:p>
                  </a:txBody>
                  <a:tcPr marL="43200" marR="43200" marT="21600" marB="21600" anchor="ctr">
                    <a:solidFill>
                      <a:srgbClr val="14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연계 프로토콜</a:t>
                      </a:r>
                    </a:p>
                  </a:txBody>
                  <a:tcPr marL="43200" marR="43200" marT="21600" marB="21600" anchor="ctr">
                    <a:solidFill>
                      <a:srgbClr val="14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대표 업무</a:t>
                      </a:r>
                    </a:p>
                  </a:txBody>
                  <a:tcPr marL="43200" marR="43200" marT="21600" marB="21600" anchor="ctr">
                    <a:solidFill>
                      <a:srgbClr val="14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구성 방향</a:t>
                      </a:r>
                    </a:p>
                  </a:txBody>
                  <a:tcPr marL="43200" marR="43200" marT="21600" marB="21600" anchor="ctr">
                    <a:solidFill>
                      <a:srgbClr val="142A4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더존 아마란스 10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계좌거래내역, 법인카드, 세금계산서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표준 API 호출 및 응답값 검증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더존 옴니이솔 10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DB TO DB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계좌원장, 집금내역, 대량이체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ERP DB 중계 테이블 적재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영림원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DB TO DB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계좌거래내역, 법인카드 승인/이용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ERP 기준 테이블 매핑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SAP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RFC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지급이체, 법인카드, 전표처리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RFC Function 파라미터 송수신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자체개발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DB TO DB / API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고객사 맞춤 조회·이체·정산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고객 개발규격 기반 유연 연계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0000" y="3096000"/>
            <a:ext cx="2592000" cy="1044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3096000"/>
            <a:ext cx="43200" cy="1044000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3221999"/>
            <a:ext cx="234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조회 업무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" y="3456000"/>
            <a:ext cx="2340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계좌거래내역, 법인카드 승인/이용, 세금계산서 데이터를 ERP 화면에서 확인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수기 다운로드와 업로드 업무를 줄이는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6000" y="3096000"/>
            <a:ext cx="2592000" cy="1044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6000" y="3096000"/>
            <a:ext cx="43200" cy="1044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999" y="3221999"/>
            <a:ext cx="234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이체 업무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999" y="3456000"/>
            <a:ext cx="2340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대량이체·급여이체·단건이체 데이터를 통합CMS로 전송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승인·전송·결과 회신 흐름을 ERP와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3096000"/>
            <a:ext cx="2592000" cy="1044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2000" y="3096000"/>
            <a:ext cx="43200" cy="1044000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000" y="3221999"/>
            <a:ext cx="234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운영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000" y="3456000"/>
            <a:ext cx="2340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스케줄러, 서버 IP, 처리방식, 전송 특이사항을 기준으로 운영 체크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장애 발생 시 조회/전송 구간을 분리해 점검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공통 연계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통합CMS가 금융 데이터를 수집하고 ERP별 프로토콜에 맞춰 전달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512000" cy="486000"/>
          </a:xfrm>
          <a:prstGeom prst="round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144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금융기관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999" y="1332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계좌·카드·이체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8000" y="1231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8000" y="1080000"/>
            <a:ext cx="1512000" cy="486000"/>
          </a:xfrm>
          <a:prstGeom prst="round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8000" y="1144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통합CMS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000" y="1332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조회/수집/검증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3999" y="1231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3999" y="1080000"/>
            <a:ext cx="1512000" cy="486000"/>
          </a:xfrm>
          <a:prstGeom prst="round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3999" y="1144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연계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999" y="1332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스케줄·변환·로그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999" y="1231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0000" y="1080000"/>
            <a:ext cx="1512000" cy="486000"/>
          </a:xfrm>
          <a:prstGeom prst="round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0000" y="1144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3999" y="1332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API·DB·RFC 반영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" y="1908000"/>
            <a:ext cx="2520000" cy="1512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6000" y="1908000"/>
            <a:ext cx="43200" cy="1512000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000" y="2033999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API 방식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" y="2268000"/>
            <a:ext cx="2268000" cy="10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ERP가 제공하는 API 엔드포인트로 데이터 전송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인증키, 응답코드, 재전송 정책을 기준으로 운영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대표 ERP: 더존 아마란스 10, 자체개발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1999" y="1908000"/>
            <a:ext cx="2520000" cy="1512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1999" y="1908000"/>
            <a:ext cx="43200" cy="1512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37999" y="2033999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DB TO DB 방식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7999" y="2268000"/>
            <a:ext cx="2268000" cy="10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ERP DB의 연계 테이블 또는 View에 데이터 적재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컬럼 매핑, PK, 중복 스킵 규칙을 사전에 정의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대표 ERP: 옴니이솔 10, 영림원, 자체개발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8000" y="1908000"/>
            <a:ext cx="2520000" cy="1512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8000" y="1908000"/>
            <a:ext cx="43200" cy="1512000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4000" y="2033999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RFC 방식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4000" y="2268000"/>
            <a:ext cx="2268000" cy="10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SAP RFC Function을 호출해 파라미터 송수신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Function별 입력값과 Return 메시지 기준으로 검증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대표 ERP: SAP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ERP 예시 화면: 법인카드 내역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카드번호, 승인일자, 금액, 가맹점 정보 등 법인카드 연계 데이터가 ERP 조회 그리드에 반영되는 형태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000" y="1098000"/>
            <a:ext cx="2736000" cy="3096000"/>
          </a:xfrm>
          <a:prstGeom prst="roundRect">
            <a:avLst/>
          </a:prstGeom>
          <a:solidFill>
            <a:srgbClr val="F4F7FA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rp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1836253"/>
            <a:ext cx="2556000" cy="15474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21999" y="1098000"/>
            <a:ext cx="2736000" cy="3096000"/>
          </a:xfrm>
          <a:prstGeom prst="roundRect">
            <a:avLst/>
          </a:prstGeom>
          <a:solidFill>
            <a:srgbClr val="F4F7FA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rp_car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999" y="1206000"/>
            <a:ext cx="2556000" cy="2808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20000" y="1098000"/>
            <a:ext cx="2736000" cy="3096000"/>
          </a:xfrm>
          <a:prstGeom prst="roundRect">
            <a:avLst/>
          </a:prstGeom>
          <a:solidFill>
            <a:srgbClr val="F4F7FA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rp_card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000" y="1206000"/>
            <a:ext cx="2556000" cy="280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ERP 예시 화면: 지급 이체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ERP 지급 대상 데이터를 통합CMS로 전송하고 이체 결과를 다시 확인하는 대량이체 업무 화면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000" y="1098000"/>
            <a:ext cx="4104000" cy="3096000"/>
          </a:xfrm>
          <a:prstGeom prst="roundRect">
            <a:avLst/>
          </a:prstGeom>
          <a:solidFill>
            <a:srgbClr val="F4F7FA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lk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1557913"/>
            <a:ext cx="3924000" cy="21041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더존 아마란스 10 연계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API 기반으로 통합CMS 조회/이체 데이터를 ERP 업무 화면에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1080000" cy="198000"/>
          </a:xfrm>
          <a:prstGeom prst="round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08800"/>
            <a:ext cx="1080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86000"/>
            <a:ext cx="302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대표 연계업무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620000"/>
            <a:ext cx="43200" cy="450000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계좌거래내역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기간별 거래내역 조회 후 ERP 수납/자금 화면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4000" y="1620000"/>
            <a:ext cx="43200" cy="450000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법인카드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승인/이용 데이터 자동 수집 및 비용 처리 지원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268000"/>
            <a:ext cx="43200" cy="450000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세금계산서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매입·매출 세금계산서 조회 데이터 연계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4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4000" y="2268000"/>
            <a:ext cx="43200" cy="450000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0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대량이체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ERP 지급대상 데이터를 CMS 이체로 전송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0" y="1080000"/>
            <a:ext cx="4824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처리 흐름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1386000"/>
            <a:ext cx="1512000" cy="486000"/>
          </a:xfrm>
          <a:prstGeom prst="round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 요청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조회 조건/전송 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8000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68000" y="1386000"/>
            <a:ext cx="1512000" cy="486000"/>
          </a:xfrm>
          <a:prstGeom prst="round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68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통합CMS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000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검증·변환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3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03999" y="1386000"/>
            <a:ext cx="1512000" cy="486000"/>
          </a:xfrm>
          <a:prstGeom prst="round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3999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금융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7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조회/이체 실행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0000" y="1386000"/>
            <a:ext cx="1512000" cy="486000"/>
          </a:xfrm>
          <a:prstGeom prst="round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0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 반영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3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응답/결과 저장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6000" y="2070000"/>
            <a:ext cx="2160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16000" y="2070000"/>
            <a:ext cx="43200" cy="1188000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1999" y="2196000"/>
            <a:ext cx="190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적용 포인트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41999" y="2430000"/>
            <a:ext cx="1908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API 인증정보와 호출 URL을 고객사 환경에 맞게 설정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응답코드 기준 성공/실패 로그를 남겨 재처리 가능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ERP 화면에서 조회 조건 입력 후 통합CMS 데이터를 확인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6000" y="2070000"/>
            <a:ext cx="2484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2070000"/>
            <a:ext cx="43200" cy="1188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2000" y="2196000"/>
            <a:ext cx="2232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고객 기대효과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2000" y="2430000"/>
            <a:ext cx="2232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수기 엑셀 업로드 감소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전표 처리 전 데이터 정합성 확보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운영자가 장애 구간을 API 응답 기준으로 빠르게 확인</a:t>
            </a:r>
          </a:p>
        </p:txBody>
      </p:sp>
      <p:pic>
        <p:nvPicPr>
          <p:cNvPr id="49" name="Picture 48" descr="corp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0" y="3401999"/>
            <a:ext cx="4824000" cy="1260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더존 옴니이솔 10 연계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DB TO DB 기반으로 통합CMS 조회/이체 데이터를 ERP 업무 화면에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1080000" cy="198000"/>
          </a:xfrm>
          <a:prstGeom prst="round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08800"/>
            <a:ext cx="1080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DB TO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86000"/>
            <a:ext cx="302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대표 연계업무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620000"/>
            <a:ext cx="43200" cy="450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계좌원장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계좌별 잔액/거래 데이터를 ERP DB 기준으로 적재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4000" y="1620000"/>
            <a:ext cx="43200" cy="450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집금내역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가상계좌·집금 결과를 ERP 수납 업무에 반영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268000"/>
            <a:ext cx="43200" cy="450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대량이체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지급대상 데이터를 중계 테이블로 전달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4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4000" y="2268000"/>
            <a:ext cx="43200" cy="450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0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환율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일자별 환율 데이터 ERP 기준정보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0" y="1080000"/>
            <a:ext cx="4824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처리 흐름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1386000"/>
            <a:ext cx="1512000" cy="486000"/>
          </a:xfrm>
          <a:prstGeom prst="round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통합CMS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데이터 수집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8000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68000" y="1386000"/>
            <a:ext cx="1512000" cy="486000"/>
          </a:xfrm>
          <a:prstGeom prst="round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68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중계 테이블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000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Insert/Update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3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03999" y="1386000"/>
            <a:ext cx="1512000" cy="486000"/>
          </a:xfrm>
          <a:prstGeom prst="round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3999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 배치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7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정합성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0000" y="1386000"/>
            <a:ext cx="1512000" cy="486000"/>
          </a:xfrm>
          <a:prstGeom prst="round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0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 화면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3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업무 활용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6000" y="2070000"/>
            <a:ext cx="2160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16000" y="2070000"/>
            <a:ext cx="43200" cy="1188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1999" y="2196000"/>
            <a:ext cx="190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적용 포인트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41999" y="2430000"/>
            <a:ext cx="1908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고객 ERP DB 접속정보와 중계 테이블 권한을 사전 확인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PK, 처리상태, 전송일시 컬럼으로 중복 반영 방지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스케줄러가 지정 시간에 자동 적재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6000" y="2070000"/>
            <a:ext cx="2484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2070000"/>
            <a:ext cx="43200" cy="1188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2000" y="2196000"/>
            <a:ext cx="2232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고객 기대효과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2000" y="2430000"/>
            <a:ext cx="2232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조회/이체 담당자의 반복 입력 감소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마감 시점 데이터 누락 점검 용이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ERP 화면 수정 없이 기존 업무 흐름 유지</a:t>
            </a:r>
          </a:p>
        </p:txBody>
      </p:sp>
      <p:pic>
        <p:nvPicPr>
          <p:cNvPr id="49" name="Picture 48" descr="bulk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0" y="3401999"/>
            <a:ext cx="4824000" cy="1260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영림원 연계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DB TO DB 기반으로 통합CMS 조회/이체 데이터를 ERP 업무 화면에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1080000" cy="198000"/>
          </a:xfrm>
          <a:prstGeom prst="roundRect">
            <a:avLst/>
          </a:prstGeom>
          <a:solidFill>
            <a:srgbClr val="52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08800"/>
            <a:ext cx="1080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DB TO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86000"/>
            <a:ext cx="302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대표 연계업무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620000"/>
            <a:ext cx="43200" cy="450000"/>
          </a:xfrm>
          <a:prstGeom prst="rect">
            <a:avLst/>
          </a:prstGeom>
          <a:solidFill>
            <a:srgbClr val="52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계좌거래내역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은행 거래내역을 ERP 자금관리 화면에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4000" y="1620000"/>
            <a:ext cx="43200" cy="450000"/>
          </a:xfrm>
          <a:prstGeom prst="rect">
            <a:avLst/>
          </a:prstGeom>
          <a:solidFill>
            <a:srgbClr val="52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법인카드 승인내역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승인번호·공급가액·부가세 기준으로 비용 처리 지원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268000"/>
            <a:ext cx="43200" cy="450000"/>
          </a:xfrm>
          <a:prstGeom prst="rect">
            <a:avLst/>
          </a:prstGeom>
          <a:solidFill>
            <a:srgbClr val="52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법인카드 이용내역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가맹점 정보와 카드 소유자 기준 조회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4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4000" y="2268000"/>
            <a:ext cx="43200" cy="450000"/>
          </a:xfrm>
          <a:prstGeom prst="rect">
            <a:avLst/>
          </a:prstGeom>
          <a:solidFill>
            <a:srgbClr val="52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0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예금주조회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이체 전 계좌 실명 검증 결과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0" y="1080000"/>
            <a:ext cx="4824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처리 흐름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1386000"/>
            <a:ext cx="1512000" cy="486000"/>
          </a:xfrm>
          <a:prstGeom prst="round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통합CMS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데이터 수집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8000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68000" y="1386000"/>
            <a:ext cx="1512000" cy="486000"/>
          </a:xfrm>
          <a:prstGeom prst="round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68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중계 테이블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000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Insert/Update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3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03999" y="1386000"/>
            <a:ext cx="1512000" cy="486000"/>
          </a:xfrm>
          <a:prstGeom prst="round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3999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 배치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7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정합성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0000" y="1386000"/>
            <a:ext cx="1512000" cy="486000"/>
          </a:xfrm>
          <a:prstGeom prst="round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0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 화면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3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업무 활용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6000" y="2070000"/>
            <a:ext cx="2160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16000" y="2070000"/>
            <a:ext cx="43200" cy="1188000"/>
          </a:xfrm>
          <a:prstGeom prst="rect">
            <a:avLst/>
          </a:prstGeom>
          <a:solidFill>
            <a:srgbClr val="527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1999" y="2196000"/>
            <a:ext cx="190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적용 포인트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41999" y="2430000"/>
            <a:ext cx="1908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영림원 기준 테이블의 필수 컬럼과 코드값 매핑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승인/취소 데이터의 중복 처리 규칙 정의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조회 데이터와 ERP 비용처리 항목 연결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6000" y="2070000"/>
            <a:ext cx="2484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2070000"/>
            <a:ext cx="43200" cy="1188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2000" y="2196000"/>
            <a:ext cx="2232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고객 기대효과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2000" y="2430000"/>
            <a:ext cx="2232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카드 데이터 누락 문의 감소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회계 담당자의 증빙 확인 시간 단축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ERP 표준 화면에서 통합 조회 가능</a:t>
            </a:r>
          </a:p>
        </p:txBody>
      </p:sp>
      <p:pic>
        <p:nvPicPr>
          <p:cNvPr id="49" name="Picture 48" descr="corp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0" y="3401999"/>
            <a:ext cx="4824000" cy="1260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SAP 연계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RFC 기반으로 통합CMS 조회/이체 데이터를 ERP 업무 화면에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1080000" cy="198000"/>
          </a:xfrm>
          <a:prstGeom prst="round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08800"/>
            <a:ext cx="1080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RFC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86000"/>
            <a:ext cx="302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대표 연계업무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620000"/>
            <a:ext cx="43200" cy="450000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지급이체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SAP 지급 데이터를 RFC로 받아 통합CMS 이체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4000" y="1620000"/>
            <a:ext cx="43200" cy="450000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법인카드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승인/이용 내역을 SAP Function으로 전달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268000"/>
            <a:ext cx="43200" cy="450000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계좌거래내역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기간별 은행 거래내역을 SAP에 반영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4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4000" y="2268000"/>
            <a:ext cx="43200" cy="450000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0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전자어음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어음 조회/처리 결과를 SAP 업무에 연결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0" y="1080000"/>
            <a:ext cx="4824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처리 흐름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1386000"/>
            <a:ext cx="1512000" cy="486000"/>
          </a:xfrm>
          <a:prstGeom prst="round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통합CMS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전송 데이터 구성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8000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68000" y="1386000"/>
            <a:ext cx="1512000" cy="486000"/>
          </a:xfrm>
          <a:prstGeom prst="round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68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RFC 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000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Function 파라미터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3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03999" y="1386000"/>
            <a:ext cx="1512000" cy="486000"/>
          </a:xfrm>
          <a:prstGeom prst="round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3999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SAP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7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전표/조회 반영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0000" y="1386000"/>
            <a:ext cx="1512000" cy="486000"/>
          </a:xfrm>
          <a:prstGeom prst="round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0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결과 회신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3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Return 메시지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6000" y="2070000"/>
            <a:ext cx="2160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16000" y="2070000"/>
            <a:ext cx="43200" cy="1188000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1999" y="2196000"/>
            <a:ext cx="190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적용 포인트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41999" y="2430000"/>
            <a:ext cx="1908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SAP Function Module별 입력/출력 파라미터 정의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처리일자, 회사코드, 계좌번호 등 필수값 검증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Return 메시지 기준으로 성공/오류 내역 관리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6000" y="2070000"/>
            <a:ext cx="2484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2070000"/>
            <a:ext cx="43200" cy="1188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2000" y="2196000"/>
            <a:ext cx="2232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고객 기대효과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2000" y="2430000"/>
            <a:ext cx="2232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SAP 업무 화면에서 외부 금융 데이터 활용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이체 결과 회신으로 후속 전표 처리 지원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RFC 로그를 기준으로 장애 원인 추적 가능</a:t>
            </a:r>
          </a:p>
        </p:txBody>
      </p:sp>
      <p:pic>
        <p:nvPicPr>
          <p:cNvPr id="49" name="Picture 48" descr="bulk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0" y="3401999"/>
            <a:ext cx="4824000" cy="1260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자체개발 ERP 연계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DB TO DB / API 기반으로 통합CMS 조회/이체 데이터를 ERP 업무 화면에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1080000" cy="198000"/>
          </a:xfrm>
          <a:prstGeom prst="round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08800"/>
            <a:ext cx="1080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DB TO DB /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86000"/>
            <a:ext cx="302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대표 연계업무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620000"/>
            <a:ext cx="43200" cy="4500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법인카드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고객사 카드 모니터링 화면에 승인/이용 데이터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000" y="1620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4000" y="1620000"/>
            <a:ext cx="43200" cy="4500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0" y="1745999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대량이체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1980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고객 개발 시스템의 지급 데이터를 CMS 이체로 연계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268000"/>
            <a:ext cx="43200" cy="4500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세금계산서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매입·매출 조회 데이터를 자체 정산 화면에 반영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4000" y="2268000"/>
            <a:ext cx="153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4000" y="2268000"/>
            <a:ext cx="43200" cy="4500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0000" y="2394000"/>
            <a:ext cx="127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국내/외화송금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2628000"/>
            <a:ext cx="1278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지급 요청과 처리 결과를 개발 규격에 맞춰 송수신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6000" y="1080000"/>
            <a:ext cx="4824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처리 흐름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1386000"/>
            <a:ext cx="1512000" cy="486000"/>
          </a:xfrm>
          <a:prstGeom prst="round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고객 규격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API/DB 정의서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8000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68000" y="1386000"/>
            <a:ext cx="1512000" cy="486000"/>
          </a:xfrm>
          <a:prstGeom prst="round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68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통합CMS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000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데이터 변환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3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03999" y="1386000"/>
            <a:ext cx="1512000" cy="486000"/>
          </a:xfrm>
          <a:prstGeom prst="round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3999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검증/테스트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7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샘플 데이터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999" y="1537200"/>
            <a:ext cx="216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18096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0000" y="1386000"/>
            <a:ext cx="1512000" cy="486000"/>
          </a:xfrm>
          <a:prstGeom prst="round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0000" y="1450800"/>
            <a:ext cx="151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운영 반영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3999" y="1638000"/>
            <a:ext cx="14040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스케줄/로그 관리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6000" y="2070000"/>
            <a:ext cx="2160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16000" y="2070000"/>
            <a:ext cx="43200" cy="11880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1999" y="2196000"/>
            <a:ext cx="190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적용 포인트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41999" y="2430000"/>
            <a:ext cx="1908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고객사 개발 규격서 기준으로 인터페이스를 설계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API와 DB 방식을 업무별로 혼합 적용 가능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테스트 데이터로 필드 길이·코드·금액 정합성 확인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6000" y="2070000"/>
            <a:ext cx="2484000" cy="1188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2070000"/>
            <a:ext cx="43200" cy="1188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2000" y="2196000"/>
            <a:ext cx="2232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고객 기대효과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2000" y="2430000"/>
            <a:ext cx="2232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기존 ERP 기능을 유지하면서 금융 데이터 확장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고객 맞춤 화면에 필요한 컬럼만 선별 제공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추가 업무 연계 시 재사용 가능한 구조</a:t>
            </a:r>
          </a:p>
        </p:txBody>
      </p:sp>
      <p:pic>
        <p:nvPicPr>
          <p:cNvPr id="49" name="Picture 48" descr="corp_car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000" y="3401999"/>
            <a:ext cx="4824000" cy="1260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업무별 활용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통합CMS 연계 데이터가 ERP 업무에서 사용되는 대표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152000"/>
            <a:ext cx="2520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152000"/>
            <a:ext cx="43200" cy="827999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000" y="1278000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법인카드 승인/이용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000" y="1512000"/>
            <a:ext cx="2268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카드사 데이터 수집 → ERP 비용처리/증빙 검토 → 누락·중복 점검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8000" y="1152000"/>
            <a:ext cx="2520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68000" y="1152000"/>
            <a:ext cx="43200" cy="827999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4000" y="1278000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대량이체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4000" y="1512000"/>
            <a:ext cx="2268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ERP 지급대상 생성 → 통합CMS 전송 → 은행 이체 실행 → 결과 회신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6000" y="1152000"/>
            <a:ext cx="2520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76000" y="1152000"/>
            <a:ext cx="43200" cy="827999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2000" y="1278000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계좌거래내역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2000" y="1512000"/>
            <a:ext cx="2268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은행 거래 조회 → ERP 자금일보/수납 화면 반영 → 마감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2232000"/>
            <a:ext cx="2520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232000"/>
            <a:ext cx="43200" cy="827999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" y="2358000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세금계산서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0" y="2592000"/>
            <a:ext cx="2268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홈택스 매입·매출 조회 → ERP 증빙/정산 업무 반영 → 담당자 검토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232000"/>
            <a:ext cx="2520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68000" y="2232000"/>
            <a:ext cx="43200" cy="827999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4000" y="2358000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환율/예금주조회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4000" y="2592000"/>
            <a:ext cx="2268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외부 조회 결과 수집 → ERP 기준정보 또는 지급 검증에 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6000" y="2232000"/>
            <a:ext cx="2520000" cy="827999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76000" y="2232000"/>
            <a:ext cx="43200" cy="827999"/>
          </a:xfrm>
          <a:prstGeom prst="rect">
            <a:avLst/>
          </a:prstGeom>
          <a:solidFill>
            <a:srgbClr val="5D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2000" y="2358000"/>
            <a:ext cx="22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전자어음/B2B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2000" y="2592000"/>
            <a:ext cx="2268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은행/금융기관 자료 조회 → ERP 채권·채무 관리 업무 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62000"/>
            <a:ext cx="54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672C4"/>
                </a:solidFill>
                <a:latin typeface="Malgun Gothic"/>
              </a:rPr>
              <a:t>통합CMS ERP연계 사례집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378000"/>
            <a:ext cx="72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42A48"/>
                </a:solidFill>
                <a:latin typeface="Malgun Gothic"/>
              </a:rPr>
              <a:t>도입 전 확인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684000"/>
            <a:ext cx="72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Malgun Gothic"/>
              </a:rPr>
              <a:t>연계 방식이 달라도 사전 확인 구조를 통일하면 구축과 운영이 안정적입니다.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943200"/>
            <a:ext cx="8496000" cy="1080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134000"/>
          <a:ext cx="8424000" cy="17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000"/>
                <a:gridCol w="2808000"/>
                <a:gridCol w="2808000"/>
              </a:tblGrid>
              <a:tr h="294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43200" marR="43200" marT="21600" marB="21600" anchor="ctr">
                    <a:solidFill>
                      <a:srgbClr val="14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확인 내용</a:t>
                      </a:r>
                    </a:p>
                  </a:txBody>
                  <a:tcPr marL="43200" marR="43200" marT="21600" marB="21600" anchor="ctr">
                    <a:solidFill>
                      <a:srgbClr val="14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담당</a:t>
                      </a:r>
                    </a:p>
                  </a:txBody>
                  <a:tcPr marL="43200" marR="43200" marT="21600" marB="21600" anchor="ctr">
                    <a:solidFill>
                      <a:srgbClr val="142A48"/>
                    </a:solidFill>
                  </a:tcPr>
                </a:tc>
              </a:tr>
              <a:tr h="294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접속정보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ERP 서버 IP, DB 계정, API URL, SAP RFC Destination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고객사/개발사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</a:tr>
              <a:tr h="294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업무별 필수 컬럼, 코드값, 금액/일자 포맷, PK 기준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통합CMS/개발사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</a:tr>
              <a:tr h="294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스케줄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조회·전송 주기, 업무 마감 시간, 재처리 기준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통합CMS/고객사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</a:tr>
              <a:tr h="294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샘플 데이터 반영, ERP 화면 확인, 전송 성공/실패 로그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43200" marR="43200" marT="21600" marB="21600" anchor="ctr">
                    <a:solidFill>
                      <a:srgbClr val="FFFFFF"/>
                    </a:solidFill>
                  </a:tcPr>
                </a:tc>
              </a:tr>
              <a:tr h="294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장애 연락체계, 변경 관리, 추가 연계 요청 절차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43200" marR="43200" marT="21600" marB="2160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0000" y="3131999"/>
            <a:ext cx="4031999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3131999"/>
            <a:ext cx="43200" cy="936000"/>
          </a:xfrm>
          <a:prstGeom prst="rect">
            <a:avLst/>
          </a:prstGeom>
          <a:solidFill>
            <a:srgbClr val="26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3257999"/>
            <a:ext cx="37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권장 진행 순서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" y="3491999"/>
            <a:ext cx="3780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1. 고객 ERP와 연계 방식 확정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2. 업무별 컬럼 매핑표 작성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3. 샘플 데이터 전송 및 ERP 화면 검증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4. 스케줄 적용 후 운영 로그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2000" y="3131999"/>
            <a:ext cx="4031999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2000" y="3131999"/>
            <a:ext cx="43200" cy="936000"/>
          </a:xfrm>
          <a:prstGeom prst="rect">
            <a:avLst/>
          </a:prstGeom>
          <a:solidFill>
            <a:srgbClr val="008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8000" y="3257999"/>
            <a:ext cx="378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Malgun Gothic"/>
              </a:rPr>
              <a:t>사례집 활용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8000" y="3491999"/>
            <a:ext cx="3780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ERP사별 표준 설명자료로 사용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영업/구축 미팅에서 프로토콜 차이를 간단히 안내</a:t>
            </a:r>
          </a:p>
          <a:p>
            <a:pPr>
              <a:spcAft>
                <a:spcPts val="400"/>
              </a:spcAft>
              <a:defRPr sz="930">
                <a:solidFill>
                  <a:srgbClr val="1F2937"/>
                </a:solidFill>
                <a:latin typeface="Malgun Gothic"/>
              </a:defRPr>
            </a:pPr>
            <a:r>
              <a:t>화면 예시와 업무 시나리오를 함께 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000" y="4878000"/>
            <a:ext cx="180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Malgun Gothic"/>
              </a:rPr>
              <a:t>통합CMS 프로그램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4000" y="4878000"/>
            <a:ext cx="360000" cy="1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