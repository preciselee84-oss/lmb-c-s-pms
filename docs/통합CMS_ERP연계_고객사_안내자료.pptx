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36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2000" y="396000"/>
            <a:ext cx="2376000" cy="223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424800"/>
            <a:ext cx="237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882000"/>
            <a:ext cx="5688000" cy="39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algun Gothic"/>
              </a:rPr>
              <a:t>통합CMS ERP연계
고객사 안내자료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0000" y="1602000"/>
            <a:ext cx="5256000" cy="198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0">
                <a:solidFill>
                  <a:srgbClr val="E5F7F3"/>
                </a:solidFill>
                <a:latin typeface="Malgun Gothic"/>
              </a:rPr>
              <a:t>은행 업무 결과를 ERP 회계·자금 업무로 자연스럽게 연결합니다.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000" y="2034000"/>
            <a:ext cx="1908000" cy="720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0000" y="2034000"/>
            <a:ext cx="190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6000" y="2160000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2188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156400"/>
            <a:ext cx="1332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000" y="2404800"/>
            <a:ext cx="1583999" cy="27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계좌·법인카드·세금계산서 데이터를 자동 수집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84000" y="2034000"/>
            <a:ext cx="1908000" cy="720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84000" y="2034000"/>
            <a:ext cx="190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10000" y="2160000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10000" y="2188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4000" y="2156400"/>
            <a:ext cx="1332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전송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6000" y="2404800"/>
            <a:ext cx="1583999" cy="27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API·DB·RFC 방식으로 ERP에 전달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8000" y="2034000"/>
            <a:ext cx="1908000" cy="720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18000" y="2034000"/>
            <a:ext cx="190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44000" y="2160000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4000" y="2188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8000" y="2156400"/>
            <a:ext cx="1332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활용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0000" y="2404800"/>
            <a:ext cx="1583999" cy="27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전표·정산·마감 업무에서 바로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8000" y="720000"/>
            <a:ext cx="2052000" cy="3168000"/>
          </a:xfrm>
          <a:prstGeom prst="roundRect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999" y="882000"/>
            <a:ext cx="1800000" cy="1080000"/>
          </a:xfrm>
          <a:prstGeom prst="rect">
            <a:avLst/>
          </a:prstGeom>
        </p:spPr>
      </p:pic>
      <p:pic>
        <p:nvPicPr>
          <p:cNvPr id="28" name="Picture 27" descr="bulk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999" y="2253391"/>
            <a:ext cx="1800000" cy="96521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50000" y="4572000"/>
            <a:ext cx="3600000" cy="129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E5F7F3"/>
                </a:solidFill>
                <a:latin typeface="Malgun Gothic"/>
              </a:rPr>
              <a:t>하나은행 통합CMS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ERP연계를 도입하면 업무 흐름이 짧아집니다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은행 조회·이체 결과가 ERP 화면과 마감 데이터로 이어집니다.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은행/카드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거래·승인·이체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통합CMS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수집·검증·스케줄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연계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API·DB·RFC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ERP 업무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전표·정산·마감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" y="2052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2000" y="2178000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수기 입력 감소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8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엑셀 다운로드, 복사/붙여넣기, ERP 재입력 과정을 줄입니다.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담당자는 입력보다 검토와 승인 업무에 집중할 수 있습니다.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11999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11999" y="2052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37999" y="2178000"/>
            <a:ext cx="259200" cy="2592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37999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1999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데이터 정합성 확보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3999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사업자번호, 계좌번호, 승인번호, 금액 등 핵심값을 기준으로 중복과 누락을 점검합니다.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전송 로그로 오류 구간을 빠르게 확인합니다.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28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28000" y="2052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4000" y="2178000"/>
            <a:ext cx="259200" cy="2592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4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8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마감시간 단축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0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계좌거래내역, 법인카드, 이체 결과가 ERP에 연결되어 월말 확인 시간이 줄어듭니다.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반복 조회와 수동 대조 부담을 낮춥니다.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ERP사별 권장 연계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환경에 맞춰 안정적인 프로토콜을 선택합니다.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0000" y="1152000"/>
          <a:ext cx="8424000" cy="183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000"/>
                <a:gridCol w="2106000"/>
                <a:gridCol w="2106000"/>
                <a:gridCol w="2106000"/>
              </a:tblGrid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ERP사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권장 프로토콜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주요 연계업무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고객사 확인사항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아마란스 10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계좌거래내역, 법인카드, 세금계산서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 URL, 인증정보, 응답코드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옴니이솔 10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계좌원장, 집금내역, 대량이체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접속정보, 중계 테이블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영림원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법인카드 승인/이용, 거래내역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컬럼 매핑, 코드값, 처리상태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SAP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지급이체, 법인카드, 전표처리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 Destination, Function 파라미터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600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자체개발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 / 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고객사 맞춤 조회·이체·정산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개발 규격서, 테스트 데이터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9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6000" y="3240000"/>
            <a:ext cx="3996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안내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ERP 제품명보다 중요한 것은 고객사 운영 방식입니다.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조회 업무와 이체 업무를 나누어 프로토콜을 정하면 장애 대응이 쉬워집니다.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1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6000" y="3240000"/>
            <a:ext cx="3996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사전 준비자료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ERP 접속정보, 연계 테이블/API 명세, 업무별 샘플 데이터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운영 담당자와 개발 담당자 연락처를 함께 준비하면 구축 기간을 줄일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아마란스 10 연계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API 방식으로 통합CMS 데이터를 ERP 업무에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422000"/>
            <a:ext cx="3780000" cy="27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1">
                <a:solidFill>
                  <a:srgbClr val="12363F"/>
                </a:solidFill>
                <a:latin typeface="Malgun Gothic"/>
              </a:rPr>
              <a:t>표준 API 호출로 통합CMS 조회/전송 결과를 아마란스 업무 화면에 반영합니다.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000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000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세금계산서 매입·매출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1999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3999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API 인증정보와 호출 URL 확인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응답코드별 성공/실패 로그 관리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재전송 기준 사전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" y="2790000"/>
            <a:ext cx="496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6000" y="2790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2912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000" y="3160800"/>
            <a:ext cx="4644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ERP 화면에서 최신 금융 데이터를 빠르게 확인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수기 업로드와 입력 오류 감소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마감 전 데이터 검토 시간이 단축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52000" y="1098000"/>
            <a:ext cx="3024000" cy="25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554866"/>
            <a:ext cx="2772000" cy="16782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옴니이솔 10 연계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422000"/>
            <a:ext cx="3780000" cy="27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1">
                <a:solidFill>
                  <a:srgbClr val="12363F"/>
                </a:solidFill>
                <a:latin typeface="Malgun Gothic"/>
              </a:rPr>
              <a:t>ERP DB 중계 테이블에 데이터를 적재해 기존 업무 화면에서 활용합니다.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000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000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계좌원장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집금내역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대량이체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1999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3999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DB 접속 권한과 IP 허용 확인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PK와 처리상태 컬럼 기준 정의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스케줄러 실행 시간 협의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" y="2790000"/>
            <a:ext cx="496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6000" y="2790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2912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000" y="3160800"/>
            <a:ext cx="4644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ERP 표준 업무 흐름을 유지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중복 반영과 누락 점검 용이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운영자가 DB 처리상태로 장애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52000" y="1098000"/>
            <a:ext cx="3024000" cy="25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650782"/>
            <a:ext cx="2772000" cy="148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영림원 연계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422000"/>
            <a:ext cx="3780000" cy="27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1">
                <a:solidFill>
                  <a:srgbClr val="12363F"/>
                </a:solidFill>
                <a:latin typeface="Malgun Gothic"/>
              </a:rPr>
              <a:t>영림원 기준 테이블 구조에 맞춰 거래내역과 법인카드 데이터를 연결합니다.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000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000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법인카드 승인내역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법인카드 이용내역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1999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3999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ERP 기준 코드와 필수 컬럼 확인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승인/취소 데이터 처리 규칙 정의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전송 후 ERP 조회 화면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" y="2790000"/>
            <a:ext cx="496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6000" y="2790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2912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000" y="3160800"/>
            <a:ext cx="4644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회계 담당자의 증빙 확인 시간 감소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카드 데이터 누락 문의 대응이 쉬움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조회부터 비용처리까지 흐름 단순화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52000" y="1098000"/>
            <a:ext cx="3024000" cy="25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rp_c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242000"/>
            <a:ext cx="2772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SAP 연계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RFC 방식으로 통합CMS 데이터를 ERP 업무에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RFC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422000"/>
            <a:ext cx="3780000" cy="27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1">
                <a:solidFill>
                  <a:srgbClr val="12363F"/>
                </a:solidFill>
                <a:latin typeface="Malgun Gothic"/>
              </a:rPr>
              <a:t>SAP RFC Function을 호출해 지급·카드·거래 데이터를 송수신합니다.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000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000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지급이체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1999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3999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RFC Destination과 권한 확인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Function별 입력/출력 파라미터 정의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Return 메시지 기준 오류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" y="2790000"/>
            <a:ext cx="496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6000" y="2790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2912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000" y="3160800"/>
            <a:ext cx="4644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SAP 기준 업무 승인 흐름과 연동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이체 결과 회신으로 후속 전표 처리 지원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대형 고객사 표준 통제 구조에 적합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52000" y="1098000"/>
            <a:ext cx="3024000" cy="25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650782"/>
            <a:ext cx="2772000" cy="148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자체개발 ERP 연계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/ API 방식으로 통합CMS 데이터를 ERP 업무에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 /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422000"/>
            <a:ext cx="3780000" cy="27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1">
                <a:solidFill>
                  <a:srgbClr val="12363F"/>
                </a:solidFill>
                <a:latin typeface="Malgun Gothic"/>
              </a:rPr>
              <a:t>고객사 개발 규격에 맞춰 업무별로 DB와 API 방식을 유연하게 적용합니다.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000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000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법인카드 모니터링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대량이체·급여이체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세금계산서·정산 데이터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1999" y="1835999"/>
            <a:ext cx="2412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3999" y="2206800"/>
            <a:ext cx="2088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고객사 인터페이스 정의서 확인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샘플 데이터로 필드 길이와 코드 검증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업무별 API/DB 혼합 적용 가능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000" y="2790000"/>
            <a:ext cx="496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6000" y="2790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2912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000" y="3160800"/>
            <a:ext cx="46440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기존 ERP 화면과 프로세스를 유지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필요한 컬럼만 맞춤 제공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추가 업무 확장이 쉬운 구조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52000" y="1098000"/>
            <a:ext cx="3024000" cy="25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rp_car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242000"/>
            <a:ext cx="2772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 예시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화면에서 통합CMS 데이터를 조회하고 이체 결과를 확인합니다.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206000"/>
            <a:ext cx="3851999" cy="205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3999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법인카드 내역 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ulk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000" y="1206000"/>
            <a:ext cx="3851999" cy="205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24000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지급 이체 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" y="3960000"/>
            <a:ext cx="8424000" cy="503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0000" y="3960000"/>
            <a:ext cx="8424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00" y="4082400"/>
            <a:ext cx="8100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화면 활용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000" y="4330800"/>
            <a:ext cx="8100000" cy="6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조회 화면에서는 카드번호·승인일자·금액·가맹점 정보를 확인하고, 이체 화면에서는 ERP 지급대상을 통합CMS로 전송해 처리 결과를 회신받습니다.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8000" y="208800"/>
            <a:ext cx="288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>
                <a:solidFill>
                  <a:srgbClr val="00A888"/>
                </a:solidFill>
                <a:latin typeface="Malgun Gothic"/>
              </a:rPr>
              <a:t>CMS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60000"/>
            <a:ext cx="684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도입 진행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200" y="666000"/>
            <a:ext cx="684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자료 확인부터 운영 반영까지 단계별로 진행합니다.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1. 연계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업무·ERP·프로토콜 확정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2. 환경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서버·DB·API·RFC 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3. 개발/설정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컬럼 매핑·스케줄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4. 검증/오픈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샘플 반영·운영 전환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" y="2070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8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준비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ERP 담당자/개발사 연락처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서버 IP, DB/API/RFC 접속정보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업무별 테스트 데이터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1999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11999" y="2070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3999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통합CMS 준비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3999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업무별 연계 설정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스케줄러 및 로그 확인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조회/전송 테스트 지원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8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28000" y="2070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0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오픈 후 운영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0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전송 성공/실패 모니터링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월마감 전 누락 점검</a:t>
            </a:r>
          </a:p>
          <a:p>
            <a:pPr>
              <a:spcAft>
                <a:spcPts val="300"/>
              </a:spcAft>
              <a:defRPr sz="930">
                <a:solidFill>
                  <a:srgbClr val="232D34"/>
                </a:solidFill>
                <a:latin typeface="Malgun Gothic"/>
              </a:defRPr>
            </a:pPr>
            <a:r>
              <a:t>추가 연계업무 확장 협의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6000" y="3636000"/>
            <a:ext cx="8352000" cy="450000"/>
          </a:xfrm>
          <a:prstGeom prst="roundRect">
            <a:avLst/>
          </a:prstGeom>
          <a:solidFill>
            <a:srgbClr val="E5F7F3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999" y="3761999"/>
            <a:ext cx="8063999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50" b="1">
                <a:solidFill>
                  <a:srgbClr val="006052"/>
                </a:solidFill>
                <a:latin typeface="Malgun Gothic"/>
              </a:rPr>
              <a:t>통합CMS ERP연계는 고객사 업무 방식에 맞춰 조회·이체·정산 데이터를 연결하는 고객 맞춤형 구축 서비스입니다.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