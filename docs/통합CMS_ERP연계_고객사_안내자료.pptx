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6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680"/>
          </a:xfrm>
          <a:prstGeom prst="rect">
            <a:avLst/>
          </a:prstGeom>
          <a:solidFill>
            <a:srgbClr val="12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3600"/>
          </a:xfrm>
          <a:prstGeom prst="rect">
            <a:avLst/>
          </a:prstGeom>
          <a:solidFill>
            <a:srgbClr val="00A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0000" y="360000"/>
            <a:ext cx="8424000" cy="3150000"/>
          </a:xfrm>
          <a:prstGeom prst="roundRect">
            <a:avLst/>
          </a:prstGeom>
          <a:solidFill>
            <a:srgbClr val="FFFFFF"/>
          </a:solidFill>
          <a:ln>
            <a:solidFill>
              <a:srgbClr val="D7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0000" y="360000"/>
            <a:ext cx="8424000" cy="162000"/>
          </a:xfrm>
          <a:prstGeom prst="rect">
            <a:avLst/>
          </a:prstGeom>
          <a:solidFill>
            <a:srgbClr val="FFFFFF"/>
          </a:solidFill>
          <a:ln>
            <a:solidFill>
              <a:srgbClr val="E1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0000" y="388800"/>
            <a:ext cx="1080000" cy="64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40" b="0">
                <a:solidFill>
                  <a:srgbClr val="5F7179"/>
                </a:solidFill>
                <a:latin typeface="Malgun Gothic"/>
              </a:rPr>
              <a:t>화면잠금   로그인설정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48000" y="388800"/>
            <a:ext cx="2520000" cy="64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40" b="0">
                <a:solidFill>
                  <a:srgbClr val="5F7179"/>
                </a:solidFill>
                <a:latin typeface="Malgun Gothic"/>
              </a:rPr>
              <a:t>웹케시에앤에스주식회사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80000" y="388800"/>
            <a:ext cx="1224000" cy="64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459" b="1">
                <a:solidFill>
                  <a:srgbClr val="006052"/>
                </a:solidFill>
                <a:latin typeface="Malgun Gothic"/>
              </a:rPr>
              <a:t>결재함  보고서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522000"/>
            <a:ext cx="8424000" cy="244800"/>
          </a:xfrm>
          <a:prstGeom prst="rect">
            <a:avLst/>
          </a:prstGeom>
          <a:solidFill>
            <a:srgbClr val="FFFFFF"/>
          </a:solidFill>
          <a:ln>
            <a:solidFill>
              <a:srgbClr val="EBE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6000" y="576000"/>
            <a:ext cx="792000" cy="9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60" b="1">
                <a:solidFill>
                  <a:srgbClr val="00A888"/>
                </a:solidFill>
                <a:latin typeface="Malgun Gothic"/>
              </a:rPr>
              <a:t>하나통합CMS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35999" y="583200"/>
            <a:ext cx="576000" cy="79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80" b="1">
                <a:solidFill>
                  <a:srgbClr val="232D34"/>
                </a:solidFill>
                <a:latin typeface="Malgun Gothic"/>
              </a:rPr>
              <a:t>통합자금관리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0000" y="583200"/>
            <a:ext cx="576000" cy="79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80" b="1">
                <a:solidFill>
                  <a:srgbClr val="232D34"/>
                </a:solidFill>
                <a:latin typeface="Malgun Gothic"/>
              </a:rPr>
              <a:t>자금수납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4000" y="583200"/>
            <a:ext cx="576000" cy="79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80" b="1">
                <a:solidFill>
                  <a:srgbClr val="232D34"/>
                </a:solidFill>
                <a:latin typeface="Malgun Gothic"/>
              </a:rPr>
              <a:t>자금지급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8000" y="583200"/>
            <a:ext cx="576000" cy="79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80" b="1">
                <a:solidFill>
                  <a:srgbClr val="232D34"/>
                </a:solidFill>
                <a:latin typeface="Malgun Gothic"/>
              </a:rPr>
              <a:t>법인카드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583200"/>
            <a:ext cx="576000" cy="79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80" b="1">
                <a:solidFill>
                  <a:srgbClr val="232D34"/>
                </a:solidFill>
                <a:latin typeface="Malgun Gothic"/>
              </a:rPr>
              <a:t>외환/수출입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6000" y="583200"/>
            <a:ext cx="576000" cy="79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80" b="1">
                <a:solidFill>
                  <a:srgbClr val="232D34"/>
                </a:solidFill>
                <a:latin typeface="Malgun Gothic"/>
              </a:rPr>
              <a:t>부가서비스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0000" y="583200"/>
            <a:ext cx="576000" cy="79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80" b="1">
                <a:solidFill>
                  <a:srgbClr val="232D34"/>
                </a:solidFill>
                <a:latin typeface="Malgun Gothic"/>
              </a:rPr>
              <a:t>설정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" y="766800"/>
            <a:ext cx="8424000" cy="1026000"/>
          </a:xfrm>
          <a:prstGeom prst="rect">
            <a:avLst/>
          </a:prstGeom>
          <a:solidFill>
            <a:srgbClr val="009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980000" y="990000"/>
            <a:ext cx="810000" cy="558000"/>
          </a:xfrm>
          <a:prstGeom prst="roundRect">
            <a:avLst/>
          </a:prstGeom>
          <a:solidFill>
            <a:srgbClr val="FFFFFF"/>
          </a:solidFill>
          <a:ln>
            <a:solidFill>
              <a:srgbClr val="C6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080800" y="1090800"/>
            <a:ext cx="608400" cy="252000"/>
          </a:xfrm>
          <a:prstGeom prst="roundRect">
            <a:avLst/>
          </a:prstGeom>
          <a:solidFill>
            <a:srgbClr val="F5FAF9"/>
          </a:solidFill>
          <a:ln>
            <a:solidFill>
              <a:srgbClr val="C6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70000" y="1368000"/>
            <a:ext cx="630000" cy="9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50" b="1">
                <a:solidFill>
                  <a:srgbClr val="232D34"/>
                </a:solidFill>
                <a:latin typeface="Malgun Gothic"/>
              </a:rPr>
              <a:t>통합계좌조회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98000" y="990000"/>
            <a:ext cx="810000" cy="558000"/>
          </a:xfrm>
          <a:prstGeom prst="roundRect">
            <a:avLst/>
          </a:prstGeom>
          <a:solidFill>
            <a:srgbClr val="FFFFFF"/>
          </a:solidFill>
          <a:ln>
            <a:solidFill>
              <a:srgbClr val="C6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998800" y="1090800"/>
            <a:ext cx="608400" cy="252000"/>
          </a:xfrm>
          <a:prstGeom prst="roundRect">
            <a:avLst/>
          </a:prstGeom>
          <a:solidFill>
            <a:srgbClr val="F5FAF9"/>
          </a:solidFill>
          <a:ln>
            <a:solidFill>
              <a:srgbClr val="C6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88000" y="1368000"/>
            <a:ext cx="630000" cy="9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50" b="1">
                <a:solidFill>
                  <a:srgbClr val="232D34"/>
                </a:solidFill>
                <a:latin typeface="Malgun Gothic"/>
              </a:rPr>
              <a:t>이체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16000" y="990000"/>
            <a:ext cx="810000" cy="558000"/>
          </a:xfrm>
          <a:prstGeom prst="roundRect">
            <a:avLst/>
          </a:prstGeom>
          <a:solidFill>
            <a:srgbClr val="FFFFFF"/>
          </a:solidFill>
          <a:ln>
            <a:solidFill>
              <a:srgbClr val="C6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916800" y="1090800"/>
            <a:ext cx="608400" cy="252000"/>
          </a:xfrm>
          <a:prstGeom prst="roundRect">
            <a:avLst/>
          </a:prstGeom>
          <a:solidFill>
            <a:srgbClr val="F5FAF9"/>
          </a:solidFill>
          <a:ln>
            <a:solidFill>
              <a:srgbClr val="C6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06000" y="1368000"/>
            <a:ext cx="630000" cy="9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50" b="1">
                <a:solidFill>
                  <a:srgbClr val="232D34"/>
                </a:solidFill>
                <a:latin typeface="Malgun Gothic"/>
              </a:rPr>
              <a:t>대량이체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34000" y="990000"/>
            <a:ext cx="810000" cy="558000"/>
          </a:xfrm>
          <a:prstGeom prst="roundRect">
            <a:avLst/>
          </a:prstGeom>
          <a:solidFill>
            <a:srgbClr val="FFFFFF"/>
          </a:solidFill>
          <a:ln>
            <a:solidFill>
              <a:srgbClr val="C6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834800" y="1090800"/>
            <a:ext cx="608400" cy="252000"/>
          </a:xfrm>
          <a:prstGeom prst="roundRect">
            <a:avLst/>
          </a:prstGeom>
          <a:solidFill>
            <a:srgbClr val="F5FAF9"/>
          </a:solidFill>
          <a:ln>
            <a:solidFill>
              <a:srgbClr val="C6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24000" y="1368000"/>
            <a:ext cx="630000" cy="9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50" b="1">
                <a:solidFill>
                  <a:srgbClr val="232D34"/>
                </a:solidFill>
                <a:latin typeface="Malgun Gothic"/>
              </a:rPr>
              <a:t>계좌관리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52000" y="990000"/>
            <a:ext cx="810000" cy="558000"/>
          </a:xfrm>
          <a:prstGeom prst="roundRect">
            <a:avLst/>
          </a:prstGeom>
          <a:solidFill>
            <a:srgbClr val="FFFFFF"/>
          </a:solidFill>
          <a:ln>
            <a:solidFill>
              <a:srgbClr val="C6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752800" y="1090800"/>
            <a:ext cx="608400" cy="252000"/>
          </a:xfrm>
          <a:prstGeom prst="roundRect">
            <a:avLst/>
          </a:prstGeom>
          <a:solidFill>
            <a:srgbClr val="F5FAF9"/>
          </a:solidFill>
          <a:ln>
            <a:solidFill>
              <a:srgbClr val="C6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42000" y="1368000"/>
            <a:ext cx="630000" cy="9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50" b="1">
                <a:solidFill>
                  <a:srgbClr val="232D34"/>
                </a:solidFill>
                <a:latin typeface="Malgun Gothic"/>
              </a:rPr>
              <a:t>예금주조회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70000" y="990000"/>
            <a:ext cx="810000" cy="558000"/>
          </a:xfrm>
          <a:prstGeom prst="roundRect">
            <a:avLst/>
          </a:prstGeom>
          <a:solidFill>
            <a:srgbClr val="FFFFFF"/>
          </a:solidFill>
          <a:ln>
            <a:solidFill>
              <a:srgbClr val="C6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670800" y="1090800"/>
            <a:ext cx="608400" cy="252000"/>
          </a:xfrm>
          <a:prstGeom prst="roundRect">
            <a:avLst/>
          </a:prstGeom>
          <a:solidFill>
            <a:srgbClr val="F5FAF9"/>
          </a:solidFill>
          <a:ln>
            <a:solidFill>
              <a:srgbClr val="C6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60000" y="1368000"/>
            <a:ext cx="630000" cy="9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50" b="1">
                <a:solidFill>
                  <a:srgbClr val="232D34"/>
                </a:solidFill>
                <a:latin typeface="Malgun Gothic"/>
              </a:rPr>
              <a:t>통합공과금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80000" y="1925999"/>
            <a:ext cx="827999" cy="9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50" b="1">
                <a:solidFill>
                  <a:srgbClr val="232D34"/>
                </a:solidFill>
                <a:latin typeface="Malgun Gothic"/>
              </a:rPr>
              <a:t>금융자산현황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80000" y="2051999"/>
            <a:ext cx="3564000" cy="7200"/>
          </a:xfrm>
          <a:prstGeom prst="rect">
            <a:avLst/>
          </a:prstGeom>
          <a:solidFill>
            <a:srgbClr val="232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80000" y="2286000"/>
            <a:ext cx="864000" cy="115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 b="1">
                <a:solidFill>
                  <a:srgbClr val="232D34"/>
                </a:solidFill>
                <a:latin typeface="Malgun Gothic"/>
              </a:rPr>
              <a:t>금융 총자산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00000" y="2250000"/>
            <a:ext cx="936000" cy="162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00A888"/>
                </a:solidFill>
                <a:latin typeface="Malgun Gothic"/>
              </a:rPr>
              <a:t>1,838,188 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980000" y="2718000"/>
            <a:ext cx="1080000" cy="450000"/>
          </a:xfrm>
          <a:prstGeom prst="roundRect">
            <a:avLst/>
          </a:prstGeom>
          <a:solidFill>
            <a:srgbClr val="FFFFFF"/>
          </a:solidFill>
          <a:ln>
            <a:solidFill>
              <a:srgbClr val="00A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70000" y="2808000"/>
            <a:ext cx="450000" cy="79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40" b="1">
                <a:solidFill>
                  <a:srgbClr val="232D34"/>
                </a:solidFill>
                <a:latin typeface="Malgun Gothic"/>
              </a:rPr>
              <a:t>외화수시입출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38000" y="2808000"/>
            <a:ext cx="360000" cy="79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00" b="1">
                <a:solidFill>
                  <a:srgbClr val="00A888"/>
                </a:solidFill>
                <a:latin typeface="Malgun Gothic"/>
              </a:rPr>
              <a:t>43 계좌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70000" y="2962800"/>
            <a:ext cx="882000" cy="79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620" b="1">
                <a:solidFill>
                  <a:srgbClr val="232D34"/>
                </a:solidFill>
                <a:latin typeface="Malgun Gothic"/>
              </a:rPr>
              <a:t>1,793,811 원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168000" y="2718000"/>
            <a:ext cx="1080000" cy="450000"/>
          </a:xfrm>
          <a:prstGeom prst="roundRect">
            <a:avLst/>
          </a:prstGeom>
          <a:solidFill>
            <a:srgbClr val="FFFFFF"/>
          </a:solidFill>
          <a:ln>
            <a:solidFill>
              <a:srgbClr val="00A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58000" y="2808000"/>
            <a:ext cx="450000" cy="79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40" b="1">
                <a:solidFill>
                  <a:srgbClr val="232D34"/>
                </a:solidFill>
                <a:latin typeface="Malgun Gothic"/>
              </a:rPr>
              <a:t>예적금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26000" y="2808000"/>
            <a:ext cx="360000" cy="79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00" b="1">
                <a:solidFill>
                  <a:srgbClr val="00A888"/>
                </a:solidFill>
                <a:latin typeface="Malgun Gothic"/>
              </a:rPr>
              <a:t>5 계좌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58000" y="2962800"/>
            <a:ext cx="882000" cy="79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620" b="1">
                <a:solidFill>
                  <a:srgbClr val="232D34"/>
                </a:solidFill>
                <a:latin typeface="Malgun Gothic"/>
              </a:rPr>
              <a:t>44,377 원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56000" y="2718000"/>
            <a:ext cx="1080000" cy="450000"/>
          </a:xfrm>
          <a:prstGeom prst="roundRect">
            <a:avLst/>
          </a:prstGeom>
          <a:solidFill>
            <a:srgbClr val="FFFFFF"/>
          </a:solidFill>
          <a:ln>
            <a:solidFill>
              <a:srgbClr val="00A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46000" y="2808000"/>
            <a:ext cx="450000" cy="79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40" b="1">
                <a:solidFill>
                  <a:srgbClr val="232D34"/>
                </a:solidFill>
                <a:latin typeface="Malgun Gothic"/>
              </a:rPr>
              <a:t>대출금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14000" y="2808000"/>
            <a:ext cx="360000" cy="79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500" b="1">
                <a:solidFill>
                  <a:srgbClr val="00A888"/>
                </a:solidFill>
                <a:latin typeface="Malgun Gothic"/>
              </a:rPr>
              <a:t>3 계좌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46000" y="2962800"/>
            <a:ext cx="882000" cy="79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620" b="1">
                <a:solidFill>
                  <a:srgbClr val="232D34"/>
                </a:solidFill>
                <a:latin typeface="Malgun Gothic"/>
              </a:rPr>
              <a:t>310,497,000 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60000" y="1925999"/>
            <a:ext cx="1007999" cy="93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50" b="1">
                <a:solidFill>
                  <a:srgbClr val="232D34"/>
                </a:solidFill>
                <a:latin typeface="Malgun Gothic"/>
              </a:rPr>
              <a:t>금융사별 자금현황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760000" y="2051999"/>
            <a:ext cx="1728000" cy="7200"/>
          </a:xfrm>
          <a:prstGeom prst="rect">
            <a:avLst/>
          </a:prstGeom>
          <a:solidFill>
            <a:srgbClr val="232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5760000" y="2124000"/>
          <a:ext cx="1728000" cy="91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00"/>
                <a:gridCol w="576000"/>
                <a:gridCol w="576000"/>
              </a:tblGrid>
              <a:tr h="183599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No</a:t>
                      </a:r>
                    </a:p>
                  </a:txBody>
                  <a:tcPr marL="36000" marR="36000" marT="21600" marB="21600" anchor="ctr">
                    <a:solidFill>
                      <a:srgbClr val="1236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은행명</a:t>
                      </a:r>
                    </a:p>
                  </a:txBody>
                  <a:tcPr marL="36000" marR="36000" marT="21600" marB="21600" anchor="ctr">
                    <a:solidFill>
                      <a:srgbClr val="1236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잔액</a:t>
                      </a:r>
                    </a:p>
                  </a:txBody>
                  <a:tcPr marL="36000" marR="36000" marT="21600" marB="21600" anchor="ctr">
                    <a:solidFill>
                      <a:srgbClr val="12363F"/>
                    </a:solidFill>
                  </a:tcPr>
                </a:tc>
              </a:tr>
              <a:tr h="183599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D34"/>
                          </a:solidFill>
                          <a:latin typeface="Malgun Gothic"/>
                        </a:rPr>
                        <a:t>1</a:t>
                      </a:r>
                    </a:p>
                  </a:txBody>
                  <a:tcPr marL="36000" marR="36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D34"/>
                          </a:solidFill>
                          <a:latin typeface="Malgun Gothic"/>
                        </a:rPr>
                        <a:t>하나은행</a:t>
                      </a:r>
                    </a:p>
                  </a:txBody>
                  <a:tcPr marL="36000" marR="36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D34"/>
                          </a:solidFill>
                          <a:latin typeface="Malgun Gothic"/>
                        </a:rPr>
                        <a:t>82,029</a:t>
                      </a:r>
                    </a:p>
                  </a:txBody>
                  <a:tcPr marL="36000" marR="36000" marT="21600" marB="21600" anchor="ctr">
                    <a:solidFill>
                      <a:srgbClr val="FFFFFF"/>
                    </a:solidFill>
                  </a:tcPr>
                </a:tc>
              </a:tr>
              <a:tr h="183599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D34"/>
                          </a:solidFill>
                          <a:latin typeface="Malgun Gothic"/>
                        </a:rPr>
                        <a:t>2</a:t>
                      </a:r>
                    </a:p>
                  </a:txBody>
                  <a:tcPr marL="36000" marR="36000" marT="21600" marB="21600" anchor="ctr">
                    <a:solidFill>
                      <a:srgbClr val="E5F7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D34"/>
                          </a:solidFill>
                          <a:latin typeface="Malgun Gothic"/>
                        </a:rPr>
                        <a:t>경남은행</a:t>
                      </a:r>
                    </a:p>
                  </a:txBody>
                  <a:tcPr marL="36000" marR="36000" marT="21600" marB="21600" anchor="ctr">
                    <a:solidFill>
                      <a:srgbClr val="E5F7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D34"/>
                          </a:solidFill>
                          <a:latin typeface="Malgun Gothic"/>
                        </a:rPr>
                        <a:t>4,197</a:t>
                      </a:r>
                    </a:p>
                  </a:txBody>
                  <a:tcPr marL="36000" marR="36000" marT="21600" marB="21600" anchor="ctr">
                    <a:solidFill>
                      <a:srgbClr val="E5F7F3"/>
                    </a:solidFill>
                  </a:tcPr>
                </a:tc>
              </a:tr>
              <a:tr h="183599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D34"/>
                          </a:solidFill>
                          <a:latin typeface="Malgun Gothic"/>
                        </a:rPr>
                        <a:t>3</a:t>
                      </a:r>
                    </a:p>
                  </a:txBody>
                  <a:tcPr marL="36000" marR="36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D34"/>
                          </a:solidFill>
                          <a:latin typeface="Malgun Gothic"/>
                        </a:rPr>
                        <a:t>기업은행</a:t>
                      </a:r>
                    </a:p>
                  </a:txBody>
                  <a:tcPr marL="36000" marR="36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D34"/>
                          </a:solidFill>
                          <a:latin typeface="Malgun Gothic"/>
                        </a:rPr>
                        <a:t>1,499,339</a:t>
                      </a:r>
                    </a:p>
                  </a:txBody>
                  <a:tcPr marL="36000" marR="36000" marT="21600" marB="21600" anchor="ctr">
                    <a:solidFill>
                      <a:srgbClr val="FFFFFF"/>
                    </a:solidFill>
                  </a:tcPr>
                </a:tc>
              </a:tr>
              <a:tr h="183603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D34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36000" marR="36000" marT="21600" marB="21600" anchor="ctr">
                    <a:solidFill>
                      <a:srgbClr val="E5F7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D34"/>
                          </a:solidFill>
                          <a:latin typeface="Malgun Gothic"/>
                        </a:rPr>
                        <a:t>농협</a:t>
                      </a:r>
                    </a:p>
                  </a:txBody>
                  <a:tcPr marL="36000" marR="36000" marT="21600" marB="21600" anchor="ctr">
                    <a:solidFill>
                      <a:srgbClr val="E5F7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D34"/>
                          </a:solidFill>
                          <a:latin typeface="Malgun Gothic"/>
                        </a:rPr>
                        <a:t>66,482</a:t>
                      </a:r>
                    </a:p>
                  </a:txBody>
                  <a:tcPr marL="36000" marR="36000" marT="21600" marB="21600" anchor="ctr">
                    <a:solidFill>
                      <a:srgbClr val="E5F7F3"/>
                    </a:solidFill>
                  </a:tcPr>
                </a:tc>
              </a:tr>
            </a:tbl>
          </a:graphicData>
        </a:graphic>
      </p:graphicFrame>
      <p:sp>
        <p:nvSpPr>
          <p:cNvPr id="56" name="TextBox 55"/>
          <p:cNvSpPr txBox="1"/>
          <p:nvPr/>
        </p:nvSpPr>
        <p:spPr>
          <a:xfrm>
            <a:off x="1980000" y="3366000"/>
            <a:ext cx="720000" cy="8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00" b="1">
                <a:solidFill>
                  <a:srgbClr val="232D34"/>
                </a:solidFill>
                <a:latin typeface="Malgun Gothic"/>
              </a:rPr>
              <a:t>공지사항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80000" y="3491999"/>
            <a:ext cx="1944000" cy="7200"/>
          </a:xfrm>
          <a:prstGeom prst="rect">
            <a:avLst/>
          </a:prstGeom>
          <a:solidFill>
            <a:srgbClr val="232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52000" y="3636000"/>
            <a:ext cx="1728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50" b="0">
                <a:solidFill>
                  <a:srgbClr val="5F7179"/>
                </a:solidFill>
                <a:latin typeface="Malgun Gothic"/>
              </a:rPr>
              <a:t>해외대량송금 양식변경 안내
서울시인천시 세금납부 일시정지 안내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76000" y="3366000"/>
            <a:ext cx="684000" cy="8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00" b="1">
                <a:solidFill>
                  <a:srgbClr val="232D34"/>
                </a:solidFill>
                <a:latin typeface="Malgun Gothic"/>
              </a:rPr>
              <a:t>환율정보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76000" y="3491999"/>
            <a:ext cx="1332000" cy="7200"/>
          </a:xfrm>
          <a:prstGeom prst="rect">
            <a:avLst/>
          </a:prstGeom>
          <a:solidFill>
            <a:srgbClr val="232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48000" y="3636000"/>
            <a:ext cx="10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50" b="0">
                <a:solidFill>
                  <a:srgbClr val="5F7179"/>
                </a:solidFill>
                <a:latin typeface="Malgun Gothic"/>
              </a:rPr>
              <a:t>미국 USD  1,419.50
유로 EUR  1,638.53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60000" y="3761999"/>
            <a:ext cx="8424000" cy="810000"/>
          </a:xfrm>
          <a:prstGeom prst="roundRect">
            <a:avLst/>
          </a:prstGeom>
          <a:solidFill>
            <a:srgbClr val="12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8000" y="3906000"/>
            <a:ext cx="4031999" cy="342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통합CMS ERP연계
고객사 안내자료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32000" y="3960000"/>
            <a:ext cx="3420000" cy="172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20" b="0">
                <a:solidFill>
                  <a:srgbClr val="E5F7F3"/>
                </a:solidFill>
                <a:latin typeface="Malgun Gothic"/>
              </a:rPr>
              <a:t>은행 업무 결과를 ERP 회계·자금 업무로 연결합니다.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932000" y="4230000"/>
            <a:ext cx="792000" cy="201600"/>
          </a:xfrm>
          <a:prstGeom prst="roundRect">
            <a:avLst/>
          </a:prstGeom>
          <a:solidFill>
            <a:srgbClr val="00A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932000" y="4244400"/>
            <a:ext cx="792000" cy="136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30" b="1">
                <a:solidFill>
                  <a:srgbClr val="FFFFFF"/>
                </a:solidFill>
                <a:latin typeface="Malgun Gothic"/>
              </a:rPr>
              <a:t>조회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850000" y="4230000"/>
            <a:ext cx="792000" cy="201600"/>
          </a:xfrm>
          <a:prstGeom prst="roundRect">
            <a:avLst/>
          </a:prstGeom>
          <a:solidFill>
            <a:srgbClr val="00A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850000" y="4244400"/>
            <a:ext cx="792000" cy="136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30" b="1">
                <a:solidFill>
                  <a:srgbClr val="FFFFFF"/>
                </a:solidFill>
                <a:latin typeface="Malgun Gothic"/>
              </a:rPr>
              <a:t>전송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768000" y="4230000"/>
            <a:ext cx="792000" cy="201600"/>
          </a:xfrm>
          <a:prstGeom prst="roundRect">
            <a:avLst/>
          </a:prstGeom>
          <a:solidFill>
            <a:srgbClr val="00A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768000" y="4244400"/>
            <a:ext cx="792000" cy="136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30" b="1">
                <a:solidFill>
                  <a:srgbClr val="FFFFFF"/>
                </a:solidFill>
                <a:latin typeface="Malgun Gothic"/>
              </a:rPr>
              <a:t>정산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686000" y="4230000"/>
            <a:ext cx="792000" cy="201600"/>
          </a:xfrm>
          <a:prstGeom prst="roundRect">
            <a:avLst/>
          </a:prstGeom>
          <a:solidFill>
            <a:srgbClr val="00A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686000" y="4244400"/>
            <a:ext cx="792000" cy="136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30" b="1">
                <a:solidFill>
                  <a:srgbClr val="FFFFFF"/>
                </a:solidFill>
                <a:latin typeface="Malgun Gothic"/>
              </a:rPr>
              <a:t>마감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0000" y="4680000"/>
            <a:ext cx="3600000" cy="129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5F7F3"/>
                </a:solidFill>
                <a:latin typeface="Malgun Gothic"/>
              </a:rPr>
              <a:t>하나은행 통합CMS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680"/>
          </a:xfrm>
          <a:prstGeom prst="rect">
            <a:avLst/>
          </a:prstGeom>
          <a:solidFill>
            <a:srgbClr val="F5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9200"/>
          </a:xfrm>
          <a:prstGeom prst="rect">
            <a:avLst/>
          </a:prstGeom>
          <a:solidFill>
            <a:srgbClr val="00A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88000"/>
            <a:ext cx="7380000" cy="280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12363F"/>
                </a:solidFill>
                <a:latin typeface="Malgun Gothic"/>
              </a:rPr>
              <a:t>ERP연계를 도입하면 업무 흐름이 짧아집니다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7200" y="597600"/>
            <a:ext cx="7380000" cy="162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5F7179"/>
                </a:solidFill>
                <a:latin typeface="Malgun Gothic"/>
              </a:rPr>
              <a:t>은행 조회·이체 결과가 ERP 화면과 마감 데이터로 이어집니다.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17999"/>
            <a:ext cx="8424000" cy="10800"/>
          </a:xfrm>
          <a:prstGeom prst="rect">
            <a:avLst/>
          </a:prstGeom>
          <a:solidFill>
            <a:srgbClr val="C6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6000" y="1152000"/>
            <a:ext cx="1530000" cy="450000"/>
          </a:xfrm>
          <a:prstGeom prst="roundRect">
            <a:avLst/>
          </a:prstGeom>
          <a:solidFill>
            <a:srgbClr val="12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6000" y="1209600"/>
            <a:ext cx="1530000" cy="125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은행/카드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1396800"/>
            <a:ext cx="1386000" cy="115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80" b="0">
                <a:solidFill>
                  <a:srgbClr val="FFFFFF"/>
                </a:solidFill>
                <a:latin typeface="Malgun Gothic"/>
              </a:rPr>
              <a:t>거래·승인·이체 결과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1999" y="1314000"/>
            <a:ext cx="234000" cy="100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006052"/>
                </a:solidFill>
                <a:latin typeface="Malgun Gothic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14000" y="1152000"/>
            <a:ext cx="1530000" cy="450000"/>
          </a:xfrm>
          <a:prstGeom prst="roundRect">
            <a:avLst/>
          </a:prstGeom>
          <a:solidFill>
            <a:srgbClr val="00A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14000" y="1209600"/>
            <a:ext cx="1530000" cy="125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통합CMS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1396800"/>
            <a:ext cx="1386000" cy="115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80" b="0">
                <a:solidFill>
                  <a:srgbClr val="FFFFFF"/>
                </a:solidFill>
                <a:latin typeface="Malgun Gothic"/>
              </a:rPr>
              <a:t>수집·검증·스케줄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80000" y="1314000"/>
            <a:ext cx="234000" cy="100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006052"/>
                </a:solidFill>
                <a:latin typeface="Malgun Gothic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31999" y="1152000"/>
            <a:ext cx="1530000" cy="450000"/>
          </a:xfrm>
          <a:prstGeom prst="roundRect">
            <a:avLst/>
          </a:prstGeom>
          <a:solidFill>
            <a:srgbClr val="00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31999" y="1209600"/>
            <a:ext cx="1530000" cy="125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연계 방식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03999" y="1396800"/>
            <a:ext cx="1386000" cy="115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80" b="0">
                <a:solidFill>
                  <a:srgbClr val="FFFFFF"/>
                </a:solidFill>
                <a:latin typeface="Malgun Gothic"/>
              </a:rPr>
              <a:t>API·DB·RFC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8000" y="1314000"/>
            <a:ext cx="234000" cy="100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006052"/>
                </a:solidFill>
                <a:latin typeface="Malgun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0000" y="1152000"/>
            <a:ext cx="1530000" cy="450000"/>
          </a:xfrm>
          <a:prstGeom prst="roundRect">
            <a:avLst/>
          </a:prstGeom>
          <a:solidFill>
            <a:srgbClr val="12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0000" y="1209600"/>
            <a:ext cx="1530000" cy="125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ERP 업무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22000" y="1396800"/>
            <a:ext cx="1386000" cy="115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80" b="0">
                <a:solidFill>
                  <a:srgbClr val="FFFFFF"/>
                </a:solidFill>
                <a:latin typeface="Malgun Gothic"/>
              </a:rPr>
              <a:t>전표·정산·마감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6000" y="2052000"/>
            <a:ext cx="2520000" cy="1116000"/>
          </a:xfrm>
          <a:prstGeom prst="roundRect">
            <a:avLst/>
          </a:prstGeom>
          <a:solidFill>
            <a:srgbClr val="FFFFFF"/>
          </a:solidFill>
          <a:ln>
            <a:solidFill>
              <a:srgbClr val="C6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6000" y="2052000"/>
            <a:ext cx="2520000" cy="46800"/>
          </a:xfrm>
          <a:prstGeom prst="rect">
            <a:avLst/>
          </a:prstGeom>
          <a:solidFill>
            <a:srgbClr val="00A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22000" y="2178000"/>
            <a:ext cx="259200" cy="259200"/>
          </a:xfrm>
          <a:prstGeom prst="roundRect">
            <a:avLst/>
          </a:prstGeom>
          <a:solidFill>
            <a:srgbClr val="00A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2000" y="2206800"/>
            <a:ext cx="259200" cy="125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6000" y="2174400"/>
            <a:ext cx="1944000" cy="172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2363F"/>
                </a:solidFill>
                <a:latin typeface="Malgun Gothic"/>
              </a:rPr>
              <a:t>수기 입력 감소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8000" y="2422800"/>
            <a:ext cx="2196000" cy="67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69">
                <a:solidFill>
                  <a:srgbClr val="232D34"/>
                </a:solidFill>
                <a:latin typeface="Malgun Gothic"/>
              </a:defRPr>
            </a:pPr>
            <a:r>
              <a:t>엑셀 다운로드, 복사/붙여넣기, ERP 재입력 과정을 줄입니다.</a:t>
            </a:r>
          </a:p>
          <a:p>
            <a:pPr>
              <a:spcAft>
                <a:spcPts val="300"/>
              </a:spcAft>
              <a:defRPr sz="869">
                <a:solidFill>
                  <a:srgbClr val="232D34"/>
                </a:solidFill>
                <a:latin typeface="Malgun Gothic"/>
              </a:defRPr>
            </a:pPr>
            <a:r>
              <a:t>담당자는 입력보다 검토와 승인 업무에 집중할 수 있습니다.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11999" y="2052000"/>
            <a:ext cx="2520000" cy="1116000"/>
          </a:xfrm>
          <a:prstGeom prst="roundRect">
            <a:avLst/>
          </a:prstGeom>
          <a:solidFill>
            <a:srgbClr val="FFFFFF"/>
          </a:solidFill>
          <a:ln>
            <a:solidFill>
              <a:srgbClr val="C6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11999" y="2052000"/>
            <a:ext cx="2520000" cy="46800"/>
          </a:xfrm>
          <a:prstGeom prst="rect">
            <a:avLst/>
          </a:prstGeom>
          <a:solidFill>
            <a:srgbClr val="00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437999" y="2178000"/>
            <a:ext cx="259200" cy="259200"/>
          </a:xfrm>
          <a:prstGeom prst="roundRect">
            <a:avLst/>
          </a:prstGeom>
          <a:solidFill>
            <a:srgbClr val="00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37999" y="2206800"/>
            <a:ext cx="259200" cy="125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61999" y="2174400"/>
            <a:ext cx="1944000" cy="172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2363F"/>
                </a:solidFill>
                <a:latin typeface="Malgun Gothic"/>
              </a:rPr>
              <a:t>데이터 정합성 확보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3999" y="2422800"/>
            <a:ext cx="2196000" cy="67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69">
                <a:solidFill>
                  <a:srgbClr val="232D34"/>
                </a:solidFill>
                <a:latin typeface="Malgun Gothic"/>
              </a:defRPr>
            </a:pPr>
            <a:r>
              <a:t>사업자번호, 계좌번호, 승인번호, 금액 등 핵심값을 기준으로 중복과 누락을 점검합니다.</a:t>
            </a:r>
          </a:p>
          <a:p>
            <a:pPr>
              <a:spcAft>
                <a:spcPts val="300"/>
              </a:spcAft>
              <a:defRPr sz="869">
                <a:solidFill>
                  <a:srgbClr val="232D34"/>
                </a:solidFill>
                <a:latin typeface="Malgun Gothic"/>
              </a:defRPr>
            </a:pPr>
            <a:r>
              <a:t>전송 로그로 오류 구간을 빠르게 확인합니다.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28000" y="2052000"/>
            <a:ext cx="2520000" cy="1116000"/>
          </a:xfrm>
          <a:prstGeom prst="roundRect">
            <a:avLst/>
          </a:prstGeom>
          <a:solidFill>
            <a:srgbClr val="FFFFFF"/>
          </a:solidFill>
          <a:ln>
            <a:solidFill>
              <a:srgbClr val="C6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28000" y="2052000"/>
            <a:ext cx="2520000" cy="46800"/>
          </a:xfrm>
          <a:prstGeom prst="rect">
            <a:avLst/>
          </a:prstGeom>
          <a:solidFill>
            <a:srgbClr val="12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354000" y="2178000"/>
            <a:ext cx="259200" cy="259200"/>
          </a:xfrm>
          <a:prstGeom prst="roundRect">
            <a:avLst/>
          </a:prstGeom>
          <a:solidFill>
            <a:srgbClr val="12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4000" y="2206800"/>
            <a:ext cx="259200" cy="125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8000" y="2174400"/>
            <a:ext cx="1944000" cy="172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2363F"/>
                </a:solidFill>
                <a:latin typeface="Malgun Gothic"/>
              </a:rPr>
              <a:t>마감시간 단축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90000" y="2422800"/>
            <a:ext cx="2196000" cy="67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69">
                <a:solidFill>
                  <a:srgbClr val="232D34"/>
                </a:solidFill>
                <a:latin typeface="Malgun Gothic"/>
              </a:defRPr>
            </a:pPr>
            <a:r>
              <a:t>계좌거래내역, 법인카드, 이체 결과가 ERP에 연결되어 월말 확인 시간이 줄어듭니다.</a:t>
            </a:r>
          </a:p>
          <a:p>
            <a:pPr>
              <a:spcAft>
                <a:spcPts val="300"/>
              </a:spcAft>
              <a:defRPr sz="869">
                <a:solidFill>
                  <a:srgbClr val="232D34"/>
                </a:solidFill>
                <a:latin typeface="Malgun Gothic"/>
              </a:defRPr>
            </a:pPr>
            <a:r>
              <a:t>반복 조회와 수동 대조 부담을 낮춥니다.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8000" y="4842000"/>
            <a:ext cx="2880000" cy="100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 b="0">
                <a:solidFill>
                  <a:srgbClr val="5F7179"/>
                </a:solidFill>
                <a:latin typeface="Malgun Gothic"/>
              </a:rPr>
              <a:t>하나은행 통합CMS ERP연계 안내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60000" y="4842000"/>
            <a:ext cx="288000" cy="100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50" b="1">
                <a:solidFill>
                  <a:srgbClr val="5F7179"/>
                </a:solidFill>
                <a:latin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680"/>
          </a:xfrm>
          <a:prstGeom prst="rect">
            <a:avLst/>
          </a:prstGeom>
          <a:solidFill>
            <a:srgbClr val="F5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9200"/>
          </a:xfrm>
          <a:prstGeom prst="rect">
            <a:avLst/>
          </a:prstGeom>
          <a:solidFill>
            <a:srgbClr val="00A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88000"/>
            <a:ext cx="7380000" cy="280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12363F"/>
                </a:solidFill>
                <a:latin typeface="Malgun Gothic"/>
              </a:rPr>
              <a:t>ERP사별 권장 연계 방식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7200" y="597600"/>
            <a:ext cx="7380000" cy="162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5F7179"/>
                </a:solidFill>
                <a:latin typeface="Malgun Gothic"/>
              </a:rPr>
              <a:t>고객사 ERP 환경에 맞춰 안정적인 프로토콜을 선택합니다.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17999"/>
            <a:ext cx="8424000" cy="10800"/>
          </a:xfrm>
          <a:prstGeom prst="rect">
            <a:avLst/>
          </a:prstGeom>
          <a:solidFill>
            <a:srgbClr val="C6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152000"/>
          <a:ext cx="8424000" cy="183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000"/>
                <a:gridCol w="2106000"/>
                <a:gridCol w="2106000"/>
                <a:gridCol w="2106000"/>
              </a:tblGrid>
              <a:tr h="305999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ERP사</a:t>
                      </a:r>
                    </a:p>
                  </a:txBody>
                  <a:tcPr marL="36000" marR="36000" marT="21600" marB="21600" anchor="ctr">
                    <a:solidFill>
                      <a:srgbClr val="1236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권장 프로토콜</a:t>
                      </a:r>
                    </a:p>
                  </a:txBody>
                  <a:tcPr marL="36000" marR="36000" marT="21600" marB="21600" anchor="ctr">
                    <a:solidFill>
                      <a:srgbClr val="1236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주요 연계업무</a:t>
                      </a:r>
                    </a:p>
                  </a:txBody>
                  <a:tcPr marL="36000" marR="36000" marT="21600" marB="21600" anchor="ctr">
                    <a:solidFill>
                      <a:srgbClr val="1236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Malgun Gothic"/>
                        </a:rPr>
                        <a:t>고객사 확인사항</a:t>
                      </a:r>
                    </a:p>
                  </a:txBody>
                  <a:tcPr marL="36000" marR="36000" marT="21600" marB="21600" anchor="ctr">
                    <a:solidFill>
                      <a:srgbClr val="12363F"/>
                    </a:solidFill>
                  </a:tcPr>
                </a:tc>
              </a:tr>
              <a:tr h="305999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D34"/>
                          </a:solidFill>
                          <a:latin typeface="Malgun Gothic"/>
                        </a:rPr>
                        <a:t>더존 아마란스 10</a:t>
                      </a:r>
                    </a:p>
                  </a:txBody>
                  <a:tcPr marL="36000" marR="36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D34"/>
                          </a:solidFill>
                          <a:latin typeface="Malgun Gothic"/>
                        </a:rPr>
                        <a:t>API</a:t>
                      </a:r>
                    </a:p>
                  </a:txBody>
                  <a:tcPr marL="36000" marR="36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D34"/>
                          </a:solidFill>
                          <a:latin typeface="Malgun Gothic"/>
                        </a:rPr>
                        <a:t>계좌거래내역, 법인카드, 세금계산서</a:t>
                      </a:r>
                    </a:p>
                  </a:txBody>
                  <a:tcPr marL="36000" marR="36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D34"/>
                          </a:solidFill>
                          <a:latin typeface="Malgun Gothic"/>
                        </a:rPr>
                        <a:t>API URL, 인증정보, 응답코드</a:t>
                      </a:r>
                    </a:p>
                  </a:txBody>
                  <a:tcPr marL="36000" marR="36000" marT="21600" marB="21600" anchor="ctr">
                    <a:solidFill>
                      <a:srgbClr val="FFFFFF"/>
                    </a:solidFill>
                  </a:tcPr>
                </a:tc>
              </a:tr>
              <a:tr h="305999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D34"/>
                          </a:solidFill>
                          <a:latin typeface="Malgun Gothic"/>
                        </a:rPr>
                        <a:t>더존 옴니이솔 10</a:t>
                      </a:r>
                    </a:p>
                  </a:txBody>
                  <a:tcPr marL="36000" marR="36000" marT="21600" marB="21600" anchor="ctr">
                    <a:solidFill>
                      <a:srgbClr val="E5F7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D34"/>
                          </a:solidFill>
                          <a:latin typeface="Malgun Gothic"/>
                        </a:rPr>
                        <a:t>DB TO DB</a:t>
                      </a:r>
                    </a:p>
                  </a:txBody>
                  <a:tcPr marL="36000" marR="36000" marT="21600" marB="21600" anchor="ctr">
                    <a:solidFill>
                      <a:srgbClr val="E5F7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D34"/>
                          </a:solidFill>
                          <a:latin typeface="Malgun Gothic"/>
                        </a:rPr>
                        <a:t>계좌원장, 집금내역, 대량이체</a:t>
                      </a:r>
                    </a:p>
                  </a:txBody>
                  <a:tcPr marL="36000" marR="36000" marT="21600" marB="21600" anchor="ctr">
                    <a:solidFill>
                      <a:srgbClr val="E5F7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D34"/>
                          </a:solidFill>
                          <a:latin typeface="Malgun Gothic"/>
                        </a:rPr>
                        <a:t>DB 접속정보, 중계 테이블</a:t>
                      </a:r>
                    </a:p>
                  </a:txBody>
                  <a:tcPr marL="36000" marR="36000" marT="21600" marB="21600" anchor="ctr">
                    <a:solidFill>
                      <a:srgbClr val="E5F7F3"/>
                    </a:solidFill>
                  </a:tcPr>
                </a:tc>
              </a:tr>
              <a:tr h="305999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D34"/>
                          </a:solidFill>
                          <a:latin typeface="Malgun Gothic"/>
                        </a:rPr>
                        <a:t>영림원</a:t>
                      </a:r>
                    </a:p>
                  </a:txBody>
                  <a:tcPr marL="36000" marR="36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D34"/>
                          </a:solidFill>
                          <a:latin typeface="Malgun Gothic"/>
                        </a:rPr>
                        <a:t>DB TO DB</a:t>
                      </a:r>
                    </a:p>
                  </a:txBody>
                  <a:tcPr marL="36000" marR="36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D34"/>
                          </a:solidFill>
                          <a:latin typeface="Malgun Gothic"/>
                        </a:rPr>
                        <a:t>법인카드 승인/이용, 거래내역</a:t>
                      </a:r>
                    </a:p>
                  </a:txBody>
                  <a:tcPr marL="36000" marR="36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D34"/>
                          </a:solidFill>
                          <a:latin typeface="Malgun Gothic"/>
                        </a:rPr>
                        <a:t>컬럼 매핑, 코드값, 처리상태</a:t>
                      </a:r>
                    </a:p>
                  </a:txBody>
                  <a:tcPr marL="36000" marR="36000" marT="21600" marB="21600" anchor="ctr">
                    <a:solidFill>
                      <a:srgbClr val="FFFFFF"/>
                    </a:solidFill>
                  </a:tcPr>
                </a:tc>
              </a:tr>
              <a:tr h="305999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D34"/>
                          </a:solidFill>
                          <a:latin typeface="Malgun Gothic"/>
                        </a:rPr>
                        <a:t>SAP</a:t>
                      </a:r>
                    </a:p>
                  </a:txBody>
                  <a:tcPr marL="36000" marR="36000" marT="21600" marB="21600" anchor="ctr">
                    <a:solidFill>
                      <a:srgbClr val="E5F7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D34"/>
                          </a:solidFill>
                          <a:latin typeface="Malgun Gothic"/>
                        </a:rPr>
                        <a:t>RFC</a:t>
                      </a:r>
                    </a:p>
                  </a:txBody>
                  <a:tcPr marL="36000" marR="36000" marT="21600" marB="21600" anchor="ctr">
                    <a:solidFill>
                      <a:srgbClr val="E5F7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D34"/>
                          </a:solidFill>
                          <a:latin typeface="Malgun Gothic"/>
                        </a:rPr>
                        <a:t>지급이체, 법인카드, 전표처리</a:t>
                      </a:r>
                    </a:p>
                  </a:txBody>
                  <a:tcPr marL="36000" marR="36000" marT="21600" marB="21600" anchor="ctr">
                    <a:solidFill>
                      <a:srgbClr val="E5F7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D34"/>
                          </a:solidFill>
                          <a:latin typeface="Malgun Gothic"/>
                        </a:rPr>
                        <a:t>RFC Destination, Function 파라미터</a:t>
                      </a:r>
                    </a:p>
                  </a:txBody>
                  <a:tcPr marL="36000" marR="36000" marT="21600" marB="21600" anchor="ctr">
                    <a:solidFill>
                      <a:srgbClr val="E5F7F3"/>
                    </a:solidFill>
                  </a:tcPr>
                </a:tc>
              </a:tr>
              <a:tr h="306004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D34"/>
                          </a:solidFill>
                          <a:latin typeface="Malgun Gothic"/>
                        </a:rPr>
                        <a:t>자체개발</a:t>
                      </a:r>
                    </a:p>
                  </a:txBody>
                  <a:tcPr marL="36000" marR="36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D34"/>
                          </a:solidFill>
                          <a:latin typeface="Malgun Gothic"/>
                        </a:rPr>
                        <a:t>DB TO DB / API</a:t>
                      </a:r>
                    </a:p>
                  </a:txBody>
                  <a:tcPr marL="36000" marR="36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D34"/>
                          </a:solidFill>
                          <a:latin typeface="Malgun Gothic"/>
                        </a:rPr>
                        <a:t>고객사 맞춤 조회·이체·정산</a:t>
                      </a:r>
                    </a:p>
                  </a:txBody>
                  <a:tcPr marL="36000" marR="36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32D34"/>
                          </a:solidFill>
                          <a:latin typeface="Malgun Gothic"/>
                        </a:rPr>
                        <a:t>개발 규격서, 테스트 데이터</a:t>
                      </a:r>
                    </a:p>
                  </a:txBody>
                  <a:tcPr marL="36000" marR="36000" marT="21600" marB="2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96000" y="3240000"/>
            <a:ext cx="3996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C6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96000" y="3240000"/>
            <a:ext cx="3996000" cy="46800"/>
          </a:xfrm>
          <a:prstGeom prst="rect">
            <a:avLst/>
          </a:prstGeom>
          <a:solidFill>
            <a:srgbClr val="00A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8000" y="3362400"/>
            <a:ext cx="3671999" cy="172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2363F"/>
                </a:solidFill>
                <a:latin typeface="Malgun Gothic"/>
              </a:rPr>
              <a:t>안내 포인트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000" y="3610800"/>
            <a:ext cx="3671999" cy="34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69">
                <a:solidFill>
                  <a:srgbClr val="232D34"/>
                </a:solidFill>
                <a:latin typeface="Malgun Gothic"/>
              </a:defRPr>
            </a:pPr>
            <a:r>
              <a:t>ERP 제품명보다 중요한 것은 고객사 운영 방식입니다.</a:t>
            </a:r>
          </a:p>
          <a:p>
            <a:pPr>
              <a:spcAft>
                <a:spcPts val="300"/>
              </a:spcAft>
              <a:defRPr sz="869">
                <a:solidFill>
                  <a:srgbClr val="232D34"/>
                </a:solidFill>
                <a:latin typeface="Malgun Gothic"/>
              </a:defRPr>
            </a:pPr>
            <a:r>
              <a:t>조회 업무와 이체 업무를 나누어 프로토콜을 정하면 장애 대응이 쉬워집니다.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16000" y="3240000"/>
            <a:ext cx="3996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C6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16000" y="3240000"/>
            <a:ext cx="3996000" cy="46800"/>
          </a:xfrm>
          <a:prstGeom prst="rect">
            <a:avLst/>
          </a:prstGeom>
          <a:solidFill>
            <a:srgbClr val="00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78000" y="3362400"/>
            <a:ext cx="3671999" cy="172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2363F"/>
                </a:solidFill>
                <a:latin typeface="Malgun Gothic"/>
              </a:rPr>
              <a:t>사전 준비자료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8000" y="3610800"/>
            <a:ext cx="3671999" cy="34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69">
                <a:solidFill>
                  <a:srgbClr val="232D34"/>
                </a:solidFill>
                <a:latin typeface="Malgun Gothic"/>
              </a:defRPr>
            </a:pPr>
            <a:r>
              <a:t>ERP 접속정보, 연계 테이블/API 명세, 업무별 샘플 데이터</a:t>
            </a:r>
          </a:p>
          <a:p>
            <a:pPr>
              <a:spcAft>
                <a:spcPts val="300"/>
              </a:spcAft>
              <a:defRPr sz="869">
                <a:solidFill>
                  <a:srgbClr val="232D34"/>
                </a:solidFill>
                <a:latin typeface="Malgun Gothic"/>
              </a:defRPr>
            </a:pPr>
            <a:r>
              <a:t>운영 담당자와 개발 담당자 연락처를 함께 준비하면 구축 기간을 줄일 수 있습니다.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000" y="4842000"/>
            <a:ext cx="2880000" cy="100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 b="0">
                <a:solidFill>
                  <a:srgbClr val="5F7179"/>
                </a:solidFill>
                <a:latin typeface="Malgun Gothic"/>
              </a:rPr>
              <a:t>하나은행 통합CMS ERP연계 안내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0000" y="4842000"/>
            <a:ext cx="288000" cy="100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50" b="1">
                <a:solidFill>
                  <a:srgbClr val="5F7179"/>
                </a:solidFill>
                <a:latin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680"/>
          </a:xfrm>
          <a:prstGeom prst="rect">
            <a:avLst/>
          </a:prstGeom>
          <a:solidFill>
            <a:srgbClr val="F5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9200"/>
          </a:xfrm>
          <a:prstGeom prst="rect">
            <a:avLst/>
          </a:prstGeom>
          <a:solidFill>
            <a:srgbClr val="00A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88000"/>
            <a:ext cx="7380000" cy="280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12363F"/>
                </a:solidFill>
                <a:latin typeface="Malgun Gothic"/>
              </a:rPr>
              <a:t>더존 아마란스 10 연계 안내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7200" y="597600"/>
            <a:ext cx="7380000" cy="162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5F7179"/>
                </a:solidFill>
                <a:latin typeface="Malgun Gothic"/>
              </a:rPr>
              <a:t>API 방식으로 통합CMS 데이터를 ERP 업무에 연결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17999"/>
            <a:ext cx="8424000" cy="10800"/>
          </a:xfrm>
          <a:prstGeom prst="rect">
            <a:avLst/>
          </a:prstGeom>
          <a:solidFill>
            <a:srgbClr val="C6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78000" y="1098000"/>
            <a:ext cx="1152000" cy="201600"/>
          </a:xfrm>
          <a:prstGeom prst="roundRect">
            <a:avLst/>
          </a:prstGeom>
          <a:solidFill>
            <a:srgbClr val="00A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8000" y="1112400"/>
            <a:ext cx="1152000" cy="136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30" b="1">
                <a:solidFill>
                  <a:srgbClr val="FFFFFF"/>
                </a:solidFill>
                <a:latin typeface="Malgun Gothic"/>
              </a:rPr>
              <a:t>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000" y="1386000"/>
            <a:ext cx="4824000" cy="324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50" b="1">
                <a:solidFill>
                  <a:srgbClr val="12363F"/>
                </a:solidFill>
                <a:latin typeface="Malgun Gothic"/>
              </a:rPr>
              <a:t>표준 API 호출로 통합CMS 조회/전송 결과를 아마란스 업무 화면에 반영합니다.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6000" y="1835999"/>
            <a:ext cx="2412000" cy="917999"/>
          </a:xfrm>
          <a:prstGeom prst="roundRect">
            <a:avLst/>
          </a:prstGeom>
          <a:solidFill>
            <a:srgbClr val="FFFFFF"/>
          </a:solidFill>
          <a:ln>
            <a:solidFill>
              <a:srgbClr val="C6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6000" y="1835999"/>
            <a:ext cx="2412000" cy="46800"/>
          </a:xfrm>
          <a:prstGeom prst="rect">
            <a:avLst/>
          </a:prstGeom>
          <a:solidFill>
            <a:srgbClr val="00A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000" y="1958399"/>
            <a:ext cx="2088000" cy="172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2363F"/>
                </a:solidFill>
                <a:latin typeface="Malgun Gothic"/>
              </a:rPr>
              <a:t>연계 대상 업무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000" y="2206800"/>
            <a:ext cx="2088000" cy="47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40">
                <a:solidFill>
                  <a:srgbClr val="232D34"/>
                </a:solidFill>
                <a:latin typeface="Malgun Gothic"/>
              </a:defRPr>
            </a:pPr>
            <a:r>
              <a:t>계좌거래내역</a:t>
            </a:r>
          </a:p>
          <a:p>
            <a:pPr>
              <a:spcAft>
                <a:spcPts val="300"/>
              </a:spcAft>
              <a:defRPr sz="840">
                <a:solidFill>
                  <a:srgbClr val="232D34"/>
                </a:solidFill>
                <a:latin typeface="Malgun Gothic"/>
              </a:defRPr>
            </a:pPr>
            <a:r>
              <a:t>법인카드 승인·이용내역</a:t>
            </a:r>
          </a:p>
          <a:p>
            <a:pPr>
              <a:spcAft>
                <a:spcPts val="300"/>
              </a:spcAft>
              <a:defRPr sz="840">
                <a:solidFill>
                  <a:srgbClr val="232D34"/>
                </a:solidFill>
                <a:latin typeface="Malgun Gothic"/>
              </a:defRPr>
            </a:pPr>
            <a:r>
              <a:t>세금계산서 매입·매출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51999" y="1835999"/>
            <a:ext cx="2412000" cy="917999"/>
          </a:xfrm>
          <a:prstGeom prst="roundRect">
            <a:avLst/>
          </a:prstGeom>
          <a:solidFill>
            <a:srgbClr val="FFFFFF"/>
          </a:solidFill>
          <a:ln>
            <a:solidFill>
              <a:srgbClr val="C6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1999" y="1835999"/>
            <a:ext cx="2412000" cy="46800"/>
          </a:xfrm>
          <a:prstGeom prst="rect">
            <a:avLst/>
          </a:prstGeom>
          <a:solidFill>
            <a:srgbClr val="00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13999" y="1958399"/>
            <a:ext cx="2088000" cy="172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2363F"/>
                </a:solidFill>
                <a:latin typeface="Malgun Gothic"/>
              </a:rPr>
              <a:t>운영 포인트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3999" y="2206800"/>
            <a:ext cx="2088000" cy="47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40">
                <a:solidFill>
                  <a:srgbClr val="232D34"/>
                </a:solidFill>
                <a:latin typeface="Malgun Gothic"/>
              </a:defRPr>
            </a:pPr>
            <a:r>
              <a:t>API 인증정보와 호출 URL 확인</a:t>
            </a:r>
          </a:p>
          <a:p>
            <a:pPr>
              <a:spcAft>
                <a:spcPts val="300"/>
              </a:spcAft>
              <a:defRPr sz="840">
                <a:solidFill>
                  <a:srgbClr val="232D34"/>
                </a:solidFill>
                <a:latin typeface="Malgun Gothic"/>
              </a:defRPr>
            </a:pPr>
            <a:r>
              <a:t>응답코드별 성공/실패 로그 관리</a:t>
            </a:r>
          </a:p>
          <a:p>
            <a:pPr>
              <a:spcAft>
                <a:spcPts val="300"/>
              </a:spcAft>
              <a:defRPr sz="840">
                <a:solidFill>
                  <a:srgbClr val="232D34"/>
                </a:solidFill>
                <a:latin typeface="Malgun Gothic"/>
              </a:defRPr>
            </a:pPr>
            <a:r>
              <a:t>재전송 기준 사전 정의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6000" y="2898000"/>
            <a:ext cx="4968000" cy="917999"/>
          </a:xfrm>
          <a:prstGeom prst="roundRect">
            <a:avLst/>
          </a:prstGeom>
          <a:solidFill>
            <a:srgbClr val="FFFFFF"/>
          </a:solidFill>
          <a:ln>
            <a:solidFill>
              <a:srgbClr val="C6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6000" y="2898000"/>
            <a:ext cx="4968000" cy="46800"/>
          </a:xfrm>
          <a:prstGeom prst="rect">
            <a:avLst/>
          </a:prstGeom>
          <a:solidFill>
            <a:srgbClr val="00A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8000" y="3020400"/>
            <a:ext cx="4644000" cy="172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2363F"/>
                </a:solidFill>
                <a:latin typeface="Malgun Gothic"/>
              </a:rPr>
              <a:t>고객사 기대효과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8000" y="3268800"/>
            <a:ext cx="4644000" cy="47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40">
                <a:solidFill>
                  <a:srgbClr val="232D34"/>
                </a:solidFill>
                <a:latin typeface="Malgun Gothic"/>
              </a:defRPr>
            </a:pPr>
            <a:r>
              <a:t>ERP 화면에서 최신 금융 데이터를 빠르게 확인</a:t>
            </a:r>
          </a:p>
          <a:p>
            <a:pPr>
              <a:spcAft>
                <a:spcPts val="300"/>
              </a:spcAft>
              <a:defRPr sz="840">
                <a:solidFill>
                  <a:srgbClr val="232D34"/>
                </a:solidFill>
                <a:latin typeface="Malgun Gothic"/>
              </a:defRPr>
            </a:pPr>
            <a:r>
              <a:t>수기 업로드와 입력 오류 감소</a:t>
            </a:r>
          </a:p>
          <a:p>
            <a:pPr>
              <a:spcAft>
                <a:spcPts val="300"/>
              </a:spcAft>
              <a:defRPr sz="840">
                <a:solidFill>
                  <a:srgbClr val="232D34"/>
                </a:solidFill>
                <a:latin typeface="Malgun Gothic"/>
              </a:defRPr>
            </a:pPr>
            <a:r>
              <a:t>마감 전 데이터 검토 시간이 단축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52000" y="1170000"/>
            <a:ext cx="3024000" cy="2718000"/>
          </a:xfrm>
          <a:prstGeom prst="roundRect">
            <a:avLst/>
          </a:prstGeom>
          <a:solidFill>
            <a:srgbClr val="FFFFFF"/>
          </a:solidFill>
          <a:ln>
            <a:solidFill>
              <a:srgbClr val="C6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orp_card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000" y="1662866"/>
            <a:ext cx="2772000" cy="167826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78000" y="4842000"/>
            <a:ext cx="2880000" cy="100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 b="0">
                <a:solidFill>
                  <a:srgbClr val="5F7179"/>
                </a:solidFill>
                <a:latin typeface="Malgun Gothic"/>
              </a:rPr>
              <a:t>하나은행 통합CMS ERP연계 안내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60000" y="4842000"/>
            <a:ext cx="288000" cy="100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50" b="1">
                <a:solidFill>
                  <a:srgbClr val="5F7179"/>
                </a:solidFill>
                <a:latin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680"/>
          </a:xfrm>
          <a:prstGeom prst="rect">
            <a:avLst/>
          </a:prstGeom>
          <a:solidFill>
            <a:srgbClr val="F5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9200"/>
          </a:xfrm>
          <a:prstGeom prst="rect">
            <a:avLst/>
          </a:prstGeom>
          <a:solidFill>
            <a:srgbClr val="00A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88000"/>
            <a:ext cx="7380000" cy="280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12363F"/>
                </a:solidFill>
                <a:latin typeface="Malgun Gothic"/>
              </a:rPr>
              <a:t>더존 옴니이솔 10 연계 안내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7200" y="597600"/>
            <a:ext cx="7380000" cy="162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5F7179"/>
                </a:solidFill>
                <a:latin typeface="Malgun Gothic"/>
              </a:rPr>
              <a:t>DB TO DB 방식으로 통합CMS 데이터를 ERP 업무에 연결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17999"/>
            <a:ext cx="8424000" cy="10800"/>
          </a:xfrm>
          <a:prstGeom prst="rect">
            <a:avLst/>
          </a:prstGeom>
          <a:solidFill>
            <a:srgbClr val="C6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78000" y="1098000"/>
            <a:ext cx="1152000" cy="201600"/>
          </a:xfrm>
          <a:prstGeom prst="roundRect">
            <a:avLst/>
          </a:prstGeom>
          <a:solidFill>
            <a:srgbClr val="00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8000" y="1112400"/>
            <a:ext cx="1152000" cy="136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30" b="1">
                <a:solidFill>
                  <a:srgbClr val="FFFFFF"/>
                </a:solidFill>
                <a:latin typeface="Malgun Gothic"/>
              </a:rPr>
              <a:t>DB TO 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000" y="1386000"/>
            <a:ext cx="4824000" cy="324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50" b="1">
                <a:solidFill>
                  <a:srgbClr val="12363F"/>
                </a:solidFill>
                <a:latin typeface="Malgun Gothic"/>
              </a:rPr>
              <a:t>ERP DB 중계 테이블에 데이터를 적재해 기존 업무 화면에서 활용합니다.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6000" y="1835999"/>
            <a:ext cx="2412000" cy="917999"/>
          </a:xfrm>
          <a:prstGeom prst="roundRect">
            <a:avLst/>
          </a:prstGeom>
          <a:solidFill>
            <a:srgbClr val="FFFFFF"/>
          </a:solidFill>
          <a:ln>
            <a:solidFill>
              <a:srgbClr val="C6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6000" y="1835999"/>
            <a:ext cx="2412000" cy="46800"/>
          </a:xfrm>
          <a:prstGeom prst="rect">
            <a:avLst/>
          </a:prstGeom>
          <a:solidFill>
            <a:srgbClr val="00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000" y="1958399"/>
            <a:ext cx="2088000" cy="172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2363F"/>
                </a:solidFill>
                <a:latin typeface="Malgun Gothic"/>
              </a:rPr>
              <a:t>연계 대상 업무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000" y="2206800"/>
            <a:ext cx="2088000" cy="47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40">
                <a:solidFill>
                  <a:srgbClr val="232D34"/>
                </a:solidFill>
                <a:latin typeface="Malgun Gothic"/>
              </a:defRPr>
            </a:pPr>
            <a:r>
              <a:t>계좌원장</a:t>
            </a:r>
          </a:p>
          <a:p>
            <a:pPr>
              <a:spcAft>
                <a:spcPts val="300"/>
              </a:spcAft>
              <a:defRPr sz="840">
                <a:solidFill>
                  <a:srgbClr val="232D34"/>
                </a:solidFill>
                <a:latin typeface="Malgun Gothic"/>
              </a:defRPr>
            </a:pPr>
            <a:r>
              <a:t>집금내역</a:t>
            </a:r>
          </a:p>
          <a:p>
            <a:pPr>
              <a:spcAft>
                <a:spcPts val="300"/>
              </a:spcAft>
              <a:defRPr sz="840">
                <a:solidFill>
                  <a:srgbClr val="232D34"/>
                </a:solidFill>
                <a:latin typeface="Malgun Gothic"/>
              </a:defRPr>
            </a:pPr>
            <a:r>
              <a:t>대량이체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51999" y="1835999"/>
            <a:ext cx="2412000" cy="917999"/>
          </a:xfrm>
          <a:prstGeom prst="roundRect">
            <a:avLst/>
          </a:prstGeom>
          <a:solidFill>
            <a:srgbClr val="FFFFFF"/>
          </a:solidFill>
          <a:ln>
            <a:solidFill>
              <a:srgbClr val="C6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1999" y="1835999"/>
            <a:ext cx="2412000" cy="46800"/>
          </a:xfrm>
          <a:prstGeom prst="rect">
            <a:avLst/>
          </a:prstGeom>
          <a:solidFill>
            <a:srgbClr val="00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13999" y="1958399"/>
            <a:ext cx="2088000" cy="172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2363F"/>
                </a:solidFill>
                <a:latin typeface="Malgun Gothic"/>
              </a:rPr>
              <a:t>운영 포인트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3999" y="2206800"/>
            <a:ext cx="2088000" cy="47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40">
                <a:solidFill>
                  <a:srgbClr val="232D34"/>
                </a:solidFill>
                <a:latin typeface="Malgun Gothic"/>
              </a:defRPr>
            </a:pPr>
            <a:r>
              <a:t>DB 접속 권한과 IP 허용 확인</a:t>
            </a:r>
          </a:p>
          <a:p>
            <a:pPr>
              <a:spcAft>
                <a:spcPts val="300"/>
              </a:spcAft>
              <a:defRPr sz="840">
                <a:solidFill>
                  <a:srgbClr val="232D34"/>
                </a:solidFill>
                <a:latin typeface="Malgun Gothic"/>
              </a:defRPr>
            </a:pPr>
            <a:r>
              <a:t>PK와 처리상태 컬럼 기준 정의</a:t>
            </a:r>
          </a:p>
          <a:p>
            <a:pPr>
              <a:spcAft>
                <a:spcPts val="300"/>
              </a:spcAft>
              <a:defRPr sz="840">
                <a:solidFill>
                  <a:srgbClr val="232D34"/>
                </a:solidFill>
                <a:latin typeface="Malgun Gothic"/>
              </a:defRPr>
            </a:pPr>
            <a:r>
              <a:t>스케줄러 실행 시간 협의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6000" y="2898000"/>
            <a:ext cx="4968000" cy="917999"/>
          </a:xfrm>
          <a:prstGeom prst="roundRect">
            <a:avLst/>
          </a:prstGeom>
          <a:solidFill>
            <a:srgbClr val="FFFFFF"/>
          </a:solidFill>
          <a:ln>
            <a:solidFill>
              <a:srgbClr val="C6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6000" y="2898000"/>
            <a:ext cx="4968000" cy="46800"/>
          </a:xfrm>
          <a:prstGeom prst="rect">
            <a:avLst/>
          </a:prstGeom>
          <a:solidFill>
            <a:srgbClr val="00A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8000" y="3020400"/>
            <a:ext cx="4644000" cy="172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2363F"/>
                </a:solidFill>
                <a:latin typeface="Malgun Gothic"/>
              </a:rPr>
              <a:t>고객사 기대효과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8000" y="3268800"/>
            <a:ext cx="4644000" cy="47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40">
                <a:solidFill>
                  <a:srgbClr val="232D34"/>
                </a:solidFill>
                <a:latin typeface="Malgun Gothic"/>
              </a:defRPr>
            </a:pPr>
            <a:r>
              <a:t>ERP 표준 업무 흐름을 유지</a:t>
            </a:r>
          </a:p>
          <a:p>
            <a:pPr>
              <a:spcAft>
                <a:spcPts val="300"/>
              </a:spcAft>
              <a:defRPr sz="840">
                <a:solidFill>
                  <a:srgbClr val="232D34"/>
                </a:solidFill>
                <a:latin typeface="Malgun Gothic"/>
              </a:defRPr>
            </a:pPr>
            <a:r>
              <a:t>중복 반영과 누락 점검 용이</a:t>
            </a:r>
          </a:p>
          <a:p>
            <a:pPr>
              <a:spcAft>
                <a:spcPts val="300"/>
              </a:spcAft>
              <a:defRPr sz="840">
                <a:solidFill>
                  <a:srgbClr val="232D34"/>
                </a:solidFill>
                <a:latin typeface="Malgun Gothic"/>
              </a:defRPr>
            </a:pPr>
            <a:r>
              <a:t>운영자가 DB 처리상태로 장애 확인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52000" y="1170000"/>
            <a:ext cx="3024000" cy="2718000"/>
          </a:xfrm>
          <a:prstGeom prst="roundRect">
            <a:avLst/>
          </a:prstGeom>
          <a:solidFill>
            <a:srgbClr val="FFFFFF"/>
          </a:solidFill>
          <a:ln>
            <a:solidFill>
              <a:srgbClr val="C6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bulk_trans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000" y="1758782"/>
            <a:ext cx="2772000" cy="14864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78000" y="4842000"/>
            <a:ext cx="2880000" cy="100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 b="0">
                <a:solidFill>
                  <a:srgbClr val="5F7179"/>
                </a:solidFill>
                <a:latin typeface="Malgun Gothic"/>
              </a:rPr>
              <a:t>하나은행 통합CMS ERP연계 안내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60000" y="4842000"/>
            <a:ext cx="288000" cy="100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50" b="1">
                <a:solidFill>
                  <a:srgbClr val="5F7179"/>
                </a:solidFill>
                <a:latin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680"/>
          </a:xfrm>
          <a:prstGeom prst="rect">
            <a:avLst/>
          </a:prstGeom>
          <a:solidFill>
            <a:srgbClr val="F5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9200"/>
          </a:xfrm>
          <a:prstGeom prst="rect">
            <a:avLst/>
          </a:prstGeom>
          <a:solidFill>
            <a:srgbClr val="00A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88000"/>
            <a:ext cx="7380000" cy="280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12363F"/>
                </a:solidFill>
                <a:latin typeface="Malgun Gothic"/>
              </a:rPr>
              <a:t>영림원 연계 안내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7200" y="597600"/>
            <a:ext cx="7380000" cy="162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5F7179"/>
                </a:solidFill>
                <a:latin typeface="Malgun Gothic"/>
              </a:rPr>
              <a:t>DB TO DB 방식으로 통합CMS 데이터를 ERP 업무에 연결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17999"/>
            <a:ext cx="8424000" cy="10800"/>
          </a:xfrm>
          <a:prstGeom prst="rect">
            <a:avLst/>
          </a:prstGeom>
          <a:solidFill>
            <a:srgbClr val="C6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78000" y="1098000"/>
            <a:ext cx="1152000" cy="201600"/>
          </a:xfrm>
          <a:prstGeom prst="roundRect">
            <a:avLst/>
          </a:prstGeom>
          <a:solidFill>
            <a:srgbClr val="00A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8000" y="1112400"/>
            <a:ext cx="1152000" cy="136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30" b="1">
                <a:solidFill>
                  <a:srgbClr val="FFFFFF"/>
                </a:solidFill>
                <a:latin typeface="Malgun Gothic"/>
              </a:rPr>
              <a:t>DB TO 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000" y="1386000"/>
            <a:ext cx="4824000" cy="324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50" b="1">
                <a:solidFill>
                  <a:srgbClr val="12363F"/>
                </a:solidFill>
                <a:latin typeface="Malgun Gothic"/>
              </a:rPr>
              <a:t>영림원 기준 테이블 구조에 맞춰 거래내역과 법인카드 데이터를 연결합니다.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6000" y="1835999"/>
            <a:ext cx="2412000" cy="917999"/>
          </a:xfrm>
          <a:prstGeom prst="roundRect">
            <a:avLst/>
          </a:prstGeom>
          <a:solidFill>
            <a:srgbClr val="FFFFFF"/>
          </a:solidFill>
          <a:ln>
            <a:solidFill>
              <a:srgbClr val="C6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6000" y="1835999"/>
            <a:ext cx="2412000" cy="46800"/>
          </a:xfrm>
          <a:prstGeom prst="rect">
            <a:avLst/>
          </a:prstGeom>
          <a:solidFill>
            <a:srgbClr val="00A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000" y="1958399"/>
            <a:ext cx="2088000" cy="172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2363F"/>
                </a:solidFill>
                <a:latin typeface="Malgun Gothic"/>
              </a:rPr>
              <a:t>연계 대상 업무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000" y="2206800"/>
            <a:ext cx="2088000" cy="47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40">
                <a:solidFill>
                  <a:srgbClr val="232D34"/>
                </a:solidFill>
                <a:latin typeface="Malgun Gothic"/>
              </a:defRPr>
            </a:pPr>
            <a:r>
              <a:t>계좌거래내역</a:t>
            </a:r>
          </a:p>
          <a:p>
            <a:pPr>
              <a:spcAft>
                <a:spcPts val="300"/>
              </a:spcAft>
              <a:defRPr sz="840">
                <a:solidFill>
                  <a:srgbClr val="232D34"/>
                </a:solidFill>
                <a:latin typeface="Malgun Gothic"/>
              </a:defRPr>
            </a:pPr>
            <a:r>
              <a:t>법인카드 승인내역</a:t>
            </a:r>
          </a:p>
          <a:p>
            <a:pPr>
              <a:spcAft>
                <a:spcPts val="300"/>
              </a:spcAft>
              <a:defRPr sz="840">
                <a:solidFill>
                  <a:srgbClr val="232D34"/>
                </a:solidFill>
                <a:latin typeface="Malgun Gothic"/>
              </a:defRPr>
            </a:pPr>
            <a:r>
              <a:t>법인카드 이용내역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51999" y="1835999"/>
            <a:ext cx="2412000" cy="917999"/>
          </a:xfrm>
          <a:prstGeom prst="roundRect">
            <a:avLst/>
          </a:prstGeom>
          <a:solidFill>
            <a:srgbClr val="FFFFFF"/>
          </a:solidFill>
          <a:ln>
            <a:solidFill>
              <a:srgbClr val="C6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1999" y="1835999"/>
            <a:ext cx="2412000" cy="46800"/>
          </a:xfrm>
          <a:prstGeom prst="rect">
            <a:avLst/>
          </a:prstGeom>
          <a:solidFill>
            <a:srgbClr val="00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13999" y="1958399"/>
            <a:ext cx="2088000" cy="172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2363F"/>
                </a:solidFill>
                <a:latin typeface="Malgun Gothic"/>
              </a:rPr>
              <a:t>운영 포인트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3999" y="2206800"/>
            <a:ext cx="2088000" cy="47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40">
                <a:solidFill>
                  <a:srgbClr val="232D34"/>
                </a:solidFill>
                <a:latin typeface="Malgun Gothic"/>
              </a:defRPr>
            </a:pPr>
            <a:r>
              <a:t>ERP 기준 코드와 필수 컬럼 확인</a:t>
            </a:r>
          </a:p>
          <a:p>
            <a:pPr>
              <a:spcAft>
                <a:spcPts val="300"/>
              </a:spcAft>
              <a:defRPr sz="840">
                <a:solidFill>
                  <a:srgbClr val="232D34"/>
                </a:solidFill>
                <a:latin typeface="Malgun Gothic"/>
              </a:defRPr>
            </a:pPr>
            <a:r>
              <a:t>승인/취소 데이터 처리 규칙 정의</a:t>
            </a:r>
          </a:p>
          <a:p>
            <a:pPr>
              <a:spcAft>
                <a:spcPts val="300"/>
              </a:spcAft>
              <a:defRPr sz="840">
                <a:solidFill>
                  <a:srgbClr val="232D34"/>
                </a:solidFill>
                <a:latin typeface="Malgun Gothic"/>
              </a:defRPr>
            </a:pPr>
            <a:r>
              <a:t>전송 후 ERP 조회 화면 검증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6000" y="2898000"/>
            <a:ext cx="4968000" cy="917999"/>
          </a:xfrm>
          <a:prstGeom prst="roundRect">
            <a:avLst/>
          </a:prstGeom>
          <a:solidFill>
            <a:srgbClr val="FFFFFF"/>
          </a:solidFill>
          <a:ln>
            <a:solidFill>
              <a:srgbClr val="C6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6000" y="2898000"/>
            <a:ext cx="4968000" cy="46800"/>
          </a:xfrm>
          <a:prstGeom prst="rect">
            <a:avLst/>
          </a:prstGeom>
          <a:solidFill>
            <a:srgbClr val="00A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8000" y="3020400"/>
            <a:ext cx="4644000" cy="172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2363F"/>
                </a:solidFill>
                <a:latin typeface="Malgun Gothic"/>
              </a:rPr>
              <a:t>고객사 기대효과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8000" y="3268800"/>
            <a:ext cx="4644000" cy="47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40">
                <a:solidFill>
                  <a:srgbClr val="232D34"/>
                </a:solidFill>
                <a:latin typeface="Malgun Gothic"/>
              </a:defRPr>
            </a:pPr>
            <a:r>
              <a:t>회계 담당자의 증빙 확인 시간 감소</a:t>
            </a:r>
          </a:p>
          <a:p>
            <a:pPr>
              <a:spcAft>
                <a:spcPts val="300"/>
              </a:spcAft>
              <a:defRPr sz="840">
                <a:solidFill>
                  <a:srgbClr val="232D34"/>
                </a:solidFill>
                <a:latin typeface="Malgun Gothic"/>
              </a:defRPr>
            </a:pPr>
            <a:r>
              <a:t>카드 데이터 누락 문의 대응이 쉬움</a:t>
            </a:r>
          </a:p>
          <a:p>
            <a:pPr>
              <a:spcAft>
                <a:spcPts val="300"/>
              </a:spcAft>
              <a:defRPr sz="840">
                <a:solidFill>
                  <a:srgbClr val="232D34"/>
                </a:solidFill>
                <a:latin typeface="Malgun Gothic"/>
              </a:defRPr>
            </a:pPr>
            <a:r>
              <a:t>조회부터 비용처리까지 흐름 단순화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52000" y="1170000"/>
            <a:ext cx="3024000" cy="2718000"/>
          </a:xfrm>
          <a:prstGeom prst="roundRect">
            <a:avLst/>
          </a:prstGeom>
          <a:solidFill>
            <a:srgbClr val="FFFFFF"/>
          </a:solidFill>
          <a:ln>
            <a:solidFill>
              <a:srgbClr val="C6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orp_card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000" y="1332000"/>
            <a:ext cx="2772000" cy="2340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78000" y="4842000"/>
            <a:ext cx="2880000" cy="100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 b="0">
                <a:solidFill>
                  <a:srgbClr val="5F7179"/>
                </a:solidFill>
                <a:latin typeface="Malgun Gothic"/>
              </a:rPr>
              <a:t>하나은행 통합CMS ERP연계 안내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60000" y="4842000"/>
            <a:ext cx="288000" cy="100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50" b="1">
                <a:solidFill>
                  <a:srgbClr val="5F7179"/>
                </a:solidFill>
                <a:latin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680"/>
          </a:xfrm>
          <a:prstGeom prst="rect">
            <a:avLst/>
          </a:prstGeom>
          <a:solidFill>
            <a:srgbClr val="F5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9200"/>
          </a:xfrm>
          <a:prstGeom prst="rect">
            <a:avLst/>
          </a:prstGeom>
          <a:solidFill>
            <a:srgbClr val="00A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88000"/>
            <a:ext cx="7380000" cy="280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12363F"/>
                </a:solidFill>
                <a:latin typeface="Malgun Gothic"/>
              </a:rPr>
              <a:t>SAP 연계 안내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7200" y="597600"/>
            <a:ext cx="7380000" cy="162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5F7179"/>
                </a:solidFill>
                <a:latin typeface="Malgun Gothic"/>
              </a:rPr>
              <a:t>RFC 방식으로 통합CMS 데이터를 ERP 업무에 연결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17999"/>
            <a:ext cx="8424000" cy="10800"/>
          </a:xfrm>
          <a:prstGeom prst="rect">
            <a:avLst/>
          </a:prstGeom>
          <a:solidFill>
            <a:srgbClr val="C6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78000" y="1098000"/>
            <a:ext cx="1152000" cy="201600"/>
          </a:xfrm>
          <a:prstGeom prst="roundRect">
            <a:avLst/>
          </a:prstGeom>
          <a:solidFill>
            <a:srgbClr val="12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8000" y="1112400"/>
            <a:ext cx="1152000" cy="136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30" b="1">
                <a:solidFill>
                  <a:srgbClr val="FFFFFF"/>
                </a:solidFill>
                <a:latin typeface="Malgun Gothic"/>
              </a:rPr>
              <a:t>RFC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000" y="1386000"/>
            <a:ext cx="4824000" cy="324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50" b="1">
                <a:solidFill>
                  <a:srgbClr val="12363F"/>
                </a:solidFill>
                <a:latin typeface="Malgun Gothic"/>
              </a:rPr>
              <a:t>SAP RFC Function을 호출해 지급·카드·거래 데이터를 송수신합니다.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6000" y="1835999"/>
            <a:ext cx="2412000" cy="917999"/>
          </a:xfrm>
          <a:prstGeom prst="roundRect">
            <a:avLst/>
          </a:prstGeom>
          <a:solidFill>
            <a:srgbClr val="FFFFFF"/>
          </a:solidFill>
          <a:ln>
            <a:solidFill>
              <a:srgbClr val="C6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6000" y="1835999"/>
            <a:ext cx="2412000" cy="46800"/>
          </a:xfrm>
          <a:prstGeom prst="rect">
            <a:avLst/>
          </a:prstGeom>
          <a:solidFill>
            <a:srgbClr val="12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000" y="1958399"/>
            <a:ext cx="2088000" cy="172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2363F"/>
                </a:solidFill>
                <a:latin typeface="Malgun Gothic"/>
              </a:rPr>
              <a:t>연계 대상 업무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000" y="2206800"/>
            <a:ext cx="2088000" cy="47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40">
                <a:solidFill>
                  <a:srgbClr val="232D34"/>
                </a:solidFill>
                <a:latin typeface="Malgun Gothic"/>
              </a:defRPr>
            </a:pPr>
            <a:r>
              <a:t>지급이체</a:t>
            </a:r>
          </a:p>
          <a:p>
            <a:pPr>
              <a:spcAft>
                <a:spcPts val="300"/>
              </a:spcAft>
              <a:defRPr sz="840">
                <a:solidFill>
                  <a:srgbClr val="232D34"/>
                </a:solidFill>
                <a:latin typeface="Malgun Gothic"/>
              </a:defRPr>
            </a:pPr>
            <a:r>
              <a:t>법인카드 승인·이용내역</a:t>
            </a:r>
          </a:p>
          <a:p>
            <a:pPr>
              <a:spcAft>
                <a:spcPts val="300"/>
              </a:spcAft>
              <a:defRPr sz="840">
                <a:solidFill>
                  <a:srgbClr val="232D34"/>
                </a:solidFill>
                <a:latin typeface="Malgun Gothic"/>
              </a:defRPr>
            </a:pPr>
            <a:r>
              <a:t>계좌거래내역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51999" y="1835999"/>
            <a:ext cx="2412000" cy="917999"/>
          </a:xfrm>
          <a:prstGeom prst="roundRect">
            <a:avLst/>
          </a:prstGeom>
          <a:solidFill>
            <a:srgbClr val="FFFFFF"/>
          </a:solidFill>
          <a:ln>
            <a:solidFill>
              <a:srgbClr val="C6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1999" y="1835999"/>
            <a:ext cx="2412000" cy="46800"/>
          </a:xfrm>
          <a:prstGeom prst="rect">
            <a:avLst/>
          </a:prstGeom>
          <a:solidFill>
            <a:srgbClr val="00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13999" y="1958399"/>
            <a:ext cx="2088000" cy="172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2363F"/>
                </a:solidFill>
                <a:latin typeface="Malgun Gothic"/>
              </a:rPr>
              <a:t>운영 포인트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3999" y="2206800"/>
            <a:ext cx="2088000" cy="47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40">
                <a:solidFill>
                  <a:srgbClr val="232D34"/>
                </a:solidFill>
                <a:latin typeface="Malgun Gothic"/>
              </a:defRPr>
            </a:pPr>
            <a:r>
              <a:t>RFC Destination과 권한 확인</a:t>
            </a:r>
          </a:p>
          <a:p>
            <a:pPr>
              <a:spcAft>
                <a:spcPts val="300"/>
              </a:spcAft>
              <a:defRPr sz="840">
                <a:solidFill>
                  <a:srgbClr val="232D34"/>
                </a:solidFill>
                <a:latin typeface="Malgun Gothic"/>
              </a:defRPr>
            </a:pPr>
            <a:r>
              <a:t>Function별 입력/출력 파라미터 정의</a:t>
            </a:r>
          </a:p>
          <a:p>
            <a:pPr>
              <a:spcAft>
                <a:spcPts val="300"/>
              </a:spcAft>
              <a:defRPr sz="840">
                <a:solidFill>
                  <a:srgbClr val="232D34"/>
                </a:solidFill>
                <a:latin typeface="Malgun Gothic"/>
              </a:defRPr>
            </a:pPr>
            <a:r>
              <a:t>Return 메시지 기준 오류 관리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6000" y="2898000"/>
            <a:ext cx="4968000" cy="917999"/>
          </a:xfrm>
          <a:prstGeom prst="roundRect">
            <a:avLst/>
          </a:prstGeom>
          <a:solidFill>
            <a:srgbClr val="FFFFFF"/>
          </a:solidFill>
          <a:ln>
            <a:solidFill>
              <a:srgbClr val="C6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6000" y="2898000"/>
            <a:ext cx="4968000" cy="46800"/>
          </a:xfrm>
          <a:prstGeom prst="rect">
            <a:avLst/>
          </a:prstGeom>
          <a:solidFill>
            <a:srgbClr val="00A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8000" y="3020400"/>
            <a:ext cx="4644000" cy="172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2363F"/>
                </a:solidFill>
                <a:latin typeface="Malgun Gothic"/>
              </a:rPr>
              <a:t>고객사 기대효과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8000" y="3268800"/>
            <a:ext cx="4644000" cy="47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40">
                <a:solidFill>
                  <a:srgbClr val="232D34"/>
                </a:solidFill>
                <a:latin typeface="Malgun Gothic"/>
              </a:defRPr>
            </a:pPr>
            <a:r>
              <a:t>SAP 기준 업무 승인 흐름과 연동</a:t>
            </a:r>
          </a:p>
          <a:p>
            <a:pPr>
              <a:spcAft>
                <a:spcPts val="300"/>
              </a:spcAft>
              <a:defRPr sz="840">
                <a:solidFill>
                  <a:srgbClr val="232D34"/>
                </a:solidFill>
                <a:latin typeface="Malgun Gothic"/>
              </a:defRPr>
            </a:pPr>
            <a:r>
              <a:t>이체 결과 회신으로 후속 전표 처리 지원</a:t>
            </a:r>
          </a:p>
          <a:p>
            <a:pPr>
              <a:spcAft>
                <a:spcPts val="300"/>
              </a:spcAft>
              <a:defRPr sz="840">
                <a:solidFill>
                  <a:srgbClr val="232D34"/>
                </a:solidFill>
                <a:latin typeface="Malgun Gothic"/>
              </a:defRPr>
            </a:pPr>
            <a:r>
              <a:t>대형 고객사 표준 통제 구조에 적합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52000" y="1170000"/>
            <a:ext cx="3024000" cy="2718000"/>
          </a:xfrm>
          <a:prstGeom prst="roundRect">
            <a:avLst/>
          </a:prstGeom>
          <a:solidFill>
            <a:srgbClr val="FFFFFF"/>
          </a:solidFill>
          <a:ln>
            <a:solidFill>
              <a:srgbClr val="C6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bulk_trans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000" y="1758782"/>
            <a:ext cx="2772000" cy="14864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78000" y="4842000"/>
            <a:ext cx="2880000" cy="100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 b="0">
                <a:solidFill>
                  <a:srgbClr val="5F7179"/>
                </a:solidFill>
                <a:latin typeface="Malgun Gothic"/>
              </a:rPr>
              <a:t>하나은행 통합CMS ERP연계 안내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60000" y="4842000"/>
            <a:ext cx="288000" cy="100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50" b="1">
                <a:solidFill>
                  <a:srgbClr val="5F7179"/>
                </a:solidFill>
                <a:latin typeface="Malgun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680"/>
          </a:xfrm>
          <a:prstGeom prst="rect">
            <a:avLst/>
          </a:prstGeom>
          <a:solidFill>
            <a:srgbClr val="F5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9200"/>
          </a:xfrm>
          <a:prstGeom prst="rect">
            <a:avLst/>
          </a:prstGeom>
          <a:solidFill>
            <a:srgbClr val="00A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88000"/>
            <a:ext cx="7380000" cy="280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12363F"/>
                </a:solidFill>
                <a:latin typeface="Malgun Gothic"/>
              </a:rPr>
              <a:t>자체개발 ERP 연계 안내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7200" y="597600"/>
            <a:ext cx="7380000" cy="162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5F7179"/>
                </a:solidFill>
                <a:latin typeface="Malgun Gothic"/>
              </a:rPr>
              <a:t>DB TO DB / API 방식으로 통합CMS 데이터를 ERP 업무에 연결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17999"/>
            <a:ext cx="8424000" cy="10800"/>
          </a:xfrm>
          <a:prstGeom prst="rect">
            <a:avLst/>
          </a:prstGeom>
          <a:solidFill>
            <a:srgbClr val="C6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78000" y="1098000"/>
            <a:ext cx="1152000" cy="201600"/>
          </a:xfrm>
          <a:prstGeom prst="roundRect">
            <a:avLst/>
          </a:prstGeom>
          <a:solidFill>
            <a:srgbClr val="00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8000" y="1112400"/>
            <a:ext cx="1152000" cy="136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30" b="1">
                <a:solidFill>
                  <a:srgbClr val="FFFFFF"/>
                </a:solidFill>
                <a:latin typeface="Malgun Gothic"/>
              </a:rPr>
              <a:t>DB TO DB /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000" y="1386000"/>
            <a:ext cx="4824000" cy="324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50" b="1">
                <a:solidFill>
                  <a:srgbClr val="12363F"/>
                </a:solidFill>
                <a:latin typeface="Malgun Gothic"/>
              </a:rPr>
              <a:t>고객사 개발 규격에 맞춰 업무별로 DB와 API 방식을 유연하게 적용합니다.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6000" y="1835999"/>
            <a:ext cx="2412000" cy="917999"/>
          </a:xfrm>
          <a:prstGeom prst="roundRect">
            <a:avLst/>
          </a:prstGeom>
          <a:solidFill>
            <a:srgbClr val="FFFFFF"/>
          </a:solidFill>
          <a:ln>
            <a:solidFill>
              <a:srgbClr val="C6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6000" y="1835999"/>
            <a:ext cx="2412000" cy="46800"/>
          </a:xfrm>
          <a:prstGeom prst="rect">
            <a:avLst/>
          </a:prstGeom>
          <a:solidFill>
            <a:srgbClr val="00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000" y="1958399"/>
            <a:ext cx="2088000" cy="172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2363F"/>
                </a:solidFill>
                <a:latin typeface="Malgun Gothic"/>
              </a:rPr>
              <a:t>연계 대상 업무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000" y="2206800"/>
            <a:ext cx="2088000" cy="47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40">
                <a:solidFill>
                  <a:srgbClr val="232D34"/>
                </a:solidFill>
                <a:latin typeface="Malgun Gothic"/>
              </a:defRPr>
            </a:pPr>
            <a:r>
              <a:t>법인카드 모니터링</a:t>
            </a:r>
          </a:p>
          <a:p>
            <a:pPr>
              <a:spcAft>
                <a:spcPts val="300"/>
              </a:spcAft>
              <a:defRPr sz="840">
                <a:solidFill>
                  <a:srgbClr val="232D34"/>
                </a:solidFill>
                <a:latin typeface="Malgun Gothic"/>
              </a:defRPr>
            </a:pPr>
            <a:r>
              <a:t>대량이체·급여이체</a:t>
            </a:r>
          </a:p>
          <a:p>
            <a:pPr>
              <a:spcAft>
                <a:spcPts val="300"/>
              </a:spcAft>
              <a:defRPr sz="840">
                <a:solidFill>
                  <a:srgbClr val="232D34"/>
                </a:solidFill>
                <a:latin typeface="Malgun Gothic"/>
              </a:defRPr>
            </a:pPr>
            <a:r>
              <a:t>세금계산서·정산 데이터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51999" y="1835999"/>
            <a:ext cx="2412000" cy="917999"/>
          </a:xfrm>
          <a:prstGeom prst="roundRect">
            <a:avLst/>
          </a:prstGeom>
          <a:solidFill>
            <a:srgbClr val="FFFFFF"/>
          </a:solidFill>
          <a:ln>
            <a:solidFill>
              <a:srgbClr val="C6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1999" y="1835999"/>
            <a:ext cx="2412000" cy="46800"/>
          </a:xfrm>
          <a:prstGeom prst="rect">
            <a:avLst/>
          </a:prstGeom>
          <a:solidFill>
            <a:srgbClr val="00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13999" y="1958399"/>
            <a:ext cx="2088000" cy="172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2363F"/>
                </a:solidFill>
                <a:latin typeface="Malgun Gothic"/>
              </a:rPr>
              <a:t>운영 포인트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3999" y="2206800"/>
            <a:ext cx="2088000" cy="47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40">
                <a:solidFill>
                  <a:srgbClr val="232D34"/>
                </a:solidFill>
                <a:latin typeface="Malgun Gothic"/>
              </a:defRPr>
            </a:pPr>
            <a:r>
              <a:t>고객사 인터페이스 정의서 확인</a:t>
            </a:r>
          </a:p>
          <a:p>
            <a:pPr>
              <a:spcAft>
                <a:spcPts val="300"/>
              </a:spcAft>
              <a:defRPr sz="840">
                <a:solidFill>
                  <a:srgbClr val="232D34"/>
                </a:solidFill>
                <a:latin typeface="Malgun Gothic"/>
              </a:defRPr>
            </a:pPr>
            <a:r>
              <a:t>샘플 데이터로 필드 길이와 코드 검증</a:t>
            </a:r>
          </a:p>
          <a:p>
            <a:pPr>
              <a:spcAft>
                <a:spcPts val="300"/>
              </a:spcAft>
              <a:defRPr sz="840">
                <a:solidFill>
                  <a:srgbClr val="232D34"/>
                </a:solidFill>
                <a:latin typeface="Malgun Gothic"/>
              </a:defRPr>
            </a:pPr>
            <a:r>
              <a:t>업무별 API/DB 혼합 적용 가능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6000" y="2898000"/>
            <a:ext cx="4968000" cy="917999"/>
          </a:xfrm>
          <a:prstGeom prst="roundRect">
            <a:avLst/>
          </a:prstGeom>
          <a:solidFill>
            <a:srgbClr val="FFFFFF"/>
          </a:solidFill>
          <a:ln>
            <a:solidFill>
              <a:srgbClr val="C6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6000" y="2898000"/>
            <a:ext cx="4968000" cy="46800"/>
          </a:xfrm>
          <a:prstGeom prst="rect">
            <a:avLst/>
          </a:prstGeom>
          <a:solidFill>
            <a:srgbClr val="00A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8000" y="3020400"/>
            <a:ext cx="4644000" cy="172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2363F"/>
                </a:solidFill>
                <a:latin typeface="Malgun Gothic"/>
              </a:rPr>
              <a:t>고객사 기대효과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8000" y="3268800"/>
            <a:ext cx="4644000" cy="47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40">
                <a:solidFill>
                  <a:srgbClr val="232D34"/>
                </a:solidFill>
                <a:latin typeface="Malgun Gothic"/>
              </a:defRPr>
            </a:pPr>
            <a:r>
              <a:t>기존 ERP 화면과 프로세스를 유지</a:t>
            </a:r>
          </a:p>
          <a:p>
            <a:pPr>
              <a:spcAft>
                <a:spcPts val="300"/>
              </a:spcAft>
              <a:defRPr sz="840">
                <a:solidFill>
                  <a:srgbClr val="232D34"/>
                </a:solidFill>
                <a:latin typeface="Malgun Gothic"/>
              </a:defRPr>
            </a:pPr>
            <a:r>
              <a:t>필요한 컬럼만 맞춤 제공</a:t>
            </a:r>
          </a:p>
          <a:p>
            <a:pPr>
              <a:spcAft>
                <a:spcPts val="300"/>
              </a:spcAft>
              <a:defRPr sz="840">
                <a:solidFill>
                  <a:srgbClr val="232D34"/>
                </a:solidFill>
                <a:latin typeface="Malgun Gothic"/>
              </a:defRPr>
            </a:pPr>
            <a:r>
              <a:t>추가 업무 확장이 쉬운 구조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52000" y="1170000"/>
            <a:ext cx="3024000" cy="2718000"/>
          </a:xfrm>
          <a:prstGeom prst="roundRect">
            <a:avLst/>
          </a:prstGeom>
          <a:solidFill>
            <a:srgbClr val="FFFFFF"/>
          </a:solidFill>
          <a:ln>
            <a:solidFill>
              <a:srgbClr val="C6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orp_card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000" y="1332000"/>
            <a:ext cx="2772000" cy="2340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78000" y="4842000"/>
            <a:ext cx="2880000" cy="100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 b="0">
                <a:solidFill>
                  <a:srgbClr val="5F7179"/>
                </a:solidFill>
                <a:latin typeface="Malgun Gothic"/>
              </a:rPr>
              <a:t>하나은행 통합CMS ERP연계 안내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60000" y="4842000"/>
            <a:ext cx="288000" cy="100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50" b="1">
                <a:solidFill>
                  <a:srgbClr val="5F7179"/>
                </a:solidFill>
                <a:latin typeface="Malgun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680"/>
          </a:xfrm>
          <a:prstGeom prst="rect">
            <a:avLst/>
          </a:prstGeom>
          <a:solidFill>
            <a:srgbClr val="F5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9200"/>
          </a:xfrm>
          <a:prstGeom prst="rect">
            <a:avLst/>
          </a:prstGeom>
          <a:solidFill>
            <a:srgbClr val="00A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88000"/>
            <a:ext cx="7380000" cy="280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12363F"/>
                </a:solidFill>
                <a:latin typeface="Malgun Gothic"/>
              </a:rPr>
              <a:t>ERP 예시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7200" y="597600"/>
            <a:ext cx="7380000" cy="162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5F7179"/>
                </a:solidFill>
                <a:latin typeface="Malgun Gothic"/>
              </a:rPr>
              <a:t>고객사 ERP 화면에서 통합CMS 데이터를 조회하고 이체 결과를 확인합니다.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17999"/>
            <a:ext cx="8424000" cy="10800"/>
          </a:xfrm>
          <a:prstGeom prst="rect">
            <a:avLst/>
          </a:prstGeom>
          <a:solidFill>
            <a:srgbClr val="C6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000" y="1080000"/>
            <a:ext cx="4104000" cy="2736000"/>
          </a:xfrm>
          <a:prstGeom prst="roundRect">
            <a:avLst/>
          </a:prstGeom>
          <a:solidFill>
            <a:srgbClr val="FFFFFF"/>
          </a:solidFill>
          <a:ln>
            <a:solidFill>
              <a:srgbClr val="C6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rp_card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0" y="1206000"/>
            <a:ext cx="3851999" cy="205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3999" y="3401999"/>
            <a:ext cx="3816000" cy="144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12363F"/>
                </a:solidFill>
                <a:latin typeface="Malgun Gothic"/>
              </a:rPr>
              <a:t>법인카드 내역 조회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80000" y="1080000"/>
            <a:ext cx="4104000" cy="2736000"/>
          </a:xfrm>
          <a:prstGeom prst="roundRect">
            <a:avLst/>
          </a:prstGeom>
          <a:solidFill>
            <a:srgbClr val="FFFFFF"/>
          </a:solidFill>
          <a:ln>
            <a:solidFill>
              <a:srgbClr val="C6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ulk_transf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6000" y="1206000"/>
            <a:ext cx="3851999" cy="205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24000" y="3401999"/>
            <a:ext cx="3816000" cy="144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12363F"/>
                </a:solidFill>
                <a:latin typeface="Malgun Gothic"/>
              </a:rPr>
              <a:t>지급 이체 관리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000" y="3960000"/>
            <a:ext cx="8424000" cy="503999"/>
          </a:xfrm>
          <a:prstGeom prst="roundRect">
            <a:avLst/>
          </a:prstGeom>
          <a:solidFill>
            <a:srgbClr val="FFFFFF"/>
          </a:solidFill>
          <a:ln>
            <a:solidFill>
              <a:srgbClr val="C6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0000" y="3960000"/>
            <a:ext cx="8424000" cy="46800"/>
          </a:xfrm>
          <a:prstGeom prst="rect">
            <a:avLst/>
          </a:prstGeom>
          <a:solidFill>
            <a:srgbClr val="00A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2000" y="4082400"/>
            <a:ext cx="8100000" cy="172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2363F"/>
                </a:solidFill>
                <a:latin typeface="Malgun Gothic"/>
              </a:rPr>
              <a:t>화면 활용 방식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000" y="4330800"/>
            <a:ext cx="8100000" cy="61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69">
                <a:solidFill>
                  <a:srgbClr val="232D34"/>
                </a:solidFill>
                <a:latin typeface="Malgun Gothic"/>
              </a:defRPr>
            </a:pPr>
            <a:r>
              <a:t>조회 화면에서는 카드번호·승인일자·금액·가맹점 정보를 확인하고, 이체 화면에서는 ERP 지급대상을 통합CMS로 전송해 처리 결과를 회신받습니다.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000" y="4842000"/>
            <a:ext cx="2880000" cy="100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 b="0">
                <a:solidFill>
                  <a:srgbClr val="5F7179"/>
                </a:solidFill>
                <a:latin typeface="Malgun Gothic"/>
              </a:rPr>
              <a:t>하나은행 통합CMS ERP연계 안내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0000" y="4842000"/>
            <a:ext cx="288000" cy="100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50" b="1">
                <a:solidFill>
                  <a:srgbClr val="5F7179"/>
                </a:solidFill>
                <a:latin typeface="Malgun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680"/>
          </a:xfrm>
          <a:prstGeom prst="rect">
            <a:avLst/>
          </a:prstGeom>
          <a:solidFill>
            <a:srgbClr val="F5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9200"/>
          </a:xfrm>
          <a:prstGeom prst="rect">
            <a:avLst/>
          </a:prstGeom>
          <a:solidFill>
            <a:srgbClr val="00A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88000"/>
            <a:ext cx="7380000" cy="280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12363F"/>
                </a:solidFill>
                <a:latin typeface="Malgun Gothic"/>
              </a:rPr>
              <a:t>도입 진행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7200" y="597600"/>
            <a:ext cx="7380000" cy="162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5F7179"/>
                </a:solidFill>
                <a:latin typeface="Malgun Gothic"/>
              </a:rPr>
              <a:t>자료 확인부터 운영 반영까지 단계별로 진행합니다.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17999"/>
            <a:ext cx="8424000" cy="10800"/>
          </a:xfrm>
          <a:prstGeom prst="rect">
            <a:avLst/>
          </a:prstGeom>
          <a:solidFill>
            <a:srgbClr val="C6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6000" y="1152000"/>
            <a:ext cx="1530000" cy="450000"/>
          </a:xfrm>
          <a:prstGeom prst="roundRect">
            <a:avLst/>
          </a:prstGeom>
          <a:solidFill>
            <a:srgbClr val="12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6000" y="1209600"/>
            <a:ext cx="1530000" cy="125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1. 연계 범위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1396800"/>
            <a:ext cx="1386000" cy="115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80" b="0">
                <a:solidFill>
                  <a:srgbClr val="FFFFFF"/>
                </a:solidFill>
                <a:latin typeface="Malgun Gothic"/>
              </a:rPr>
              <a:t>업무·ERP·프로토콜 확정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1999" y="1314000"/>
            <a:ext cx="234000" cy="100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006052"/>
                </a:solidFill>
                <a:latin typeface="Malgun Gothic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14000" y="1152000"/>
            <a:ext cx="1530000" cy="450000"/>
          </a:xfrm>
          <a:prstGeom prst="roundRect">
            <a:avLst/>
          </a:prstGeom>
          <a:solidFill>
            <a:srgbClr val="00A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14000" y="1209600"/>
            <a:ext cx="1530000" cy="125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2. 환경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1396800"/>
            <a:ext cx="1386000" cy="115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80" b="0">
                <a:solidFill>
                  <a:srgbClr val="FFFFFF"/>
                </a:solidFill>
                <a:latin typeface="Malgun Gothic"/>
              </a:rPr>
              <a:t>서버·DB·API·RFC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80000" y="1314000"/>
            <a:ext cx="234000" cy="100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006052"/>
                </a:solidFill>
                <a:latin typeface="Malgun Gothic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31999" y="1152000"/>
            <a:ext cx="1530000" cy="450000"/>
          </a:xfrm>
          <a:prstGeom prst="roundRect">
            <a:avLst/>
          </a:prstGeom>
          <a:solidFill>
            <a:srgbClr val="00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31999" y="1209600"/>
            <a:ext cx="1530000" cy="125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3. 개발/설정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03999" y="1396800"/>
            <a:ext cx="1386000" cy="115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80" b="0">
                <a:solidFill>
                  <a:srgbClr val="FFFFFF"/>
                </a:solidFill>
                <a:latin typeface="Malgun Gothic"/>
              </a:rPr>
              <a:t>컬럼 매핑·스케줄 등록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8000" y="1314000"/>
            <a:ext cx="234000" cy="100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006052"/>
                </a:solidFill>
                <a:latin typeface="Malgun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0000" y="1152000"/>
            <a:ext cx="1530000" cy="450000"/>
          </a:xfrm>
          <a:prstGeom prst="roundRect">
            <a:avLst/>
          </a:prstGeom>
          <a:solidFill>
            <a:srgbClr val="12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0000" y="1209600"/>
            <a:ext cx="1530000" cy="125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4. 검증/오픈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22000" y="1396800"/>
            <a:ext cx="1386000" cy="115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80" b="0">
                <a:solidFill>
                  <a:srgbClr val="FFFFFF"/>
                </a:solidFill>
                <a:latin typeface="Malgun Gothic"/>
              </a:rPr>
              <a:t>샘플 반영·운영 전환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6000" y="2070000"/>
            <a:ext cx="2520000" cy="1116000"/>
          </a:xfrm>
          <a:prstGeom prst="roundRect">
            <a:avLst/>
          </a:prstGeom>
          <a:solidFill>
            <a:srgbClr val="FFFFFF"/>
          </a:solidFill>
          <a:ln>
            <a:solidFill>
              <a:srgbClr val="C6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6000" y="2070000"/>
            <a:ext cx="2520000" cy="46800"/>
          </a:xfrm>
          <a:prstGeom prst="rect">
            <a:avLst/>
          </a:prstGeom>
          <a:solidFill>
            <a:srgbClr val="00A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8000" y="2192400"/>
            <a:ext cx="2196000" cy="172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2363F"/>
                </a:solidFill>
                <a:latin typeface="Malgun Gothic"/>
              </a:rPr>
              <a:t>고객사 준비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8000" y="2440800"/>
            <a:ext cx="2196000" cy="67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69">
                <a:solidFill>
                  <a:srgbClr val="232D34"/>
                </a:solidFill>
                <a:latin typeface="Malgun Gothic"/>
              </a:defRPr>
            </a:pPr>
            <a:r>
              <a:t>ERP 담당자/개발사 연락처</a:t>
            </a:r>
          </a:p>
          <a:p>
            <a:pPr>
              <a:spcAft>
                <a:spcPts val="300"/>
              </a:spcAft>
              <a:defRPr sz="869">
                <a:solidFill>
                  <a:srgbClr val="232D34"/>
                </a:solidFill>
                <a:latin typeface="Malgun Gothic"/>
              </a:defRPr>
            </a:pPr>
            <a:r>
              <a:t>서버 IP, DB/API/RFC 접속정보</a:t>
            </a:r>
          </a:p>
          <a:p>
            <a:pPr>
              <a:spcAft>
                <a:spcPts val="300"/>
              </a:spcAft>
              <a:defRPr sz="869">
                <a:solidFill>
                  <a:srgbClr val="232D34"/>
                </a:solidFill>
                <a:latin typeface="Malgun Gothic"/>
              </a:defRPr>
            </a:pPr>
            <a:r>
              <a:t>업무별 테스트 데이터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11999" y="2070000"/>
            <a:ext cx="2520000" cy="1116000"/>
          </a:xfrm>
          <a:prstGeom prst="roundRect">
            <a:avLst/>
          </a:prstGeom>
          <a:solidFill>
            <a:srgbClr val="FFFFFF"/>
          </a:solidFill>
          <a:ln>
            <a:solidFill>
              <a:srgbClr val="C6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11999" y="2070000"/>
            <a:ext cx="2520000" cy="46800"/>
          </a:xfrm>
          <a:prstGeom prst="rect">
            <a:avLst/>
          </a:prstGeom>
          <a:solidFill>
            <a:srgbClr val="00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3999" y="2192400"/>
            <a:ext cx="2196000" cy="172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2363F"/>
                </a:solidFill>
                <a:latin typeface="Malgun Gothic"/>
              </a:rPr>
              <a:t>통합CMS 준비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3999" y="2440800"/>
            <a:ext cx="2196000" cy="67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69">
                <a:solidFill>
                  <a:srgbClr val="232D34"/>
                </a:solidFill>
                <a:latin typeface="Malgun Gothic"/>
              </a:defRPr>
            </a:pPr>
            <a:r>
              <a:t>업무별 연계 설정</a:t>
            </a:r>
          </a:p>
          <a:p>
            <a:pPr>
              <a:spcAft>
                <a:spcPts val="300"/>
              </a:spcAft>
              <a:defRPr sz="869">
                <a:solidFill>
                  <a:srgbClr val="232D34"/>
                </a:solidFill>
                <a:latin typeface="Malgun Gothic"/>
              </a:defRPr>
            </a:pPr>
            <a:r>
              <a:t>스케줄러 및 로그 확인</a:t>
            </a:r>
          </a:p>
          <a:p>
            <a:pPr>
              <a:spcAft>
                <a:spcPts val="300"/>
              </a:spcAft>
              <a:defRPr sz="869">
                <a:solidFill>
                  <a:srgbClr val="232D34"/>
                </a:solidFill>
                <a:latin typeface="Malgun Gothic"/>
              </a:defRPr>
            </a:pPr>
            <a:r>
              <a:t>조회/전송 테스트 지원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28000" y="2070000"/>
            <a:ext cx="2520000" cy="1116000"/>
          </a:xfrm>
          <a:prstGeom prst="roundRect">
            <a:avLst/>
          </a:prstGeom>
          <a:solidFill>
            <a:srgbClr val="FFFFFF"/>
          </a:solidFill>
          <a:ln>
            <a:solidFill>
              <a:srgbClr val="C6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28000" y="2070000"/>
            <a:ext cx="2520000" cy="46800"/>
          </a:xfrm>
          <a:prstGeom prst="rect">
            <a:avLst/>
          </a:prstGeom>
          <a:solidFill>
            <a:srgbClr val="12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90000" y="2192400"/>
            <a:ext cx="2196000" cy="172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2363F"/>
                </a:solidFill>
                <a:latin typeface="Malgun Gothic"/>
              </a:rPr>
              <a:t>오픈 후 운영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0000" y="2440800"/>
            <a:ext cx="2196000" cy="67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69">
                <a:solidFill>
                  <a:srgbClr val="232D34"/>
                </a:solidFill>
                <a:latin typeface="Malgun Gothic"/>
              </a:defRPr>
            </a:pPr>
            <a:r>
              <a:t>전송 성공/실패 모니터링</a:t>
            </a:r>
          </a:p>
          <a:p>
            <a:pPr>
              <a:spcAft>
                <a:spcPts val="300"/>
              </a:spcAft>
              <a:defRPr sz="869">
                <a:solidFill>
                  <a:srgbClr val="232D34"/>
                </a:solidFill>
                <a:latin typeface="Malgun Gothic"/>
              </a:defRPr>
            </a:pPr>
            <a:r>
              <a:t>월마감 전 누락 점검</a:t>
            </a:r>
          </a:p>
          <a:p>
            <a:pPr>
              <a:spcAft>
                <a:spcPts val="300"/>
              </a:spcAft>
              <a:defRPr sz="869">
                <a:solidFill>
                  <a:srgbClr val="232D34"/>
                </a:solidFill>
                <a:latin typeface="Malgun Gothic"/>
              </a:defRPr>
            </a:pPr>
            <a:r>
              <a:t>추가 연계업무 확장 협의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96000" y="3636000"/>
            <a:ext cx="8352000" cy="450000"/>
          </a:xfrm>
          <a:prstGeom prst="roundRect">
            <a:avLst/>
          </a:prstGeom>
          <a:solidFill>
            <a:srgbClr val="E5F7F3"/>
          </a:solidFill>
          <a:ln>
            <a:solidFill>
              <a:srgbClr val="C6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3999" y="3761999"/>
            <a:ext cx="8063999" cy="125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50" b="1">
                <a:solidFill>
                  <a:srgbClr val="006052"/>
                </a:solidFill>
                <a:latin typeface="Malgun Gothic"/>
              </a:rPr>
              <a:t>통합CMS ERP연계는 고객사 업무 방식에 맞춰 조회·이체·정산 데이터를 연결하는 고객 맞춤형 구축 서비스입니다.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8000" y="4842000"/>
            <a:ext cx="2880000" cy="100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 b="0">
                <a:solidFill>
                  <a:srgbClr val="5F7179"/>
                </a:solidFill>
                <a:latin typeface="Malgun Gothic"/>
              </a:rPr>
              <a:t>하나은행 통합CMS ERP연계 안내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60000" y="4842000"/>
            <a:ext cx="288000" cy="100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50" b="1">
                <a:solidFill>
                  <a:srgbClr val="5F7179"/>
                </a:solidFill>
                <a:latin typeface="Malgun Gothic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